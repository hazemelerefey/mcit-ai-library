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cit-cover.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097280" y="1371600"/>
            <a:ext cx="7315200" cy="457200"/>
          </a:xfrm>
          <a:prstGeom prst="rect">
            <a:avLst/>
          </a:prstGeom>
          <a:noFill/>
        </p:spPr>
        <p:txBody>
          <a:bodyPr wrap="square">
            <a:spAutoFit/>
          </a:bodyPr>
          <a:lstStyle/>
          <a:p>
            <a:pPr algn="l">
              <a:defRPr sz="1400" b="1">
                <a:solidFill>
                  <a:srgbClr val="B9C2CE"/>
                </a:solidFill>
                <a:latin typeface="Nohemi"/>
              </a:defRPr>
            </a:pPr>
            <a:r>
              <a:t>MINISTRY OF COMMUNICATIONS AND INFORMATION TECHNOLOGY</a:t>
            </a:r>
          </a:p>
        </p:txBody>
      </p:sp>
      <p:sp>
        <p:nvSpPr>
          <p:cNvPr id="5" name="TextBox 4"/>
          <p:cNvSpPr txBox="1"/>
          <p:nvPr/>
        </p:nvSpPr>
        <p:spPr>
          <a:xfrm>
            <a:off x="1097280" y="1920240"/>
            <a:ext cx="7315200" cy="1645920"/>
          </a:xfrm>
          <a:prstGeom prst="rect">
            <a:avLst/>
          </a:prstGeom>
          <a:noFill/>
        </p:spPr>
        <p:txBody>
          <a:bodyPr wrap="square">
            <a:spAutoFit/>
          </a:bodyPr>
          <a:lstStyle/>
          <a:p>
            <a:pPr algn="l">
              <a:defRPr sz="5800" b="1">
                <a:solidFill>
                  <a:srgbClr val="FFFFFF"/>
                </a:solidFill>
                <a:latin typeface="Nohemi"/>
              </a:defRPr>
            </a:pPr>
            <a:r>
              <a:t>Annual Digital</a:t>
            </a:r>
            <a:br/>
            <a:r>
              <a:t>Report 2026</a:t>
            </a:r>
          </a:p>
        </p:txBody>
      </p:sp>
      <p:sp>
        <p:nvSpPr>
          <p:cNvPr id="6" name="TextBox 5"/>
          <p:cNvSpPr txBox="1"/>
          <p:nvPr/>
        </p:nvSpPr>
        <p:spPr>
          <a:xfrm>
            <a:off x="1097280" y="3840480"/>
            <a:ext cx="6400800" cy="731520"/>
          </a:xfrm>
          <a:prstGeom prst="rect">
            <a:avLst/>
          </a:prstGeom>
          <a:noFill/>
        </p:spPr>
        <p:txBody>
          <a:bodyPr wrap="square">
            <a:spAutoFit/>
          </a:bodyPr>
          <a:lstStyle/>
          <a:p>
            <a:pPr algn="l">
              <a:defRPr sz="2200" b="0">
                <a:solidFill>
                  <a:srgbClr val="B9C2CE"/>
                </a:solidFill>
                <a:latin typeface="Public Sans"/>
              </a:defRPr>
            </a:pPr>
            <a:r>
              <a:t>Digital Government Services Performance Review</a:t>
            </a:r>
          </a:p>
        </p:txBody>
      </p:sp>
      <p:pic>
        <p:nvPicPr>
          <p:cNvPr id="7" name="Picture 6" descr="mcit-divider.png"/>
          <p:cNvPicPr>
            <a:picLocks noChangeAspect="1"/>
          </p:cNvPicPr>
          <p:nvPr/>
        </p:nvPicPr>
        <p:blipFill>
          <a:blip r:embed="rId3"/>
          <a:stretch>
            <a:fillRect/>
          </a:stretch>
        </p:blipFill>
        <p:spPr>
          <a:xfrm>
            <a:off x="1097280" y="4663440"/>
            <a:ext cx="2743200" cy="85725"/>
          </a:xfrm>
          <a:prstGeom prst="rect">
            <a:avLst/>
          </a:prstGeom>
        </p:spPr>
      </p:pic>
      <p:sp>
        <p:nvSpPr>
          <p:cNvPr id="8" name="TextBox 7"/>
          <p:cNvSpPr txBox="1"/>
          <p:nvPr/>
        </p:nvSpPr>
        <p:spPr>
          <a:xfrm>
            <a:off x="1097280" y="5029200"/>
            <a:ext cx="6400800" cy="457200"/>
          </a:xfrm>
          <a:prstGeom prst="rect">
            <a:avLst/>
          </a:prstGeom>
          <a:noFill/>
        </p:spPr>
        <p:txBody>
          <a:bodyPr wrap="square">
            <a:spAutoFit/>
          </a:bodyPr>
          <a:lstStyle/>
          <a:p>
            <a:pPr algn="l">
              <a:defRPr sz="1500" b="0">
                <a:solidFill>
                  <a:srgbClr val="8A9BA8"/>
                </a:solidFill>
                <a:latin typeface="Public Sans"/>
              </a:defRPr>
            </a:pPr>
            <a:r>
              <a:t>October 2026  |  Cairo, Egypt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5E6B7A"/>
                </a:solidFill>
                <a:latin typeface="Nohemi"/>
              </a:defRPr>
            </a:pPr>
            <a:r>
              <a:t>01  OVERVIEW</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0A1A2F"/>
                </a:solidFill>
                <a:latin typeface="Nohemi"/>
              </a:defRPr>
            </a:pPr>
            <a:r>
              <a:t>Agenda</a:t>
            </a:r>
          </a:p>
        </p:txBody>
      </p:sp>
      <p:sp>
        <p:nvSpPr>
          <p:cNvPr id="5" name="Rounded Rectangle 4"/>
          <p:cNvSpPr/>
          <p:nvPr/>
        </p:nvSpPr>
        <p:spPr>
          <a:xfrm>
            <a:off x="731520" y="2286000"/>
            <a:ext cx="10698480" cy="713232"/>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395728"/>
            <a:ext cx="731520" cy="457200"/>
          </a:xfrm>
          <a:prstGeom prst="rect">
            <a:avLst/>
          </a:prstGeom>
          <a:noFill/>
        </p:spPr>
        <p:txBody>
          <a:bodyPr wrap="square">
            <a:spAutoFit/>
          </a:bodyPr>
          <a:lstStyle/>
          <a:p>
            <a:pPr algn="l">
              <a:defRPr sz="2200" b="1">
                <a:solidFill>
                  <a:srgbClr val="5E6B7A"/>
                </a:solidFill>
                <a:latin typeface="Nohemi"/>
              </a:defRPr>
            </a:pPr>
            <a:r>
              <a:t>01</a:t>
            </a:r>
          </a:p>
        </p:txBody>
      </p:sp>
      <p:sp>
        <p:nvSpPr>
          <p:cNvPr id="7" name="TextBox 6"/>
          <p:cNvSpPr txBox="1"/>
          <p:nvPr/>
        </p:nvSpPr>
        <p:spPr>
          <a:xfrm>
            <a:off x="1737360" y="2377440"/>
            <a:ext cx="4114800" cy="502920"/>
          </a:xfrm>
          <a:prstGeom prst="rect">
            <a:avLst/>
          </a:prstGeom>
          <a:noFill/>
        </p:spPr>
        <p:txBody>
          <a:bodyPr wrap="square">
            <a:spAutoFit/>
          </a:bodyPr>
          <a:lstStyle/>
          <a:p>
            <a:pPr algn="l">
              <a:defRPr sz="2000" b="1">
                <a:solidFill>
                  <a:srgbClr val="0A1A2F"/>
                </a:solidFill>
                <a:latin typeface="Nohemi"/>
              </a:defRPr>
            </a:pPr>
            <a:r>
              <a:t>Executive Summary</a:t>
            </a:r>
          </a:p>
        </p:txBody>
      </p:sp>
      <p:sp>
        <p:nvSpPr>
          <p:cNvPr id="8" name="TextBox 7"/>
          <p:cNvSpPr txBox="1"/>
          <p:nvPr/>
        </p:nvSpPr>
        <p:spPr>
          <a:xfrm>
            <a:off x="6217920" y="2432304"/>
            <a:ext cx="4754880" cy="457200"/>
          </a:xfrm>
          <a:prstGeom prst="rect">
            <a:avLst/>
          </a:prstGeom>
          <a:noFill/>
        </p:spPr>
        <p:txBody>
          <a:bodyPr wrap="square">
            <a:spAutoFit/>
          </a:bodyPr>
          <a:lstStyle/>
          <a:p>
            <a:pPr algn="l">
              <a:defRPr sz="1600" b="0">
                <a:solidFill>
                  <a:srgbClr val="8A9BA8"/>
                </a:solidFill>
                <a:latin typeface="Public Sans"/>
              </a:defRPr>
            </a:pPr>
            <a:r>
              <a:t>Landmark year in numbers</a:t>
            </a:r>
          </a:p>
        </p:txBody>
      </p:sp>
      <p:sp>
        <p:nvSpPr>
          <p:cNvPr id="9" name="Rounded Rectangle 8"/>
          <p:cNvSpPr/>
          <p:nvPr/>
        </p:nvSpPr>
        <p:spPr>
          <a:xfrm>
            <a:off x="731520" y="3108960"/>
            <a:ext cx="10698480" cy="713232"/>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218688"/>
            <a:ext cx="731520" cy="457200"/>
          </a:xfrm>
          <a:prstGeom prst="rect">
            <a:avLst/>
          </a:prstGeom>
          <a:noFill/>
        </p:spPr>
        <p:txBody>
          <a:bodyPr wrap="square">
            <a:spAutoFit/>
          </a:bodyPr>
          <a:lstStyle/>
          <a:p>
            <a:pPr algn="l">
              <a:defRPr sz="2200" b="1">
                <a:solidFill>
                  <a:srgbClr val="5E6B7A"/>
                </a:solidFill>
                <a:latin typeface="Nohemi"/>
              </a:defRPr>
            </a:pPr>
            <a:r>
              <a:t>02</a:t>
            </a:r>
          </a:p>
        </p:txBody>
      </p:sp>
      <p:sp>
        <p:nvSpPr>
          <p:cNvPr id="11" name="TextBox 10"/>
          <p:cNvSpPr txBox="1"/>
          <p:nvPr/>
        </p:nvSpPr>
        <p:spPr>
          <a:xfrm>
            <a:off x="1737360" y="3200400"/>
            <a:ext cx="4114800" cy="502920"/>
          </a:xfrm>
          <a:prstGeom prst="rect">
            <a:avLst/>
          </a:prstGeom>
          <a:noFill/>
        </p:spPr>
        <p:txBody>
          <a:bodyPr wrap="square">
            <a:spAutoFit/>
          </a:bodyPr>
          <a:lstStyle/>
          <a:p>
            <a:pPr algn="l">
              <a:defRPr sz="2000" b="1">
                <a:solidFill>
                  <a:srgbClr val="0A1A2F"/>
                </a:solidFill>
                <a:latin typeface="Nohemi"/>
              </a:defRPr>
            </a:pPr>
            <a:r>
              <a:t>Performance</a:t>
            </a:r>
          </a:p>
        </p:txBody>
      </p:sp>
      <p:sp>
        <p:nvSpPr>
          <p:cNvPr id="12" name="TextBox 11"/>
          <p:cNvSpPr txBox="1"/>
          <p:nvPr/>
        </p:nvSpPr>
        <p:spPr>
          <a:xfrm>
            <a:off x="6217920" y="3255264"/>
            <a:ext cx="4754880" cy="457200"/>
          </a:xfrm>
          <a:prstGeom prst="rect">
            <a:avLst/>
          </a:prstGeom>
          <a:noFill/>
        </p:spPr>
        <p:txBody>
          <a:bodyPr wrap="square">
            <a:spAutoFit/>
          </a:bodyPr>
          <a:lstStyle/>
          <a:p>
            <a:pPr algn="l">
              <a:defRPr sz="1600" b="0">
                <a:solidFill>
                  <a:srgbClr val="8A9BA8"/>
                </a:solidFill>
                <a:latin typeface="Public Sans"/>
              </a:defRPr>
            </a:pPr>
            <a:r>
              <a:t>Services, citizens, satisfaction</a:t>
            </a:r>
          </a:p>
        </p:txBody>
      </p:sp>
      <p:sp>
        <p:nvSpPr>
          <p:cNvPr id="13" name="Rounded Rectangle 12"/>
          <p:cNvSpPr/>
          <p:nvPr/>
        </p:nvSpPr>
        <p:spPr>
          <a:xfrm>
            <a:off x="731520" y="3931920"/>
            <a:ext cx="10698480" cy="713232"/>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041648"/>
            <a:ext cx="731520" cy="457200"/>
          </a:xfrm>
          <a:prstGeom prst="rect">
            <a:avLst/>
          </a:prstGeom>
          <a:noFill/>
        </p:spPr>
        <p:txBody>
          <a:bodyPr wrap="square">
            <a:spAutoFit/>
          </a:bodyPr>
          <a:lstStyle/>
          <a:p>
            <a:pPr algn="l">
              <a:defRPr sz="2200" b="1">
                <a:solidFill>
                  <a:srgbClr val="5E6B7A"/>
                </a:solidFill>
                <a:latin typeface="Nohemi"/>
              </a:defRPr>
            </a:pPr>
            <a:r>
              <a:t>03</a:t>
            </a:r>
          </a:p>
        </p:txBody>
      </p:sp>
      <p:sp>
        <p:nvSpPr>
          <p:cNvPr id="15" name="TextBox 14"/>
          <p:cNvSpPr txBox="1"/>
          <p:nvPr/>
        </p:nvSpPr>
        <p:spPr>
          <a:xfrm>
            <a:off x="1737360" y="4023359"/>
            <a:ext cx="4114800" cy="502920"/>
          </a:xfrm>
          <a:prstGeom prst="rect">
            <a:avLst/>
          </a:prstGeom>
          <a:noFill/>
        </p:spPr>
        <p:txBody>
          <a:bodyPr wrap="square">
            <a:spAutoFit/>
          </a:bodyPr>
          <a:lstStyle/>
          <a:p>
            <a:pPr algn="l">
              <a:defRPr sz="2000" b="1">
                <a:solidFill>
                  <a:srgbClr val="0A1A2F"/>
                </a:solidFill>
                <a:latin typeface="Nohemi"/>
              </a:defRPr>
            </a:pPr>
            <a:r>
              <a:t>Deep Dives</a:t>
            </a:r>
          </a:p>
        </p:txBody>
      </p:sp>
      <p:sp>
        <p:nvSpPr>
          <p:cNvPr id="16" name="TextBox 15"/>
          <p:cNvSpPr txBox="1"/>
          <p:nvPr/>
        </p:nvSpPr>
        <p:spPr>
          <a:xfrm>
            <a:off x="6217920" y="4078224"/>
            <a:ext cx="4754880" cy="457200"/>
          </a:xfrm>
          <a:prstGeom prst="rect">
            <a:avLst/>
          </a:prstGeom>
          <a:noFill/>
        </p:spPr>
        <p:txBody>
          <a:bodyPr wrap="square">
            <a:spAutoFit/>
          </a:bodyPr>
          <a:lstStyle/>
          <a:p>
            <a:pPr algn="l">
              <a:defRPr sz="1600" b="0">
                <a:solidFill>
                  <a:srgbClr val="8A9BA8"/>
                </a:solidFill>
                <a:latin typeface="Public Sans"/>
              </a:defRPr>
            </a:pPr>
            <a:r>
              <a:t>Journey, regions, security</a:t>
            </a:r>
          </a:p>
        </p:txBody>
      </p:sp>
      <p:sp>
        <p:nvSpPr>
          <p:cNvPr id="17" name="Rounded Rectangle 16"/>
          <p:cNvSpPr/>
          <p:nvPr/>
        </p:nvSpPr>
        <p:spPr>
          <a:xfrm>
            <a:off x="731520" y="4754880"/>
            <a:ext cx="10698480" cy="713232"/>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864608"/>
            <a:ext cx="731520" cy="457200"/>
          </a:xfrm>
          <a:prstGeom prst="rect">
            <a:avLst/>
          </a:prstGeom>
          <a:noFill/>
        </p:spPr>
        <p:txBody>
          <a:bodyPr wrap="square">
            <a:spAutoFit/>
          </a:bodyPr>
          <a:lstStyle/>
          <a:p>
            <a:pPr algn="l">
              <a:defRPr sz="2200" b="1">
                <a:solidFill>
                  <a:srgbClr val="5E6B7A"/>
                </a:solidFill>
                <a:latin typeface="Nohemi"/>
              </a:defRPr>
            </a:pPr>
            <a:r>
              <a:t>04</a:t>
            </a:r>
          </a:p>
        </p:txBody>
      </p:sp>
      <p:sp>
        <p:nvSpPr>
          <p:cNvPr id="19" name="TextBox 18"/>
          <p:cNvSpPr txBox="1"/>
          <p:nvPr/>
        </p:nvSpPr>
        <p:spPr>
          <a:xfrm>
            <a:off x="1737360" y="4846320"/>
            <a:ext cx="4114800" cy="502920"/>
          </a:xfrm>
          <a:prstGeom prst="rect">
            <a:avLst/>
          </a:prstGeom>
          <a:noFill/>
        </p:spPr>
        <p:txBody>
          <a:bodyPr wrap="square">
            <a:spAutoFit/>
          </a:bodyPr>
          <a:lstStyle/>
          <a:p>
            <a:pPr algn="l">
              <a:defRPr sz="2000" b="1">
                <a:solidFill>
                  <a:srgbClr val="0A1A2F"/>
                </a:solidFill>
                <a:latin typeface="Nohemi"/>
              </a:defRPr>
            </a:pPr>
            <a:r>
              <a:t>Strategy 2027</a:t>
            </a:r>
          </a:p>
        </p:txBody>
      </p:sp>
      <p:sp>
        <p:nvSpPr>
          <p:cNvPr id="20" name="TextBox 19"/>
          <p:cNvSpPr txBox="1"/>
          <p:nvPr/>
        </p:nvSpPr>
        <p:spPr>
          <a:xfrm>
            <a:off x="6217920" y="4901184"/>
            <a:ext cx="4754880" cy="457200"/>
          </a:xfrm>
          <a:prstGeom prst="rect">
            <a:avLst/>
          </a:prstGeom>
          <a:noFill/>
        </p:spPr>
        <p:txBody>
          <a:bodyPr wrap="square">
            <a:spAutoFit/>
          </a:bodyPr>
          <a:lstStyle/>
          <a:p>
            <a:pPr algn="l">
              <a:defRPr sz="1600" b="0">
                <a:solidFill>
                  <a:srgbClr val="8A9BA8"/>
                </a:solidFill>
                <a:latin typeface="Public Sans"/>
              </a:defRPr>
            </a:pPr>
            <a:r>
              <a:t>Priorities and roadmap</a:t>
            </a:r>
          </a:p>
        </p:txBody>
      </p:sp>
      <p:sp>
        <p:nvSpPr>
          <p:cNvPr id="21" name="Rounded Rectangle 20"/>
          <p:cNvSpPr/>
          <p:nvPr/>
        </p:nvSpPr>
        <p:spPr>
          <a:xfrm>
            <a:off x="731520" y="5577840"/>
            <a:ext cx="10698480" cy="713232"/>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687568"/>
            <a:ext cx="731520" cy="457200"/>
          </a:xfrm>
          <a:prstGeom prst="rect">
            <a:avLst/>
          </a:prstGeom>
          <a:noFill/>
        </p:spPr>
        <p:txBody>
          <a:bodyPr wrap="square">
            <a:spAutoFit/>
          </a:bodyPr>
          <a:lstStyle/>
          <a:p>
            <a:pPr algn="l">
              <a:defRPr sz="2200" b="1">
                <a:solidFill>
                  <a:srgbClr val="5E6B7A"/>
                </a:solidFill>
                <a:latin typeface="Nohemi"/>
              </a:defRPr>
            </a:pPr>
            <a:r>
              <a:t>05</a:t>
            </a:r>
          </a:p>
        </p:txBody>
      </p:sp>
      <p:sp>
        <p:nvSpPr>
          <p:cNvPr id="23" name="TextBox 22"/>
          <p:cNvSpPr txBox="1"/>
          <p:nvPr/>
        </p:nvSpPr>
        <p:spPr>
          <a:xfrm>
            <a:off x="1737360" y="5669279"/>
            <a:ext cx="4114800" cy="502920"/>
          </a:xfrm>
          <a:prstGeom prst="rect">
            <a:avLst/>
          </a:prstGeom>
          <a:noFill/>
        </p:spPr>
        <p:txBody>
          <a:bodyPr wrap="square">
            <a:spAutoFit/>
          </a:bodyPr>
          <a:lstStyle/>
          <a:p>
            <a:pPr algn="l">
              <a:defRPr sz="2000" b="1">
                <a:solidFill>
                  <a:srgbClr val="0A1A2F"/>
                </a:solidFill>
                <a:latin typeface="Nohemi"/>
              </a:defRPr>
            </a:pPr>
            <a:r>
              <a:t>Closing</a:t>
            </a:r>
          </a:p>
        </p:txBody>
      </p:sp>
      <p:sp>
        <p:nvSpPr>
          <p:cNvPr id="24" name="TextBox 23"/>
          <p:cNvSpPr txBox="1"/>
          <p:nvPr/>
        </p:nvSpPr>
        <p:spPr>
          <a:xfrm>
            <a:off x="6217920" y="5724144"/>
            <a:ext cx="4754880" cy="457200"/>
          </a:xfrm>
          <a:prstGeom prst="rect">
            <a:avLst/>
          </a:prstGeom>
          <a:noFill/>
        </p:spPr>
        <p:txBody>
          <a:bodyPr wrap="square">
            <a:spAutoFit/>
          </a:bodyPr>
          <a:lstStyle/>
          <a:p>
            <a:pPr algn="l">
              <a:defRPr sz="1600" b="0">
                <a:solidFill>
                  <a:srgbClr val="8A9BA8"/>
                </a:solidFill>
                <a:latin typeface="Public Sans"/>
              </a:defRPr>
            </a:pPr>
            <a:r>
              <a:t>Call to 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cit-hero.png"/>
          <p:cNvPicPr>
            <a:picLocks noChangeAspect="1"/>
          </p:cNvPicPr>
          <p:nvPr/>
        </p:nvPicPr>
        <p:blipFill>
          <a:blip r:embed="rId2"/>
          <a:stretch>
            <a:fillRect/>
          </a:stretch>
        </p:blipFill>
        <p:spPr>
          <a:xfrm>
            <a:off x="0" y="0"/>
            <a:ext cx="12191695" cy="2011680"/>
          </a:xfrm>
          <a:prstGeom prst="rect">
            <a:avLst/>
          </a:prstGeom>
        </p:spPr>
      </p:pic>
      <p:sp>
        <p:nvSpPr>
          <p:cNvPr id="4" name="TextBox 3"/>
          <p:cNvSpPr txBox="1"/>
          <p:nvPr/>
        </p:nvSpPr>
        <p:spPr>
          <a:xfrm>
            <a:off x="731520" y="457200"/>
            <a:ext cx="10698480" cy="457200"/>
          </a:xfrm>
          <a:prstGeom prst="rect">
            <a:avLst/>
          </a:prstGeom>
          <a:noFill/>
        </p:spPr>
        <p:txBody>
          <a:bodyPr wrap="square">
            <a:spAutoFit/>
          </a:bodyPr>
          <a:lstStyle/>
          <a:p>
            <a:pPr algn="l">
              <a:defRPr sz="1400" b="1">
                <a:solidFill>
                  <a:srgbClr val="B9C2CE"/>
                </a:solidFill>
                <a:latin typeface="Nohemi"/>
              </a:defRPr>
            </a:pPr>
            <a:r>
              <a:t>02  EXECUTIVE SUMMARY</a:t>
            </a:r>
          </a:p>
        </p:txBody>
      </p:sp>
      <p:sp>
        <p:nvSpPr>
          <p:cNvPr id="5" name="TextBox 4"/>
          <p:cNvSpPr txBox="1"/>
          <p:nvPr/>
        </p:nvSpPr>
        <p:spPr>
          <a:xfrm>
            <a:off x="731520" y="868680"/>
            <a:ext cx="10698480" cy="731520"/>
          </a:xfrm>
          <a:prstGeom prst="rect">
            <a:avLst/>
          </a:prstGeom>
          <a:noFill/>
        </p:spPr>
        <p:txBody>
          <a:bodyPr wrap="square">
            <a:spAutoFit/>
          </a:bodyPr>
          <a:lstStyle/>
          <a:p>
            <a:pPr algn="l">
              <a:defRPr sz="3800" b="1">
                <a:solidFill>
                  <a:srgbClr val="FFFFFF"/>
                </a:solidFill>
                <a:latin typeface="Nohemi"/>
              </a:defRPr>
            </a:pPr>
            <a:r>
              <a:t>A Landmark Year</a:t>
            </a:r>
          </a:p>
        </p:txBody>
      </p:sp>
      <p:sp>
        <p:nvSpPr>
          <p:cNvPr id="6" name="TextBox 5"/>
          <p:cNvSpPr txBox="1"/>
          <p:nvPr/>
        </p:nvSpPr>
        <p:spPr>
          <a:xfrm>
            <a:off x="731520" y="2377440"/>
            <a:ext cx="6858000" cy="3200400"/>
          </a:xfrm>
          <a:prstGeom prst="rect">
            <a:avLst/>
          </a:prstGeom>
          <a:noFill/>
        </p:spPr>
        <p:txBody>
          <a:bodyPr wrap="square">
            <a:spAutoFit/>
          </a:bodyPr>
          <a:lstStyle/>
          <a:p>
            <a:pPr algn="l">
              <a:defRPr sz="1900" b="0">
                <a:solidFill>
                  <a:srgbClr val="B9C2CE"/>
                </a:solidFill>
                <a:latin typeface="Public Sans"/>
              </a:defRPr>
            </a:pPr>
            <a:r>
              <a:t>Egypt's digital government services reached a historic milestone in 2026. With 2.4 million citizens onboarded and 68 percent of services fully digitized, transformation has moved from pilots to national-scale delivery.</a:t>
            </a:r>
          </a:p>
          <a:p>
            <a:pPr algn="l">
              <a:spcBef>
                <a:spcPts val="800"/>
              </a:spcBef>
              <a:defRPr sz="1900" b="0">
                <a:solidFill>
                  <a:srgbClr val="B9C2CE"/>
                </a:solidFill>
                <a:latin typeface="Public Sans"/>
              </a:defRPr>
            </a:pPr>
            <a:r>
              <a:t>AI-powered processing cut average service time to 4.2 seconds. Citizen satisfaction hit 91 percent. Twelve ministries now share data through the national exchange.</a:t>
            </a:r>
          </a:p>
        </p:txBody>
      </p:sp>
      <p:sp>
        <p:nvSpPr>
          <p:cNvPr id="7" name="Rounded Rectangle 6"/>
          <p:cNvSpPr/>
          <p:nvPr/>
        </p:nvSpPr>
        <p:spPr>
          <a:xfrm>
            <a:off x="7955279" y="2377440"/>
            <a:ext cx="1783080" cy="1508760"/>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955279" y="2377440"/>
            <a:ext cx="1783080" cy="64008"/>
          </a:xfrm>
          <a:prstGeom prst="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9" y="2606040"/>
            <a:ext cx="1600200" cy="640080"/>
          </a:xfrm>
          <a:prstGeom prst="rect">
            <a:avLst/>
          </a:prstGeom>
          <a:noFill/>
        </p:spPr>
        <p:txBody>
          <a:bodyPr wrap="square">
            <a:spAutoFit/>
          </a:bodyPr>
          <a:lstStyle/>
          <a:p>
            <a:pPr algn="ctr">
              <a:defRPr sz="3000" b="1">
                <a:solidFill>
                  <a:srgbClr val="FFFFFF"/>
                </a:solidFill>
                <a:latin typeface="Nohemi"/>
              </a:defRPr>
            </a:pPr>
            <a:r>
              <a:t>2.4M</a:t>
            </a:r>
          </a:p>
        </p:txBody>
      </p:sp>
      <p:sp>
        <p:nvSpPr>
          <p:cNvPr id="10" name="TextBox 9"/>
          <p:cNvSpPr txBox="1"/>
          <p:nvPr/>
        </p:nvSpPr>
        <p:spPr>
          <a:xfrm>
            <a:off x="8046719" y="3246120"/>
            <a:ext cx="1600200" cy="320040"/>
          </a:xfrm>
          <a:prstGeom prst="rect">
            <a:avLst/>
          </a:prstGeom>
          <a:noFill/>
        </p:spPr>
        <p:txBody>
          <a:bodyPr wrap="square">
            <a:spAutoFit/>
          </a:bodyPr>
          <a:lstStyle/>
          <a:p>
            <a:pPr algn="ctr">
              <a:defRPr sz="1200" b="0">
                <a:solidFill>
                  <a:srgbClr val="B9C2CE"/>
                </a:solidFill>
                <a:latin typeface="Public Sans"/>
              </a:defRPr>
            </a:pPr>
            <a:r>
              <a:t>CITIZENS</a:t>
            </a:r>
          </a:p>
        </p:txBody>
      </p:sp>
      <p:sp>
        <p:nvSpPr>
          <p:cNvPr id="11" name="TextBox 10"/>
          <p:cNvSpPr txBox="1"/>
          <p:nvPr/>
        </p:nvSpPr>
        <p:spPr>
          <a:xfrm>
            <a:off x="8046719" y="3520440"/>
            <a:ext cx="1600200" cy="274320"/>
          </a:xfrm>
          <a:prstGeom prst="rect">
            <a:avLst/>
          </a:prstGeom>
          <a:noFill/>
        </p:spPr>
        <p:txBody>
          <a:bodyPr wrap="square">
            <a:spAutoFit/>
          </a:bodyPr>
          <a:lstStyle/>
          <a:p>
            <a:pPr algn="ctr">
              <a:defRPr sz="1200" b="1">
                <a:solidFill>
                  <a:srgbClr val="B9C2CE"/>
                </a:solidFill>
                <a:latin typeface="Public Sans"/>
              </a:defRPr>
            </a:pPr>
            <a:r>
              <a:t>+60%</a:t>
            </a:r>
          </a:p>
        </p:txBody>
      </p:sp>
      <p:sp>
        <p:nvSpPr>
          <p:cNvPr id="12" name="Rounded Rectangle 11"/>
          <p:cNvSpPr/>
          <p:nvPr/>
        </p:nvSpPr>
        <p:spPr>
          <a:xfrm>
            <a:off x="9921240" y="2377440"/>
            <a:ext cx="1783080" cy="1508760"/>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921240" y="2377440"/>
            <a:ext cx="1783080" cy="64008"/>
          </a:xfrm>
          <a:prstGeom prst="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12680" y="2606040"/>
            <a:ext cx="1600200" cy="640080"/>
          </a:xfrm>
          <a:prstGeom prst="rect">
            <a:avLst/>
          </a:prstGeom>
          <a:noFill/>
        </p:spPr>
        <p:txBody>
          <a:bodyPr wrap="square">
            <a:spAutoFit/>
          </a:bodyPr>
          <a:lstStyle/>
          <a:p>
            <a:pPr algn="ctr">
              <a:defRPr sz="3000" b="1">
                <a:solidFill>
                  <a:srgbClr val="FFFFFF"/>
                </a:solidFill>
                <a:latin typeface="Nohemi"/>
              </a:defRPr>
            </a:pPr>
            <a:r>
              <a:t>68%</a:t>
            </a:r>
          </a:p>
        </p:txBody>
      </p:sp>
      <p:sp>
        <p:nvSpPr>
          <p:cNvPr id="15" name="TextBox 14"/>
          <p:cNvSpPr txBox="1"/>
          <p:nvPr/>
        </p:nvSpPr>
        <p:spPr>
          <a:xfrm>
            <a:off x="10012680" y="3246120"/>
            <a:ext cx="1600200" cy="320040"/>
          </a:xfrm>
          <a:prstGeom prst="rect">
            <a:avLst/>
          </a:prstGeom>
          <a:noFill/>
        </p:spPr>
        <p:txBody>
          <a:bodyPr wrap="square">
            <a:spAutoFit/>
          </a:bodyPr>
          <a:lstStyle/>
          <a:p>
            <a:pPr algn="ctr">
              <a:defRPr sz="1200" b="0">
                <a:solidFill>
                  <a:srgbClr val="B9C2CE"/>
                </a:solidFill>
                <a:latin typeface="Public Sans"/>
              </a:defRPr>
            </a:pPr>
            <a:r>
              <a:t>DIGITIZED</a:t>
            </a:r>
          </a:p>
        </p:txBody>
      </p:sp>
      <p:sp>
        <p:nvSpPr>
          <p:cNvPr id="16" name="TextBox 15"/>
          <p:cNvSpPr txBox="1"/>
          <p:nvPr/>
        </p:nvSpPr>
        <p:spPr>
          <a:xfrm>
            <a:off x="10012680" y="3520440"/>
            <a:ext cx="1600200" cy="274320"/>
          </a:xfrm>
          <a:prstGeom prst="rect">
            <a:avLst/>
          </a:prstGeom>
          <a:noFill/>
        </p:spPr>
        <p:txBody>
          <a:bodyPr wrap="square">
            <a:spAutoFit/>
          </a:bodyPr>
          <a:lstStyle/>
          <a:p>
            <a:pPr algn="ctr">
              <a:defRPr sz="1200" b="1">
                <a:solidFill>
                  <a:srgbClr val="B9C2CE"/>
                </a:solidFill>
                <a:latin typeface="Public Sans"/>
              </a:defRPr>
            </a:pPr>
            <a:r>
              <a:t>+14 pts</a:t>
            </a:r>
          </a:p>
        </p:txBody>
      </p:sp>
      <p:sp>
        <p:nvSpPr>
          <p:cNvPr id="17" name="Rounded Rectangle 16"/>
          <p:cNvSpPr/>
          <p:nvPr/>
        </p:nvSpPr>
        <p:spPr>
          <a:xfrm>
            <a:off x="7955279" y="4069080"/>
            <a:ext cx="1783080" cy="1508760"/>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55279" y="4069080"/>
            <a:ext cx="1783080" cy="64008"/>
          </a:xfrm>
          <a:prstGeom prst="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19" y="4297680"/>
            <a:ext cx="1600200" cy="640080"/>
          </a:xfrm>
          <a:prstGeom prst="rect">
            <a:avLst/>
          </a:prstGeom>
          <a:noFill/>
        </p:spPr>
        <p:txBody>
          <a:bodyPr wrap="square">
            <a:spAutoFit/>
          </a:bodyPr>
          <a:lstStyle/>
          <a:p>
            <a:pPr algn="ctr">
              <a:defRPr sz="3000" b="1">
                <a:solidFill>
                  <a:srgbClr val="FFFFFF"/>
                </a:solidFill>
                <a:latin typeface="Nohemi"/>
              </a:defRPr>
            </a:pPr>
            <a:r>
              <a:t>4.2s</a:t>
            </a:r>
          </a:p>
        </p:txBody>
      </p:sp>
      <p:sp>
        <p:nvSpPr>
          <p:cNvPr id="20" name="TextBox 19"/>
          <p:cNvSpPr txBox="1"/>
          <p:nvPr/>
        </p:nvSpPr>
        <p:spPr>
          <a:xfrm>
            <a:off x="8046719" y="4937760"/>
            <a:ext cx="1600200" cy="320040"/>
          </a:xfrm>
          <a:prstGeom prst="rect">
            <a:avLst/>
          </a:prstGeom>
          <a:noFill/>
        </p:spPr>
        <p:txBody>
          <a:bodyPr wrap="square">
            <a:spAutoFit/>
          </a:bodyPr>
          <a:lstStyle/>
          <a:p>
            <a:pPr algn="ctr">
              <a:defRPr sz="1200" b="0">
                <a:solidFill>
                  <a:srgbClr val="B9C2CE"/>
                </a:solidFill>
                <a:latin typeface="Public Sans"/>
              </a:defRPr>
            </a:pPr>
            <a:r>
              <a:t>AVG TIME</a:t>
            </a:r>
          </a:p>
        </p:txBody>
      </p:sp>
      <p:sp>
        <p:nvSpPr>
          <p:cNvPr id="21" name="TextBox 20"/>
          <p:cNvSpPr txBox="1"/>
          <p:nvPr/>
        </p:nvSpPr>
        <p:spPr>
          <a:xfrm>
            <a:off x="8046719" y="5212080"/>
            <a:ext cx="1600200" cy="274320"/>
          </a:xfrm>
          <a:prstGeom prst="rect">
            <a:avLst/>
          </a:prstGeom>
          <a:noFill/>
        </p:spPr>
        <p:txBody>
          <a:bodyPr wrap="square">
            <a:spAutoFit/>
          </a:bodyPr>
          <a:lstStyle/>
          <a:p>
            <a:pPr algn="ctr">
              <a:defRPr sz="1200" b="1">
                <a:solidFill>
                  <a:srgbClr val="B9C2CE"/>
                </a:solidFill>
                <a:latin typeface="Public Sans"/>
              </a:defRPr>
            </a:pPr>
            <a:r>
              <a:t>-78%</a:t>
            </a:r>
          </a:p>
        </p:txBody>
      </p:sp>
      <p:sp>
        <p:nvSpPr>
          <p:cNvPr id="22" name="Rounded Rectangle 21"/>
          <p:cNvSpPr/>
          <p:nvPr/>
        </p:nvSpPr>
        <p:spPr>
          <a:xfrm>
            <a:off x="9921240" y="4069080"/>
            <a:ext cx="1783080" cy="1508760"/>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921240" y="4069080"/>
            <a:ext cx="1783080" cy="64008"/>
          </a:xfrm>
          <a:prstGeom prst="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12680" y="4297680"/>
            <a:ext cx="1600200" cy="640080"/>
          </a:xfrm>
          <a:prstGeom prst="rect">
            <a:avLst/>
          </a:prstGeom>
          <a:noFill/>
        </p:spPr>
        <p:txBody>
          <a:bodyPr wrap="square">
            <a:spAutoFit/>
          </a:bodyPr>
          <a:lstStyle/>
          <a:p>
            <a:pPr algn="ctr">
              <a:defRPr sz="3000" b="1">
                <a:solidFill>
                  <a:srgbClr val="FFFFFF"/>
                </a:solidFill>
                <a:latin typeface="Nohemi"/>
              </a:defRPr>
            </a:pPr>
            <a:r>
              <a:t>91%</a:t>
            </a:r>
          </a:p>
        </p:txBody>
      </p:sp>
      <p:sp>
        <p:nvSpPr>
          <p:cNvPr id="25" name="TextBox 24"/>
          <p:cNvSpPr txBox="1"/>
          <p:nvPr/>
        </p:nvSpPr>
        <p:spPr>
          <a:xfrm>
            <a:off x="10012680" y="4937760"/>
            <a:ext cx="1600200" cy="320040"/>
          </a:xfrm>
          <a:prstGeom prst="rect">
            <a:avLst/>
          </a:prstGeom>
          <a:noFill/>
        </p:spPr>
        <p:txBody>
          <a:bodyPr wrap="square">
            <a:spAutoFit/>
          </a:bodyPr>
          <a:lstStyle/>
          <a:p>
            <a:pPr algn="ctr">
              <a:defRPr sz="1200" b="0">
                <a:solidFill>
                  <a:srgbClr val="B9C2CE"/>
                </a:solidFill>
                <a:latin typeface="Public Sans"/>
              </a:defRPr>
            </a:pPr>
            <a:r>
              <a:t>SATISFACTION</a:t>
            </a:r>
          </a:p>
        </p:txBody>
      </p:sp>
      <p:sp>
        <p:nvSpPr>
          <p:cNvPr id="26" name="TextBox 25"/>
          <p:cNvSpPr txBox="1"/>
          <p:nvPr/>
        </p:nvSpPr>
        <p:spPr>
          <a:xfrm>
            <a:off x="10012680" y="5212080"/>
            <a:ext cx="1600200" cy="274320"/>
          </a:xfrm>
          <a:prstGeom prst="rect">
            <a:avLst/>
          </a:prstGeom>
          <a:noFill/>
        </p:spPr>
        <p:txBody>
          <a:bodyPr wrap="square">
            <a:spAutoFit/>
          </a:bodyPr>
          <a:lstStyle/>
          <a:p>
            <a:pPr algn="ctr">
              <a:defRPr sz="1200" b="1">
                <a:solidFill>
                  <a:srgbClr val="B9C2CE"/>
                </a:solidFill>
                <a:latin typeface="Public Sans"/>
              </a:defRPr>
            </a:pPr>
            <a:r>
              <a:t>+13 pts</a:t>
            </a:r>
          </a:p>
        </p:txBody>
      </p:sp>
      <p:pic>
        <p:nvPicPr>
          <p:cNvPr id="27" name="Picture 26" descr="mcit-footer.png"/>
          <p:cNvPicPr>
            <a:picLocks noChangeAspect="1"/>
          </p:cNvPicPr>
          <p:nvPr/>
        </p:nvPicPr>
        <p:blipFill>
          <a:blip r:embed="rId3"/>
          <a:stretch>
            <a:fillRect/>
          </a:stretch>
        </p:blipFill>
        <p:spPr>
          <a:xfrm>
            <a:off x="0" y="6309360"/>
            <a:ext cx="12191695" cy="548640"/>
          </a:xfrm>
          <a:prstGeom prst="rect">
            <a:avLst/>
          </a:prstGeom>
        </p:spPr>
      </p:pic>
      <p:sp>
        <p:nvSpPr>
          <p:cNvPr id="28" name="TextBox 27"/>
          <p:cNvSpPr txBox="1"/>
          <p:nvPr/>
        </p:nvSpPr>
        <p:spPr>
          <a:xfrm>
            <a:off x="731520" y="6419088"/>
            <a:ext cx="1828800" cy="320040"/>
          </a:xfrm>
          <a:prstGeom prst="rect">
            <a:avLst/>
          </a:prstGeom>
          <a:noFill/>
        </p:spPr>
        <p:txBody>
          <a:bodyPr wrap="square">
            <a:spAutoFit/>
          </a:bodyPr>
          <a:lstStyle/>
          <a:p>
            <a:pPr algn="l">
              <a:defRPr sz="1200" b="0">
                <a:solidFill>
                  <a:srgbClr val="8A9BA8"/>
                </a:solidFill>
                <a:latin typeface="Public Sans"/>
              </a:defRPr>
            </a:pPr>
            <a:r>
              <a:t>02</a:t>
            </a:r>
          </a:p>
        </p:txBody>
      </p:sp>
      <p:sp>
        <p:nvSpPr>
          <p:cNvPr id="29" name="TextBox 28"/>
          <p:cNvSpPr txBox="1"/>
          <p:nvPr/>
        </p:nvSpPr>
        <p:spPr>
          <a:xfrm>
            <a:off x="9601200" y="6419088"/>
            <a:ext cx="1828800" cy="320040"/>
          </a:xfrm>
          <a:prstGeom prst="rect">
            <a:avLst/>
          </a:prstGeom>
          <a:noFill/>
        </p:spPr>
        <p:txBody>
          <a:bodyPr wrap="square">
            <a:spAutoFit/>
          </a:bodyPr>
          <a:lstStyle/>
          <a:p>
            <a:pPr algn="r">
              <a:defRPr sz="1200" b="0">
                <a:solidFill>
                  <a:srgbClr val="8A9BA8"/>
                </a:solidFill>
                <a:latin typeface="Public Sans"/>
              </a:defRPr>
            </a:pPr>
            <a:r>
              <a:t>MCIT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5E6B7A"/>
                </a:solidFill>
                <a:latin typeface="Nohemi"/>
              </a:defRPr>
            </a:pPr>
            <a:r>
              <a:t>03  KEY METRICS</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0A1A2F"/>
                </a:solidFill>
                <a:latin typeface="Nohemi"/>
              </a:defRPr>
            </a:pPr>
            <a:r>
              <a:t>Performance at a Glance</a:t>
            </a:r>
          </a:p>
        </p:txBody>
      </p:sp>
      <p:sp>
        <p:nvSpPr>
          <p:cNvPr id="5" name="Rounded Rectangle 4"/>
          <p:cNvSpPr/>
          <p:nvPr/>
        </p:nvSpPr>
        <p:spPr>
          <a:xfrm>
            <a:off x="731520" y="2377440"/>
            <a:ext cx="2560320" cy="3017520"/>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377440"/>
            <a:ext cx="2560320" cy="82296"/>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43200"/>
            <a:ext cx="2194560" cy="822960"/>
          </a:xfrm>
          <a:prstGeom prst="rect">
            <a:avLst/>
          </a:prstGeom>
          <a:noFill/>
        </p:spPr>
        <p:txBody>
          <a:bodyPr wrap="square">
            <a:spAutoFit/>
          </a:bodyPr>
          <a:lstStyle/>
          <a:p>
            <a:pPr algn="ctr">
              <a:defRPr sz="4800" b="1">
                <a:solidFill>
                  <a:srgbClr val="0A1A2F"/>
                </a:solidFill>
                <a:latin typeface="Nohemi"/>
              </a:defRPr>
            </a:pPr>
            <a:r>
              <a:t>2.4M</a:t>
            </a:r>
          </a:p>
        </p:txBody>
      </p:sp>
      <p:sp>
        <p:nvSpPr>
          <p:cNvPr id="8" name="TextBox 7"/>
          <p:cNvSpPr txBox="1"/>
          <p:nvPr/>
        </p:nvSpPr>
        <p:spPr>
          <a:xfrm>
            <a:off x="914400" y="3611880"/>
            <a:ext cx="2194560" cy="640080"/>
          </a:xfrm>
          <a:prstGeom prst="rect">
            <a:avLst/>
          </a:prstGeom>
          <a:noFill/>
        </p:spPr>
        <p:txBody>
          <a:bodyPr wrap="square">
            <a:spAutoFit/>
          </a:bodyPr>
          <a:lstStyle/>
          <a:p>
            <a:pPr algn="ctr">
              <a:defRPr sz="1700" b="0">
                <a:solidFill>
                  <a:srgbClr val="5E6B7A"/>
                </a:solidFill>
                <a:latin typeface="Public Sans"/>
              </a:defRPr>
            </a:pPr>
            <a:r>
              <a:t>Citizens Onboarded</a:t>
            </a:r>
          </a:p>
        </p:txBody>
      </p:sp>
      <p:sp>
        <p:nvSpPr>
          <p:cNvPr id="9" name="TextBox 8"/>
          <p:cNvSpPr txBox="1"/>
          <p:nvPr/>
        </p:nvSpPr>
        <p:spPr>
          <a:xfrm>
            <a:off x="914400" y="4434840"/>
            <a:ext cx="2194560" cy="457200"/>
          </a:xfrm>
          <a:prstGeom prst="rect">
            <a:avLst/>
          </a:prstGeom>
          <a:noFill/>
        </p:spPr>
        <p:txBody>
          <a:bodyPr wrap="square">
            <a:spAutoFit/>
          </a:bodyPr>
          <a:lstStyle/>
          <a:p>
            <a:pPr algn="ctr">
              <a:defRPr sz="1400" b="1">
                <a:solidFill>
                  <a:srgbClr val="0A1A2F"/>
                </a:solidFill>
                <a:latin typeface="Public Sans"/>
              </a:defRPr>
            </a:pPr>
            <a:r>
              <a:t>+60% vs 2025</a:t>
            </a:r>
          </a:p>
        </p:txBody>
      </p:sp>
      <p:sp>
        <p:nvSpPr>
          <p:cNvPr id="10" name="Rounded Rectangle 9"/>
          <p:cNvSpPr/>
          <p:nvPr/>
        </p:nvSpPr>
        <p:spPr>
          <a:xfrm>
            <a:off x="3520439" y="2377440"/>
            <a:ext cx="2560320" cy="3017520"/>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39" y="2377440"/>
            <a:ext cx="2560320" cy="82296"/>
          </a:xfrm>
          <a:prstGeom prst="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2743200"/>
            <a:ext cx="2194560" cy="822960"/>
          </a:xfrm>
          <a:prstGeom prst="rect">
            <a:avLst/>
          </a:prstGeom>
          <a:noFill/>
        </p:spPr>
        <p:txBody>
          <a:bodyPr wrap="square">
            <a:spAutoFit/>
          </a:bodyPr>
          <a:lstStyle/>
          <a:p>
            <a:pPr algn="ctr">
              <a:defRPr sz="4800" b="1">
                <a:solidFill>
                  <a:srgbClr val="0A1A2F"/>
                </a:solidFill>
                <a:latin typeface="Nohemi"/>
              </a:defRPr>
            </a:pPr>
            <a:r>
              <a:t>68%</a:t>
            </a:r>
          </a:p>
        </p:txBody>
      </p:sp>
      <p:sp>
        <p:nvSpPr>
          <p:cNvPr id="13" name="TextBox 12"/>
          <p:cNvSpPr txBox="1"/>
          <p:nvPr/>
        </p:nvSpPr>
        <p:spPr>
          <a:xfrm>
            <a:off x="3703320" y="3611880"/>
            <a:ext cx="2194560" cy="640080"/>
          </a:xfrm>
          <a:prstGeom prst="rect">
            <a:avLst/>
          </a:prstGeom>
          <a:noFill/>
        </p:spPr>
        <p:txBody>
          <a:bodyPr wrap="square">
            <a:spAutoFit/>
          </a:bodyPr>
          <a:lstStyle/>
          <a:p>
            <a:pPr algn="ctr">
              <a:defRPr sz="1700" b="0">
                <a:solidFill>
                  <a:srgbClr val="5E6B7A"/>
                </a:solidFill>
                <a:latin typeface="Public Sans"/>
              </a:defRPr>
            </a:pPr>
            <a:r>
              <a:t>Services Digitized</a:t>
            </a:r>
          </a:p>
        </p:txBody>
      </p:sp>
      <p:sp>
        <p:nvSpPr>
          <p:cNvPr id="14" name="TextBox 13"/>
          <p:cNvSpPr txBox="1"/>
          <p:nvPr/>
        </p:nvSpPr>
        <p:spPr>
          <a:xfrm>
            <a:off x="3703320" y="4434840"/>
            <a:ext cx="2194560" cy="457200"/>
          </a:xfrm>
          <a:prstGeom prst="rect">
            <a:avLst/>
          </a:prstGeom>
          <a:noFill/>
        </p:spPr>
        <p:txBody>
          <a:bodyPr wrap="square">
            <a:spAutoFit/>
          </a:bodyPr>
          <a:lstStyle/>
          <a:p>
            <a:pPr algn="ctr">
              <a:defRPr sz="1400" b="1">
                <a:solidFill>
                  <a:srgbClr val="0A1A2F"/>
                </a:solidFill>
                <a:latin typeface="Public Sans"/>
              </a:defRPr>
            </a:pPr>
            <a:r>
              <a:t>+14 pts</a:t>
            </a:r>
          </a:p>
        </p:txBody>
      </p:sp>
      <p:sp>
        <p:nvSpPr>
          <p:cNvPr id="15" name="Rounded Rectangle 14"/>
          <p:cNvSpPr/>
          <p:nvPr/>
        </p:nvSpPr>
        <p:spPr>
          <a:xfrm>
            <a:off x="6309359" y="2377440"/>
            <a:ext cx="2560320" cy="3017520"/>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59" y="2377440"/>
            <a:ext cx="2560320" cy="82296"/>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2743200"/>
            <a:ext cx="2194560" cy="822960"/>
          </a:xfrm>
          <a:prstGeom prst="rect">
            <a:avLst/>
          </a:prstGeom>
          <a:noFill/>
        </p:spPr>
        <p:txBody>
          <a:bodyPr wrap="square">
            <a:spAutoFit/>
          </a:bodyPr>
          <a:lstStyle/>
          <a:p>
            <a:pPr algn="ctr">
              <a:defRPr sz="4800" b="1">
                <a:solidFill>
                  <a:srgbClr val="0A1A2F"/>
                </a:solidFill>
                <a:latin typeface="Nohemi"/>
              </a:defRPr>
            </a:pPr>
            <a:r>
              <a:t>4.2s</a:t>
            </a:r>
          </a:p>
        </p:txBody>
      </p:sp>
      <p:sp>
        <p:nvSpPr>
          <p:cNvPr id="18" name="TextBox 17"/>
          <p:cNvSpPr txBox="1"/>
          <p:nvPr/>
        </p:nvSpPr>
        <p:spPr>
          <a:xfrm>
            <a:off x="6492240" y="3611880"/>
            <a:ext cx="2194560" cy="640080"/>
          </a:xfrm>
          <a:prstGeom prst="rect">
            <a:avLst/>
          </a:prstGeom>
          <a:noFill/>
        </p:spPr>
        <p:txBody>
          <a:bodyPr wrap="square">
            <a:spAutoFit/>
          </a:bodyPr>
          <a:lstStyle/>
          <a:p>
            <a:pPr algn="ctr">
              <a:defRPr sz="1700" b="0">
                <a:solidFill>
                  <a:srgbClr val="5E6B7A"/>
                </a:solidFill>
                <a:latin typeface="Public Sans"/>
              </a:defRPr>
            </a:pPr>
            <a:r>
              <a:t>Average Service Time</a:t>
            </a:r>
          </a:p>
        </p:txBody>
      </p:sp>
      <p:sp>
        <p:nvSpPr>
          <p:cNvPr id="19" name="TextBox 18"/>
          <p:cNvSpPr txBox="1"/>
          <p:nvPr/>
        </p:nvSpPr>
        <p:spPr>
          <a:xfrm>
            <a:off x="6492240" y="4434840"/>
            <a:ext cx="2194560" cy="457200"/>
          </a:xfrm>
          <a:prstGeom prst="rect">
            <a:avLst/>
          </a:prstGeom>
          <a:noFill/>
        </p:spPr>
        <p:txBody>
          <a:bodyPr wrap="square">
            <a:spAutoFit/>
          </a:bodyPr>
          <a:lstStyle/>
          <a:p>
            <a:pPr algn="ctr">
              <a:defRPr sz="1400" b="1">
                <a:solidFill>
                  <a:srgbClr val="0A1A2F"/>
                </a:solidFill>
                <a:latin typeface="Public Sans"/>
              </a:defRPr>
            </a:pPr>
            <a:r>
              <a:t>-78% vs 2024</a:t>
            </a:r>
          </a:p>
        </p:txBody>
      </p:sp>
      <p:sp>
        <p:nvSpPr>
          <p:cNvPr id="20" name="Rounded Rectangle 19"/>
          <p:cNvSpPr/>
          <p:nvPr/>
        </p:nvSpPr>
        <p:spPr>
          <a:xfrm>
            <a:off x="9098280" y="2377440"/>
            <a:ext cx="2560320" cy="3017520"/>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98280" y="2377440"/>
            <a:ext cx="2560320" cy="82296"/>
          </a:xfrm>
          <a:prstGeom prst="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1159" y="2743200"/>
            <a:ext cx="2194560" cy="822960"/>
          </a:xfrm>
          <a:prstGeom prst="rect">
            <a:avLst/>
          </a:prstGeom>
          <a:noFill/>
        </p:spPr>
        <p:txBody>
          <a:bodyPr wrap="square">
            <a:spAutoFit/>
          </a:bodyPr>
          <a:lstStyle/>
          <a:p>
            <a:pPr algn="ctr">
              <a:defRPr sz="4800" b="1">
                <a:solidFill>
                  <a:srgbClr val="0A1A2F"/>
                </a:solidFill>
                <a:latin typeface="Nohemi"/>
              </a:defRPr>
            </a:pPr>
            <a:r>
              <a:t>91%</a:t>
            </a:r>
          </a:p>
        </p:txBody>
      </p:sp>
      <p:sp>
        <p:nvSpPr>
          <p:cNvPr id="23" name="TextBox 22"/>
          <p:cNvSpPr txBox="1"/>
          <p:nvPr/>
        </p:nvSpPr>
        <p:spPr>
          <a:xfrm>
            <a:off x="9281159" y="3611880"/>
            <a:ext cx="2194560" cy="640080"/>
          </a:xfrm>
          <a:prstGeom prst="rect">
            <a:avLst/>
          </a:prstGeom>
          <a:noFill/>
        </p:spPr>
        <p:txBody>
          <a:bodyPr wrap="square">
            <a:spAutoFit/>
          </a:bodyPr>
          <a:lstStyle/>
          <a:p>
            <a:pPr algn="ctr">
              <a:defRPr sz="1700" b="0">
                <a:solidFill>
                  <a:srgbClr val="5E6B7A"/>
                </a:solidFill>
                <a:latin typeface="Public Sans"/>
              </a:defRPr>
            </a:pPr>
            <a:r>
              <a:t>Citizen Satisfaction</a:t>
            </a:r>
          </a:p>
        </p:txBody>
      </p:sp>
      <p:sp>
        <p:nvSpPr>
          <p:cNvPr id="24" name="TextBox 23"/>
          <p:cNvSpPr txBox="1"/>
          <p:nvPr/>
        </p:nvSpPr>
        <p:spPr>
          <a:xfrm>
            <a:off x="9281159" y="4434840"/>
            <a:ext cx="2194560" cy="457200"/>
          </a:xfrm>
          <a:prstGeom prst="rect">
            <a:avLst/>
          </a:prstGeom>
          <a:noFill/>
        </p:spPr>
        <p:txBody>
          <a:bodyPr wrap="square">
            <a:spAutoFit/>
          </a:bodyPr>
          <a:lstStyle/>
          <a:p>
            <a:pPr algn="ctr">
              <a:defRPr sz="1400" b="1">
                <a:solidFill>
                  <a:srgbClr val="0A1A2F"/>
                </a:solidFill>
                <a:latin typeface="Public Sans"/>
              </a:defRPr>
            </a:pPr>
            <a:r>
              <a:t>+13 pts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B9C2CE"/>
                </a:solidFill>
                <a:latin typeface="Nohemi"/>
              </a:defRPr>
            </a:pPr>
            <a:r>
              <a:t>04  SERVICES</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FFFFFF"/>
                </a:solidFill>
                <a:latin typeface="Nohemi"/>
              </a:defRPr>
            </a:pPr>
            <a:r>
              <a:t>Digital Services Volume</a:t>
            </a:r>
          </a:p>
        </p:txBody>
      </p:sp>
      <p:pic>
        <p:nvPicPr>
          <p:cNvPr id="5" name="Picture 4" descr="mcit-divider.png"/>
          <p:cNvPicPr>
            <a:picLocks noChangeAspect="1"/>
          </p:cNvPicPr>
          <p:nvPr/>
        </p:nvPicPr>
        <p:blipFill>
          <a:blip r:embed="rId2"/>
          <a:stretch>
            <a:fillRect/>
          </a:stretch>
        </p:blipFill>
        <p:spPr>
          <a:xfrm>
            <a:off x="731520" y="1691640"/>
            <a:ext cx="3657600" cy="114300"/>
          </a:xfrm>
          <a:prstGeom prst="rect">
            <a:avLst/>
          </a:prstGeom>
        </p:spPr>
      </p:pic>
      <p:pic>
        <p:nvPicPr>
          <p:cNvPr id="6" name="Picture 5" descr="mcit-footer.png"/>
          <p:cNvPicPr>
            <a:picLocks noChangeAspect="1"/>
          </p:cNvPicPr>
          <p:nvPr/>
        </p:nvPicPr>
        <p:blipFill>
          <a:blip r:embed="rId3"/>
          <a:stretch>
            <a:fillRect/>
          </a:stretch>
        </p:blipFill>
        <p:spPr>
          <a:xfrm>
            <a:off x="0" y="6309360"/>
            <a:ext cx="12191695" cy="548640"/>
          </a:xfrm>
          <a:prstGeom prst="rect">
            <a:avLst/>
          </a:prstGeom>
        </p:spPr>
      </p:pic>
      <p:sp>
        <p:nvSpPr>
          <p:cNvPr id="7" name="TextBox 6"/>
          <p:cNvSpPr txBox="1"/>
          <p:nvPr/>
        </p:nvSpPr>
        <p:spPr>
          <a:xfrm>
            <a:off x="731520" y="6419088"/>
            <a:ext cx="1828800" cy="320040"/>
          </a:xfrm>
          <a:prstGeom prst="rect">
            <a:avLst/>
          </a:prstGeom>
          <a:noFill/>
        </p:spPr>
        <p:txBody>
          <a:bodyPr wrap="square">
            <a:spAutoFit/>
          </a:bodyPr>
          <a:lstStyle/>
          <a:p>
            <a:pPr algn="l">
              <a:defRPr sz="1200" b="0">
                <a:solidFill>
                  <a:srgbClr val="8A9BA8"/>
                </a:solidFill>
                <a:latin typeface="Public Sans"/>
              </a:defRPr>
            </a:pPr>
            <a:r>
              <a:t>04</a:t>
            </a:r>
          </a:p>
        </p:txBody>
      </p:sp>
      <p:sp>
        <p:nvSpPr>
          <p:cNvPr id="8" name="TextBox 7"/>
          <p:cNvSpPr txBox="1"/>
          <p:nvPr/>
        </p:nvSpPr>
        <p:spPr>
          <a:xfrm>
            <a:off x="9601200" y="6419088"/>
            <a:ext cx="1828800" cy="320040"/>
          </a:xfrm>
          <a:prstGeom prst="rect">
            <a:avLst/>
          </a:prstGeom>
          <a:noFill/>
        </p:spPr>
        <p:txBody>
          <a:bodyPr wrap="square">
            <a:spAutoFit/>
          </a:bodyPr>
          <a:lstStyle/>
          <a:p>
            <a:pPr algn="r">
              <a:defRPr sz="1200" b="0">
                <a:solidFill>
                  <a:srgbClr val="8A9BA8"/>
                </a:solidFill>
                <a:latin typeface="Public Sans"/>
              </a:defRPr>
            </a:pPr>
            <a:r>
              <a:t>MCIT 2026</a:t>
            </a:r>
          </a:p>
        </p:txBody>
      </p:sp>
      <p:sp>
        <p:nvSpPr>
          <p:cNvPr id="9" name="TextBox 8"/>
          <p:cNvSpPr txBox="1"/>
          <p:nvPr/>
        </p:nvSpPr>
        <p:spPr>
          <a:xfrm>
            <a:off x="731520" y="2148840"/>
            <a:ext cx="10698480" cy="365760"/>
          </a:xfrm>
          <a:prstGeom prst="rect">
            <a:avLst/>
          </a:prstGeom>
          <a:noFill/>
        </p:spPr>
        <p:txBody>
          <a:bodyPr wrap="square">
            <a:spAutoFit/>
          </a:bodyPr>
          <a:lstStyle/>
          <a:p>
            <a:pPr algn="l">
              <a:defRPr sz="1600" b="0">
                <a:solidFill>
                  <a:srgbClr val="8A9BA8"/>
                </a:solidFill>
                <a:latin typeface="Public Sans"/>
              </a:defRPr>
            </a:pPr>
            <a:r>
              <a:t>Transactions by category, thousands in 2026</a:t>
            </a:r>
          </a:p>
        </p:txBody>
      </p:sp>
      <p:sp>
        <p:nvSpPr>
          <p:cNvPr id="10" name="TextBox 9"/>
          <p:cNvSpPr txBox="1"/>
          <p:nvPr/>
        </p:nvSpPr>
        <p:spPr>
          <a:xfrm>
            <a:off x="731520" y="2743200"/>
            <a:ext cx="2011680" cy="457200"/>
          </a:xfrm>
          <a:prstGeom prst="rect">
            <a:avLst/>
          </a:prstGeom>
          <a:noFill/>
        </p:spPr>
        <p:txBody>
          <a:bodyPr wrap="square">
            <a:spAutoFit/>
          </a:bodyPr>
          <a:lstStyle/>
          <a:p>
            <a:pPr algn="l">
              <a:defRPr sz="1900" b="0">
                <a:solidFill>
                  <a:srgbClr val="FFFFFF"/>
                </a:solidFill>
                <a:latin typeface="Public Sans"/>
              </a:defRPr>
            </a:pPr>
            <a:r>
              <a:t>ID Services</a:t>
            </a:r>
          </a:p>
        </p:txBody>
      </p:sp>
      <p:sp>
        <p:nvSpPr>
          <p:cNvPr id="11" name="Rounded Rectangle 10"/>
          <p:cNvSpPr/>
          <p:nvPr/>
        </p:nvSpPr>
        <p:spPr>
          <a:xfrm>
            <a:off x="2926080" y="2798064"/>
            <a:ext cx="6400800" cy="365760"/>
          </a:xfrm>
          <a:prstGeom prst="round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55480" y="2743200"/>
            <a:ext cx="1371600" cy="457200"/>
          </a:xfrm>
          <a:prstGeom prst="rect">
            <a:avLst/>
          </a:prstGeom>
          <a:noFill/>
        </p:spPr>
        <p:txBody>
          <a:bodyPr wrap="square">
            <a:spAutoFit/>
          </a:bodyPr>
          <a:lstStyle/>
          <a:p>
            <a:pPr algn="l">
              <a:defRPr sz="1900" b="1">
                <a:solidFill>
                  <a:srgbClr val="FFFFFF"/>
                </a:solidFill>
                <a:latin typeface="Nohemi"/>
              </a:defRPr>
            </a:pPr>
            <a:r>
              <a:t>420</a:t>
            </a:r>
          </a:p>
        </p:txBody>
      </p:sp>
      <p:sp>
        <p:nvSpPr>
          <p:cNvPr id="13" name="TextBox 12"/>
          <p:cNvSpPr txBox="1"/>
          <p:nvPr/>
        </p:nvSpPr>
        <p:spPr>
          <a:xfrm>
            <a:off x="731520" y="3611880"/>
            <a:ext cx="2011680" cy="457200"/>
          </a:xfrm>
          <a:prstGeom prst="rect">
            <a:avLst/>
          </a:prstGeom>
          <a:noFill/>
        </p:spPr>
        <p:txBody>
          <a:bodyPr wrap="square">
            <a:spAutoFit/>
          </a:bodyPr>
          <a:lstStyle/>
          <a:p>
            <a:pPr algn="l">
              <a:defRPr sz="1900" b="0">
                <a:solidFill>
                  <a:srgbClr val="FFFFFF"/>
                </a:solidFill>
                <a:latin typeface="Public Sans"/>
              </a:defRPr>
            </a:pPr>
            <a:r>
              <a:t>Licenses</a:t>
            </a:r>
          </a:p>
        </p:txBody>
      </p:sp>
      <p:sp>
        <p:nvSpPr>
          <p:cNvPr id="14" name="Rounded Rectangle 13"/>
          <p:cNvSpPr/>
          <p:nvPr/>
        </p:nvSpPr>
        <p:spPr>
          <a:xfrm>
            <a:off x="2926080" y="3666744"/>
            <a:ext cx="4724400" cy="365760"/>
          </a:xfrm>
          <a:prstGeom prst="round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9080" y="3611880"/>
            <a:ext cx="1371600" cy="457200"/>
          </a:xfrm>
          <a:prstGeom prst="rect">
            <a:avLst/>
          </a:prstGeom>
          <a:noFill/>
        </p:spPr>
        <p:txBody>
          <a:bodyPr wrap="square">
            <a:spAutoFit/>
          </a:bodyPr>
          <a:lstStyle/>
          <a:p>
            <a:pPr algn="l">
              <a:defRPr sz="1900" b="1">
                <a:solidFill>
                  <a:srgbClr val="FFFFFF"/>
                </a:solidFill>
                <a:latin typeface="Nohemi"/>
              </a:defRPr>
            </a:pPr>
            <a:r>
              <a:t>310</a:t>
            </a:r>
          </a:p>
        </p:txBody>
      </p:sp>
      <p:sp>
        <p:nvSpPr>
          <p:cNvPr id="16" name="TextBox 15"/>
          <p:cNvSpPr txBox="1"/>
          <p:nvPr/>
        </p:nvSpPr>
        <p:spPr>
          <a:xfrm>
            <a:off x="731520" y="4480560"/>
            <a:ext cx="2011680" cy="457200"/>
          </a:xfrm>
          <a:prstGeom prst="rect">
            <a:avLst/>
          </a:prstGeom>
          <a:noFill/>
        </p:spPr>
        <p:txBody>
          <a:bodyPr wrap="square">
            <a:spAutoFit/>
          </a:bodyPr>
          <a:lstStyle/>
          <a:p>
            <a:pPr algn="l">
              <a:defRPr sz="1900" b="0">
                <a:solidFill>
                  <a:srgbClr val="FFFFFF"/>
                </a:solidFill>
                <a:latin typeface="Public Sans"/>
              </a:defRPr>
            </a:pPr>
            <a:r>
              <a:t>Permits</a:t>
            </a:r>
          </a:p>
        </p:txBody>
      </p:sp>
      <p:sp>
        <p:nvSpPr>
          <p:cNvPr id="17" name="Rounded Rectangle 16"/>
          <p:cNvSpPr/>
          <p:nvPr/>
        </p:nvSpPr>
        <p:spPr>
          <a:xfrm>
            <a:off x="2926080" y="4535424"/>
            <a:ext cx="3962400" cy="365760"/>
          </a:xfrm>
          <a:prstGeom prst="roundRect">
            <a:avLst/>
          </a:prstGeom>
          <a:solidFill>
            <a:srgbClr val="8A9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17080" y="4480560"/>
            <a:ext cx="1371600" cy="457200"/>
          </a:xfrm>
          <a:prstGeom prst="rect">
            <a:avLst/>
          </a:prstGeom>
          <a:noFill/>
        </p:spPr>
        <p:txBody>
          <a:bodyPr wrap="square">
            <a:spAutoFit/>
          </a:bodyPr>
          <a:lstStyle/>
          <a:p>
            <a:pPr algn="l">
              <a:defRPr sz="1900" b="1">
                <a:solidFill>
                  <a:srgbClr val="FFFFFF"/>
                </a:solidFill>
                <a:latin typeface="Nohemi"/>
              </a:defRPr>
            </a:pPr>
            <a:r>
              <a:t>260</a:t>
            </a:r>
          </a:p>
        </p:txBody>
      </p:sp>
      <p:sp>
        <p:nvSpPr>
          <p:cNvPr id="19" name="TextBox 18"/>
          <p:cNvSpPr txBox="1"/>
          <p:nvPr/>
        </p:nvSpPr>
        <p:spPr>
          <a:xfrm>
            <a:off x="731520" y="5349240"/>
            <a:ext cx="2011680" cy="457200"/>
          </a:xfrm>
          <a:prstGeom prst="rect">
            <a:avLst/>
          </a:prstGeom>
          <a:noFill/>
        </p:spPr>
        <p:txBody>
          <a:bodyPr wrap="square">
            <a:spAutoFit/>
          </a:bodyPr>
          <a:lstStyle/>
          <a:p>
            <a:pPr algn="l">
              <a:defRPr sz="1900" b="0">
                <a:solidFill>
                  <a:srgbClr val="FFFFFF"/>
                </a:solidFill>
                <a:latin typeface="Public Sans"/>
              </a:defRPr>
            </a:pPr>
            <a:r>
              <a:t>Certificates</a:t>
            </a:r>
          </a:p>
        </p:txBody>
      </p:sp>
      <p:sp>
        <p:nvSpPr>
          <p:cNvPr id="20" name="Rounded Rectangle 19"/>
          <p:cNvSpPr/>
          <p:nvPr/>
        </p:nvSpPr>
        <p:spPr>
          <a:xfrm>
            <a:off x="2926080" y="5404103"/>
            <a:ext cx="2895600" cy="365760"/>
          </a:xfrm>
          <a:prstGeom prst="round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0280" y="5349240"/>
            <a:ext cx="1371600" cy="457200"/>
          </a:xfrm>
          <a:prstGeom prst="rect">
            <a:avLst/>
          </a:prstGeom>
          <a:noFill/>
        </p:spPr>
        <p:txBody>
          <a:bodyPr wrap="square">
            <a:spAutoFit/>
          </a:bodyPr>
          <a:lstStyle/>
          <a:p>
            <a:pPr algn="l">
              <a:defRPr sz="1900" b="1">
                <a:solidFill>
                  <a:srgbClr val="FFFFFF"/>
                </a:solidFill>
                <a:latin typeface="Nohemi"/>
              </a:defRPr>
            </a:pPr>
            <a:r>
              <a:t>190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5E6B7A"/>
                </a:solidFill>
                <a:latin typeface="Nohemi"/>
              </a:defRPr>
            </a:pPr>
            <a:r>
              <a:t>05  CITIZEN JOURNEY</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0A1A2F"/>
                </a:solidFill>
                <a:latin typeface="Nohemi"/>
              </a:defRPr>
            </a:pPr>
            <a:r>
              <a:t>From Visit to Completion</a:t>
            </a:r>
          </a:p>
        </p:txBody>
      </p:sp>
      <p:sp>
        <p:nvSpPr>
          <p:cNvPr id="5" name="Rounded Rectangle 4"/>
          <p:cNvSpPr/>
          <p:nvPr/>
        </p:nvSpPr>
        <p:spPr>
          <a:xfrm>
            <a:off x="1295247" y="2377440"/>
            <a:ext cx="9601200" cy="685800"/>
          </a:xfrm>
          <a:prstGeom prst="round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95247" y="2377440"/>
            <a:ext cx="109728" cy="685800"/>
          </a:xfrm>
          <a:prstGeom prst="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61007" y="2468880"/>
            <a:ext cx="3657600" cy="457200"/>
          </a:xfrm>
          <a:prstGeom prst="rect">
            <a:avLst/>
          </a:prstGeom>
          <a:noFill/>
        </p:spPr>
        <p:txBody>
          <a:bodyPr wrap="square">
            <a:spAutoFit/>
          </a:bodyPr>
          <a:lstStyle/>
          <a:p>
            <a:pPr algn="l">
              <a:defRPr sz="1800" b="1">
                <a:solidFill>
                  <a:srgbClr val="FFFFFF"/>
                </a:solidFill>
                <a:latin typeface="Nohemi"/>
              </a:defRPr>
            </a:pPr>
            <a:r>
              <a:t>Portal Visits</a:t>
            </a:r>
          </a:p>
        </p:txBody>
      </p:sp>
      <p:sp>
        <p:nvSpPr>
          <p:cNvPr id="8" name="TextBox 7"/>
          <p:cNvSpPr txBox="1"/>
          <p:nvPr/>
        </p:nvSpPr>
        <p:spPr>
          <a:xfrm>
            <a:off x="8884767" y="2505456"/>
            <a:ext cx="1737360" cy="411480"/>
          </a:xfrm>
          <a:prstGeom prst="rect">
            <a:avLst/>
          </a:prstGeom>
          <a:noFill/>
        </p:spPr>
        <p:txBody>
          <a:bodyPr wrap="square">
            <a:spAutoFit/>
          </a:bodyPr>
          <a:lstStyle/>
          <a:p>
            <a:pPr algn="r">
              <a:defRPr sz="1800" b="1">
                <a:solidFill>
                  <a:srgbClr val="B9C2CE"/>
                </a:solidFill>
                <a:latin typeface="Nohemi"/>
              </a:defRPr>
            </a:pPr>
            <a:r>
              <a:t>5,200K</a:t>
            </a:r>
          </a:p>
        </p:txBody>
      </p:sp>
      <p:sp>
        <p:nvSpPr>
          <p:cNvPr id="9" name="Rounded Rectangle 8"/>
          <p:cNvSpPr/>
          <p:nvPr/>
        </p:nvSpPr>
        <p:spPr>
          <a:xfrm>
            <a:off x="2438247" y="3291840"/>
            <a:ext cx="7315200" cy="685800"/>
          </a:xfrm>
          <a:prstGeom prst="round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38247" y="3291840"/>
            <a:ext cx="109728" cy="685800"/>
          </a:xfrm>
          <a:prstGeom prst="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04007" y="3383280"/>
            <a:ext cx="3657600" cy="457200"/>
          </a:xfrm>
          <a:prstGeom prst="rect">
            <a:avLst/>
          </a:prstGeom>
          <a:noFill/>
        </p:spPr>
        <p:txBody>
          <a:bodyPr wrap="square">
            <a:spAutoFit/>
          </a:bodyPr>
          <a:lstStyle/>
          <a:p>
            <a:pPr algn="l">
              <a:defRPr sz="1800" b="1">
                <a:solidFill>
                  <a:srgbClr val="FFFFFF"/>
                </a:solidFill>
                <a:latin typeface="Nohemi"/>
              </a:defRPr>
            </a:pPr>
            <a:r>
              <a:t>Applications</a:t>
            </a:r>
          </a:p>
        </p:txBody>
      </p:sp>
      <p:sp>
        <p:nvSpPr>
          <p:cNvPr id="12" name="TextBox 11"/>
          <p:cNvSpPr txBox="1"/>
          <p:nvPr/>
        </p:nvSpPr>
        <p:spPr>
          <a:xfrm>
            <a:off x="7741767" y="3419856"/>
            <a:ext cx="1737360" cy="411480"/>
          </a:xfrm>
          <a:prstGeom prst="rect">
            <a:avLst/>
          </a:prstGeom>
          <a:noFill/>
        </p:spPr>
        <p:txBody>
          <a:bodyPr wrap="square">
            <a:spAutoFit/>
          </a:bodyPr>
          <a:lstStyle/>
          <a:p>
            <a:pPr algn="r">
              <a:defRPr sz="1800" b="1">
                <a:solidFill>
                  <a:srgbClr val="B9C2CE"/>
                </a:solidFill>
                <a:latin typeface="Nohemi"/>
              </a:defRPr>
            </a:pPr>
            <a:r>
              <a:t>3,100K</a:t>
            </a:r>
          </a:p>
        </p:txBody>
      </p:sp>
      <p:sp>
        <p:nvSpPr>
          <p:cNvPr id="13" name="Rounded Rectangle 12"/>
          <p:cNvSpPr/>
          <p:nvPr/>
        </p:nvSpPr>
        <p:spPr>
          <a:xfrm>
            <a:off x="3352647" y="4206240"/>
            <a:ext cx="5486400" cy="685800"/>
          </a:xfrm>
          <a:prstGeom prst="round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52647" y="4206240"/>
            <a:ext cx="109728" cy="685800"/>
          </a:xfrm>
          <a:prstGeom prst="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18407" y="4297679"/>
            <a:ext cx="3657600" cy="457200"/>
          </a:xfrm>
          <a:prstGeom prst="rect">
            <a:avLst/>
          </a:prstGeom>
          <a:noFill/>
        </p:spPr>
        <p:txBody>
          <a:bodyPr wrap="square">
            <a:spAutoFit/>
          </a:bodyPr>
          <a:lstStyle/>
          <a:p>
            <a:pPr algn="l">
              <a:defRPr sz="1800" b="1">
                <a:solidFill>
                  <a:srgbClr val="FFFFFF"/>
                </a:solidFill>
                <a:latin typeface="Nohemi"/>
              </a:defRPr>
            </a:pPr>
            <a:r>
              <a:t>Verified</a:t>
            </a:r>
          </a:p>
        </p:txBody>
      </p:sp>
      <p:sp>
        <p:nvSpPr>
          <p:cNvPr id="16" name="TextBox 15"/>
          <p:cNvSpPr txBox="1"/>
          <p:nvPr/>
        </p:nvSpPr>
        <p:spPr>
          <a:xfrm>
            <a:off x="6827367" y="4334255"/>
            <a:ext cx="1737360" cy="411480"/>
          </a:xfrm>
          <a:prstGeom prst="rect">
            <a:avLst/>
          </a:prstGeom>
          <a:noFill/>
        </p:spPr>
        <p:txBody>
          <a:bodyPr wrap="square">
            <a:spAutoFit/>
          </a:bodyPr>
          <a:lstStyle/>
          <a:p>
            <a:pPr algn="r">
              <a:defRPr sz="1800" b="1">
                <a:solidFill>
                  <a:srgbClr val="B9C2CE"/>
                </a:solidFill>
                <a:latin typeface="Nohemi"/>
              </a:defRPr>
            </a:pPr>
            <a:r>
              <a:t>2,400K</a:t>
            </a:r>
          </a:p>
        </p:txBody>
      </p:sp>
      <p:sp>
        <p:nvSpPr>
          <p:cNvPr id="17" name="Rounded Rectangle 16"/>
          <p:cNvSpPr/>
          <p:nvPr/>
        </p:nvSpPr>
        <p:spPr>
          <a:xfrm>
            <a:off x="4038447" y="5120640"/>
            <a:ext cx="4114800" cy="685800"/>
          </a:xfrm>
          <a:prstGeom prst="round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38447" y="5120640"/>
            <a:ext cx="109728" cy="685800"/>
          </a:xfrm>
          <a:prstGeom prst="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207" y="5212079"/>
            <a:ext cx="3657600" cy="457200"/>
          </a:xfrm>
          <a:prstGeom prst="rect">
            <a:avLst/>
          </a:prstGeom>
          <a:noFill/>
        </p:spPr>
        <p:txBody>
          <a:bodyPr wrap="square">
            <a:spAutoFit/>
          </a:bodyPr>
          <a:lstStyle/>
          <a:p>
            <a:pPr algn="l">
              <a:defRPr sz="1800" b="1">
                <a:solidFill>
                  <a:srgbClr val="FFFFFF"/>
                </a:solidFill>
                <a:latin typeface="Nohemi"/>
              </a:defRPr>
            </a:pPr>
            <a:r>
              <a:t>Completed</a:t>
            </a:r>
          </a:p>
        </p:txBody>
      </p:sp>
      <p:sp>
        <p:nvSpPr>
          <p:cNvPr id="20" name="TextBox 19"/>
          <p:cNvSpPr txBox="1"/>
          <p:nvPr/>
        </p:nvSpPr>
        <p:spPr>
          <a:xfrm>
            <a:off x="6141567" y="5248655"/>
            <a:ext cx="1737360" cy="411480"/>
          </a:xfrm>
          <a:prstGeom prst="rect">
            <a:avLst/>
          </a:prstGeom>
          <a:noFill/>
        </p:spPr>
        <p:txBody>
          <a:bodyPr wrap="square">
            <a:spAutoFit/>
          </a:bodyPr>
          <a:lstStyle/>
          <a:p>
            <a:pPr algn="r">
              <a:defRPr sz="1800" b="1">
                <a:solidFill>
                  <a:srgbClr val="B9C2CE"/>
                </a:solidFill>
                <a:latin typeface="Nohemi"/>
              </a:defRPr>
            </a:pPr>
            <a:r>
              <a:t>2,100K</a:t>
            </a:r>
          </a:p>
        </p:txBody>
      </p:sp>
      <p:sp>
        <p:nvSpPr>
          <p:cNvPr id="21" name="TextBox 20"/>
          <p:cNvSpPr txBox="1"/>
          <p:nvPr/>
        </p:nvSpPr>
        <p:spPr>
          <a:xfrm>
            <a:off x="731520" y="6126480"/>
            <a:ext cx="10698480" cy="365760"/>
          </a:xfrm>
          <a:prstGeom prst="rect">
            <a:avLst/>
          </a:prstGeom>
          <a:noFill/>
        </p:spPr>
        <p:txBody>
          <a:bodyPr wrap="square">
            <a:spAutoFit/>
          </a:bodyPr>
          <a:lstStyle/>
          <a:p>
            <a:pPr algn="ctr">
              <a:defRPr sz="1500" b="0">
                <a:solidFill>
                  <a:srgbClr val="5E6B7A"/>
                </a:solidFill>
                <a:latin typeface="Public Sans"/>
              </a:defRPr>
            </a:pPr>
            <a:r>
              <a:t>40% end-to-end conversion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B9C2CE"/>
                </a:solidFill>
                <a:latin typeface="Nohemi"/>
              </a:defRPr>
            </a:pPr>
            <a:r>
              <a:t>06  GROWTH</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FFFFFF"/>
                </a:solidFill>
                <a:latin typeface="Nohemi"/>
              </a:defRPr>
            </a:pPr>
            <a:r>
              <a:t>Citizen Onboarding Trend</a:t>
            </a:r>
          </a:p>
        </p:txBody>
      </p:sp>
      <p:pic>
        <p:nvPicPr>
          <p:cNvPr id="5" name="Picture 4" descr="mcit-divider.png"/>
          <p:cNvPicPr>
            <a:picLocks noChangeAspect="1"/>
          </p:cNvPicPr>
          <p:nvPr/>
        </p:nvPicPr>
        <p:blipFill>
          <a:blip r:embed="rId2"/>
          <a:stretch>
            <a:fillRect/>
          </a:stretch>
        </p:blipFill>
        <p:spPr>
          <a:xfrm>
            <a:off x="731520" y="1691640"/>
            <a:ext cx="3657600" cy="114300"/>
          </a:xfrm>
          <a:prstGeom prst="rect">
            <a:avLst/>
          </a:prstGeom>
        </p:spPr>
      </p:pic>
      <p:pic>
        <p:nvPicPr>
          <p:cNvPr id="6" name="Picture 5" descr="mcit-footer.png"/>
          <p:cNvPicPr>
            <a:picLocks noChangeAspect="1"/>
          </p:cNvPicPr>
          <p:nvPr/>
        </p:nvPicPr>
        <p:blipFill>
          <a:blip r:embed="rId3"/>
          <a:stretch>
            <a:fillRect/>
          </a:stretch>
        </p:blipFill>
        <p:spPr>
          <a:xfrm>
            <a:off x="0" y="6309360"/>
            <a:ext cx="12191695" cy="548640"/>
          </a:xfrm>
          <a:prstGeom prst="rect">
            <a:avLst/>
          </a:prstGeom>
        </p:spPr>
      </p:pic>
      <p:sp>
        <p:nvSpPr>
          <p:cNvPr id="7" name="TextBox 6"/>
          <p:cNvSpPr txBox="1"/>
          <p:nvPr/>
        </p:nvSpPr>
        <p:spPr>
          <a:xfrm>
            <a:off x="731520" y="6419088"/>
            <a:ext cx="1828800" cy="320040"/>
          </a:xfrm>
          <a:prstGeom prst="rect">
            <a:avLst/>
          </a:prstGeom>
          <a:noFill/>
        </p:spPr>
        <p:txBody>
          <a:bodyPr wrap="square">
            <a:spAutoFit/>
          </a:bodyPr>
          <a:lstStyle/>
          <a:p>
            <a:pPr algn="l">
              <a:defRPr sz="1200" b="0">
                <a:solidFill>
                  <a:srgbClr val="8A9BA8"/>
                </a:solidFill>
                <a:latin typeface="Public Sans"/>
              </a:defRPr>
            </a:pPr>
            <a:r>
              <a:t>06</a:t>
            </a:r>
          </a:p>
        </p:txBody>
      </p:sp>
      <p:sp>
        <p:nvSpPr>
          <p:cNvPr id="8" name="TextBox 7"/>
          <p:cNvSpPr txBox="1"/>
          <p:nvPr/>
        </p:nvSpPr>
        <p:spPr>
          <a:xfrm>
            <a:off x="9601200" y="6419088"/>
            <a:ext cx="1828800" cy="320040"/>
          </a:xfrm>
          <a:prstGeom prst="rect">
            <a:avLst/>
          </a:prstGeom>
          <a:noFill/>
        </p:spPr>
        <p:txBody>
          <a:bodyPr wrap="square">
            <a:spAutoFit/>
          </a:bodyPr>
          <a:lstStyle/>
          <a:p>
            <a:pPr algn="r">
              <a:defRPr sz="1200" b="0">
                <a:solidFill>
                  <a:srgbClr val="8A9BA8"/>
                </a:solidFill>
                <a:latin typeface="Public Sans"/>
              </a:defRPr>
            </a:pPr>
            <a:r>
              <a:t>MCIT 2026</a:t>
            </a:r>
          </a:p>
        </p:txBody>
      </p:sp>
      <p:sp>
        <p:nvSpPr>
          <p:cNvPr id="9" name="Rounded Rectangle 8"/>
          <p:cNvSpPr/>
          <p:nvPr/>
        </p:nvSpPr>
        <p:spPr>
          <a:xfrm>
            <a:off x="731520" y="2286000"/>
            <a:ext cx="10698480" cy="3566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645920" y="5394960"/>
            <a:ext cx="8869680"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5248656"/>
            <a:ext cx="640080" cy="292608"/>
          </a:xfrm>
          <a:prstGeom prst="rect">
            <a:avLst/>
          </a:prstGeom>
          <a:noFill/>
        </p:spPr>
        <p:txBody>
          <a:bodyPr wrap="square">
            <a:spAutoFit/>
          </a:bodyPr>
          <a:lstStyle/>
          <a:p>
            <a:pPr algn="r">
              <a:defRPr sz="1200" b="0">
                <a:solidFill>
                  <a:srgbClr val="5E6B7A"/>
                </a:solidFill>
                <a:latin typeface="Public Sans"/>
              </a:defRPr>
            </a:pPr>
            <a:r>
              <a:t>0</a:t>
            </a:r>
          </a:p>
        </p:txBody>
      </p:sp>
      <p:cxnSp>
        <p:nvCxnSpPr>
          <p:cNvPr id="12" name="Connector 11"/>
          <p:cNvCxnSpPr/>
          <p:nvPr/>
        </p:nvCxnSpPr>
        <p:spPr>
          <a:xfrm>
            <a:off x="1645920" y="4579033"/>
            <a:ext cx="8869680"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14400" y="4432729"/>
            <a:ext cx="640080" cy="292608"/>
          </a:xfrm>
          <a:prstGeom prst="rect">
            <a:avLst/>
          </a:prstGeom>
          <a:noFill/>
        </p:spPr>
        <p:txBody>
          <a:bodyPr wrap="square">
            <a:spAutoFit/>
          </a:bodyPr>
          <a:lstStyle/>
          <a:p>
            <a:pPr algn="r">
              <a:defRPr sz="1200" b="0">
                <a:solidFill>
                  <a:srgbClr val="5E6B7A"/>
                </a:solidFill>
                <a:latin typeface="Public Sans"/>
              </a:defRPr>
            </a:pPr>
            <a:r>
              <a:t>800</a:t>
            </a:r>
          </a:p>
        </p:txBody>
      </p:sp>
      <p:cxnSp>
        <p:nvCxnSpPr>
          <p:cNvPr id="14" name="Connector 13"/>
          <p:cNvCxnSpPr/>
          <p:nvPr/>
        </p:nvCxnSpPr>
        <p:spPr>
          <a:xfrm>
            <a:off x="1645920" y="3763107"/>
            <a:ext cx="8869680"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14400" y="3616803"/>
            <a:ext cx="640080" cy="292608"/>
          </a:xfrm>
          <a:prstGeom prst="rect">
            <a:avLst/>
          </a:prstGeom>
          <a:noFill/>
        </p:spPr>
        <p:txBody>
          <a:bodyPr wrap="square">
            <a:spAutoFit/>
          </a:bodyPr>
          <a:lstStyle/>
          <a:p>
            <a:pPr algn="r">
              <a:defRPr sz="1200" b="0">
                <a:solidFill>
                  <a:srgbClr val="5E6B7A"/>
                </a:solidFill>
                <a:latin typeface="Public Sans"/>
              </a:defRPr>
            </a:pPr>
            <a:r>
              <a:t>1600</a:t>
            </a:r>
          </a:p>
        </p:txBody>
      </p:sp>
      <p:cxnSp>
        <p:nvCxnSpPr>
          <p:cNvPr id="16" name="Connector 15"/>
          <p:cNvCxnSpPr/>
          <p:nvPr/>
        </p:nvCxnSpPr>
        <p:spPr>
          <a:xfrm>
            <a:off x="1645920" y="2947181"/>
            <a:ext cx="8869680"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400" y="2800877"/>
            <a:ext cx="640080" cy="292608"/>
          </a:xfrm>
          <a:prstGeom prst="rect">
            <a:avLst/>
          </a:prstGeom>
          <a:noFill/>
        </p:spPr>
        <p:txBody>
          <a:bodyPr wrap="square">
            <a:spAutoFit/>
          </a:bodyPr>
          <a:lstStyle/>
          <a:p>
            <a:pPr algn="r">
              <a:defRPr sz="1200" b="0">
                <a:solidFill>
                  <a:srgbClr val="5E6B7A"/>
                </a:solidFill>
                <a:latin typeface="Public Sans"/>
              </a:defRPr>
            </a:pPr>
            <a:r>
              <a:t>2400</a:t>
            </a:r>
          </a:p>
        </p:txBody>
      </p:sp>
      <p:sp>
        <p:nvSpPr>
          <p:cNvPr id="18" name="Rectangle 17"/>
          <p:cNvSpPr/>
          <p:nvPr/>
        </p:nvSpPr>
        <p:spPr>
          <a:xfrm>
            <a:off x="1645920" y="4556085"/>
            <a:ext cx="240030" cy="838874"/>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67662" y="4510190"/>
            <a:ext cx="240030" cy="884769"/>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89404" y="4464294"/>
            <a:ext cx="240030" cy="930665"/>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311146" y="4418398"/>
            <a:ext cx="240030" cy="976561"/>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532888" y="4372502"/>
            <a:ext cx="240030" cy="1022457"/>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54630" y="4326606"/>
            <a:ext cx="240030" cy="1068353"/>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976372" y="4280710"/>
            <a:ext cx="240030" cy="1114249"/>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198113" y="4234815"/>
            <a:ext cx="240030" cy="1160145"/>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19856" y="4188919"/>
            <a:ext cx="240030" cy="1206040"/>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41598" y="4143023"/>
            <a:ext cx="240030" cy="1251936"/>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63339" y="4097127"/>
            <a:ext cx="240030" cy="1297832"/>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085082" y="4051231"/>
            <a:ext cx="240030" cy="1343728"/>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6824" y="4005335"/>
            <a:ext cx="240030" cy="1389624"/>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28566" y="3960714"/>
            <a:ext cx="240030" cy="1434245"/>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50307" y="3922468"/>
            <a:ext cx="240030" cy="1472491"/>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972050" y="3884221"/>
            <a:ext cx="240030" cy="1510738"/>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193792" y="3845975"/>
            <a:ext cx="240030" cy="1548984"/>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15533" y="3807728"/>
            <a:ext cx="240030" cy="1587231"/>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37276" y="3769482"/>
            <a:ext cx="240030" cy="1625477"/>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859017" y="3731235"/>
            <a:ext cx="240030" cy="1663724"/>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80759" y="3692989"/>
            <a:ext cx="240030" cy="1701970"/>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302502" y="3654742"/>
            <a:ext cx="240030" cy="1740217"/>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24244" y="3616495"/>
            <a:ext cx="240030" cy="1778464"/>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745985" y="3578249"/>
            <a:ext cx="240030" cy="1816710"/>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967727" y="3540002"/>
            <a:ext cx="240030" cy="1854957"/>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89470" y="3501756"/>
            <a:ext cx="240030" cy="1893203"/>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411212" y="3463509"/>
            <a:ext cx="240030" cy="1931450"/>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632954" y="3425263"/>
            <a:ext cx="240030" cy="1969696"/>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854696" y="3387016"/>
            <a:ext cx="240030" cy="2007943"/>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076438" y="3348770"/>
            <a:ext cx="240030" cy="2046189"/>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298179" y="3310523"/>
            <a:ext cx="240030" cy="2084436"/>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519922" y="3272277"/>
            <a:ext cx="240030" cy="2122682"/>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741664" y="3234030"/>
            <a:ext cx="240030" cy="2160929"/>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963406" y="3195784"/>
            <a:ext cx="240030" cy="2199175"/>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185148" y="3157537"/>
            <a:ext cx="240030" cy="2237422"/>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406890" y="3119290"/>
            <a:ext cx="240030" cy="2275669"/>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628632" y="3081044"/>
            <a:ext cx="240030" cy="2313915"/>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850374" y="3042797"/>
            <a:ext cx="240030" cy="2352162"/>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072115" y="3004551"/>
            <a:ext cx="240030" cy="2390408"/>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293858" y="2966304"/>
            <a:ext cx="240030" cy="2428655"/>
          </a:xfrm>
          <a:prstGeom prst="rect">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flipV="1">
            <a:off x="1645920" y="3967089"/>
            <a:ext cx="2956560" cy="611944"/>
          </a:xfrm>
          <a:prstGeom prst="line">
            <a:avLst/>
          </a:prstGeom>
          <a:ln w="44450">
            <a:solidFill>
              <a:srgbClr val="0A1A2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602480" y="3457135"/>
            <a:ext cx="2956559" cy="509954"/>
          </a:xfrm>
          <a:prstGeom prst="line">
            <a:avLst/>
          </a:prstGeom>
          <a:ln w="44450">
            <a:solidFill>
              <a:srgbClr val="0A1A2F"/>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7559039" y="2947181"/>
            <a:ext cx="2956561" cy="509954"/>
          </a:xfrm>
          <a:prstGeom prst="line">
            <a:avLst/>
          </a:prstGeom>
          <a:ln w="44450">
            <a:solidFill>
              <a:srgbClr val="0A1A2F"/>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1563624" y="4496737"/>
            <a:ext cx="164592" cy="164592"/>
          </a:xfrm>
          <a:prstGeom prst="ellipse">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188720" y="4103545"/>
            <a:ext cx="914400" cy="347472"/>
          </a:xfrm>
          <a:prstGeom prst="rect">
            <a:avLst/>
          </a:prstGeom>
          <a:noFill/>
        </p:spPr>
        <p:txBody>
          <a:bodyPr wrap="square">
            <a:spAutoFit/>
          </a:bodyPr>
          <a:lstStyle/>
          <a:p>
            <a:pPr algn="ctr">
              <a:defRPr sz="1400" b="1">
                <a:solidFill>
                  <a:srgbClr val="0A1A2F"/>
                </a:solidFill>
                <a:latin typeface="Nohemi"/>
              </a:defRPr>
            </a:pPr>
            <a:r>
              <a:t>800</a:t>
            </a:r>
          </a:p>
        </p:txBody>
      </p:sp>
      <p:sp>
        <p:nvSpPr>
          <p:cNvPr id="63" name="TextBox 62"/>
          <p:cNvSpPr txBox="1"/>
          <p:nvPr/>
        </p:nvSpPr>
        <p:spPr>
          <a:xfrm>
            <a:off x="1188720" y="5449824"/>
            <a:ext cx="914400" cy="329184"/>
          </a:xfrm>
          <a:prstGeom prst="rect">
            <a:avLst/>
          </a:prstGeom>
          <a:noFill/>
        </p:spPr>
        <p:txBody>
          <a:bodyPr wrap="square">
            <a:spAutoFit/>
          </a:bodyPr>
          <a:lstStyle/>
          <a:p>
            <a:pPr algn="ctr">
              <a:defRPr sz="1400" b="0">
                <a:solidFill>
                  <a:srgbClr val="5E6B7A"/>
                </a:solidFill>
                <a:latin typeface="Public Sans"/>
              </a:defRPr>
            </a:pPr>
            <a:r>
              <a:t>Q1</a:t>
            </a:r>
          </a:p>
        </p:txBody>
      </p:sp>
      <p:sp>
        <p:nvSpPr>
          <p:cNvPr id="64" name="Oval 63"/>
          <p:cNvSpPr/>
          <p:nvPr/>
        </p:nvSpPr>
        <p:spPr>
          <a:xfrm>
            <a:off x="4520184" y="3884793"/>
            <a:ext cx="164592" cy="164592"/>
          </a:xfrm>
          <a:prstGeom prst="ellipse">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145280" y="3491601"/>
            <a:ext cx="914400" cy="347472"/>
          </a:xfrm>
          <a:prstGeom prst="rect">
            <a:avLst/>
          </a:prstGeom>
          <a:noFill/>
        </p:spPr>
        <p:txBody>
          <a:bodyPr wrap="square">
            <a:spAutoFit/>
          </a:bodyPr>
          <a:lstStyle/>
          <a:p>
            <a:pPr algn="ctr">
              <a:defRPr sz="1400" b="1">
                <a:solidFill>
                  <a:srgbClr val="0A1A2F"/>
                </a:solidFill>
                <a:latin typeface="Nohemi"/>
              </a:defRPr>
            </a:pPr>
            <a:r>
              <a:t>1400</a:t>
            </a:r>
          </a:p>
        </p:txBody>
      </p:sp>
      <p:sp>
        <p:nvSpPr>
          <p:cNvPr id="66" name="TextBox 65"/>
          <p:cNvSpPr txBox="1"/>
          <p:nvPr/>
        </p:nvSpPr>
        <p:spPr>
          <a:xfrm>
            <a:off x="4145280" y="5449824"/>
            <a:ext cx="914400" cy="329184"/>
          </a:xfrm>
          <a:prstGeom prst="rect">
            <a:avLst/>
          </a:prstGeom>
          <a:noFill/>
        </p:spPr>
        <p:txBody>
          <a:bodyPr wrap="square">
            <a:spAutoFit/>
          </a:bodyPr>
          <a:lstStyle/>
          <a:p>
            <a:pPr algn="ctr">
              <a:defRPr sz="1400" b="0">
                <a:solidFill>
                  <a:srgbClr val="5E6B7A"/>
                </a:solidFill>
                <a:latin typeface="Public Sans"/>
              </a:defRPr>
            </a:pPr>
            <a:r>
              <a:t>Q2</a:t>
            </a:r>
          </a:p>
        </p:txBody>
      </p:sp>
      <p:sp>
        <p:nvSpPr>
          <p:cNvPr id="67" name="Oval 66"/>
          <p:cNvSpPr/>
          <p:nvPr/>
        </p:nvSpPr>
        <p:spPr>
          <a:xfrm>
            <a:off x="7476743" y="3374839"/>
            <a:ext cx="164592" cy="164592"/>
          </a:xfrm>
          <a:prstGeom prst="ellipse">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101839" y="2981647"/>
            <a:ext cx="914400" cy="347472"/>
          </a:xfrm>
          <a:prstGeom prst="rect">
            <a:avLst/>
          </a:prstGeom>
          <a:noFill/>
        </p:spPr>
        <p:txBody>
          <a:bodyPr wrap="square">
            <a:spAutoFit/>
          </a:bodyPr>
          <a:lstStyle/>
          <a:p>
            <a:pPr algn="ctr">
              <a:defRPr sz="1400" b="1">
                <a:solidFill>
                  <a:srgbClr val="0A1A2F"/>
                </a:solidFill>
                <a:latin typeface="Nohemi"/>
              </a:defRPr>
            </a:pPr>
            <a:r>
              <a:t>1900</a:t>
            </a:r>
          </a:p>
        </p:txBody>
      </p:sp>
      <p:sp>
        <p:nvSpPr>
          <p:cNvPr id="69" name="TextBox 68"/>
          <p:cNvSpPr txBox="1"/>
          <p:nvPr/>
        </p:nvSpPr>
        <p:spPr>
          <a:xfrm>
            <a:off x="7101839" y="5449824"/>
            <a:ext cx="914400" cy="329184"/>
          </a:xfrm>
          <a:prstGeom prst="rect">
            <a:avLst/>
          </a:prstGeom>
          <a:noFill/>
        </p:spPr>
        <p:txBody>
          <a:bodyPr wrap="square">
            <a:spAutoFit/>
          </a:bodyPr>
          <a:lstStyle/>
          <a:p>
            <a:pPr algn="ctr">
              <a:defRPr sz="1400" b="0">
                <a:solidFill>
                  <a:srgbClr val="5E6B7A"/>
                </a:solidFill>
                <a:latin typeface="Public Sans"/>
              </a:defRPr>
            </a:pPr>
            <a:r>
              <a:t>Q3</a:t>
            </a:r>
          </a:p>
        </p:txBody>
      </p:sp>
      <p:sp>
        <p:nvSpPr>
          <p:cNvPr id="70" name="Oval 69"/>
          <p:cNvSpPr/>
          <p:nvPr/>
        </p:nvSpPr>
        <p:spPr>
          <a:xfrm>
            <a:off x="10433304" y="2864885"/>
            <a:ext cx="164592" cy="164592"/>
          </a:xfrm>
          <a:prstGeom prst="ellipse">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058400" y="2471693"/>
            <a:ext cx="914400" cy="347472"/>
          </a:xfrm>
          <a:prstGeom prst="rect">
            <a:avLst/>
          </a:prstGeom>
          <a:noFill/>
        </p:spPr>
        <p:txBody>
          <a:bodyPr wrap="square">
            <a:spAutoFit/>
          </a:bodyPr>
          <a:lstStyle/>
          <a:p>
            <a:pPr algn="ctr">
              <a:defRPr sz="1400" b="1">
                <a:solidFill>
                  <a:srgbClr val="0A1A2F"/>
                </a:solidFill>
                <a:latin typeface="Nohemi"/>
              </a:defRPr>
            </a:pPr>
            <a:r>
              <a:t>2400</a:t>
            </a:r>
          </a:p>
        </p:txBody>
      </p:sp>
      <p:sp>
        <p:nvSpPr>
          <p:cNvPr id="72" name="TextBox 71"/>
          <p:cNvSpPr txBox="1"/>
          <p:nvPr/>
        </p:nvSpPr>
        <p:spPr>
          <a:xfrm>
            <a:off x="10058400" y="5449824"/>
            <a:ext cx="914400" cy="329184"/>
          </a:xfrm>
          <a:prstGeom prst="rect">
            <a:avLst/>
          </a:prstGeom>
          <a:noFill/>
        </p:spPr>
        <p:txBody>
          <a:bodyPr wrap="square">
            <a:spAutoFit/>
          </a:bodyPr>
          <a:lstStyle/>
          <a:p>
            <a:pPr algn="ctr">
              <a:defRPr sz="1400" b="0">
                <a:solidFill>
                  <a:srgbClr val="5E6B7A"/>
                </a:solidFill>
                <a:latin typeface="Public Sans"/>
              </a:defRPr>
            </a:pPr>
            <a:r>
              <a:t>Q4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5E6B7A"/>
                </a:solidFill>
                <a:latin typeface="Nohemi"/>
              </a:defRPr>
            </a:pPr>
            <a:r>
              <a:t>07  REGIONS</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0A1A2F"/>
                </a:solidFill>
                <a:latin typeface="Nohemi"/>
              </a:defRPr>
            </a:pPr>
            <a:r>
              <a:t>Adoption Across Egypt</a:t>
            </a:r>
          </a:p>
        </p:txBody>
      </p:sp>
      <p:sp>
        <p:nvSpPr>
          <p:cNvPr id="5" name="TextBox 4"/>
          <p:cNvSpPr txBox="1"/>
          <p:nvPr/>
        </p:nvSpPr>
        <p:spPr>
          <a:xfrm>
            <a:off x="731520" y="2331720"/>
            <a:ext cx="1828800" cy="457200"/>
          </a:xfrm>
          <a:prstGeom prst="rect">
            <a:avLst/>
          </a:prstGeom>
          <a:noFill/>
        </p:spPr>
        <p:txBody>
          <a:bodyPr wrap="square">
            <a:spAutoFit/>
          </a:bodyPr>
          <a:lstStyle/>
          <a:p>
            <a:pPr algn="l">
              <a:defRPr sz="1800" b="1">
                <a:solidFill>
                  <a:srgbClr val="0A1A2F"/>
                </a:solidFill>
                <a:latin typeface="Nohemi"/>
              </a:defRPr>
            </a:pPr>
            <a:r>
              <a:t>Cairo</a:t>
            </a:r>
          </a:p>
        </p:txBody>
      </p:sp>
      <p:sp>
        <p:nvSpPr>
          <p:cNvPr id="6" name="Rounded Rectangle 5"/>
          <p:cNvSpPr/>
          <p:nvPr/>
        </p:nvSpPr>
        <p:spPr>
          <a:xfrm>
            <a:off x="2743200" y="2404872"/>
            <a:ext cx="4754880" cy="329184"/>
          </a:xfrm>
          <a:prstGeom prst="round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79" y="2350008"/>
            <a:ext cx="1097280" cy="457200"/>
          </a:xfrm>
          <a:prstGeom prst="rect">
            <a:avLst/>
          </a:prstGeom>
          <a:noFill/>
        </p:spPr>
        <p:txBody>
          <a:bodyPr wrap="square">
            <a:spAutoFit/>
          </a:bodyPr>
          <a:lstStyle/>
          <a:p>
            <a:pPr algn="l">
              <a:defRPr sz="1700" b="1">
                <a:solidFill>
                  <a:srgbClr val="0A1A2F"/>
                </a:solidFill>
                <a:latin typeface="Nohemi"/>
              </a:defRPr>
            </a:pPr>
            <a:r>
              <a:t>890K</a:t>
            </a:r>
          </a:p>
        </p:txBody>
      </p:sp>
      <p:sp>
        <p:nvSpPr>
          <p:cNvPr id="8" name="TextBox 7"/>
          <p:cNvSpPr txBox="1"/>
          <p:nvPr/>
        </p:nvSpPr>
        <p:spPr>
          <a:xfrm>
            <a:off x="8961120" y="2368296"/>
            <a:ext cx="2468880" cy="457200"/>
          </a:xfrm>
          <a:prstGeom prst="rect">
            <a:avLst/>
          </a:prstGeom>
          <a:noFill/>
        </p:spPr>
        <p:txBody>
          <a:bodyPr wrap="square">
            <a:spAutoFit/>
          </a:bodyPr>
          <a:lstStyle/>
          <a:p>
            <a:pPr algn="l">
              <a:defRPr sz="1400" b="0">
                <a:solidFill>
                  <a:srgbClr val="5E6B7A"/>
                </a:solidFill>
                <a:latin typeface="Public Sans"/>
              </a:defRPr>
            </a:pPr>
            <a:r>
              <a:t>Capital leads</a:t>
            </a:r>
          </a:p>
        </p:txBody>
      </p:sp>
      <p:sp>
        <p:nvSpPr>
          <p:cNvPr id="9" name="TextBox 8"/>
          <p:cNvSpPr txBox="1"/>
          <p:nvPr/>
        </p:nvSpPr>
        <p:spPr>
          <a:xfrm>
            <a:off x="731520" y="3136391"/>
            <a:ext cx="1828800" cy="457200"/>
          </a:xfrm>
          <a:prstGeom prst="rect">
            <a:avLst/>
          </a:prstGeom>
          <a:noFill/>
        </p:spPr>
        <p:txBody>
          <a:bodyPr wrap="square">
            <a:spAutoFit/>
          </a:bodyPr>
          <a:lstStyle/>
          <a:p>
            <a:pPr algn="l">
              <a:defRPr sz="1800" b="1">
                <a:solidFill>
                  <a:srgbClr val="0A1A2F"/>
                </a:solidFill>
                <a:latin typeface="Nohemi"/>
              </a:defRPr>
            </a:pPr>
            <a:r>
              <a:t>Delta</a:t>
            </a:r>
          </a:p>
        </p:txBody>
      </p:sp>
      <p:sp>
        <p:nvSpPr>
          <p:cNvPr id="10" name="Rounded Rectangle 9"/>
          <p:cNvSpPr/>
          <p:nvPr/>
        </p:nvSpPr>
        <p:spPr>
          <a:xfrm>
            <a:off x="2743200" y="3209544"/>
            <a:ext cx="2724706" cy="329184"/>
          </a:xfrm>
          <a:prstGeom prst="round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96506" y="3154679"/>
            <a:ext cx="1097280" cy="457200"/>
          </a:xfrm>
          <a:prstGeom prst="rect">
            <a:avLst/>
          </a:prstGeom>
          <a:noFill/>
        </p:spPr>
        <p:txBody>
          <a:bodyPr wrap="square">
            <a:spAutoFit/>
          </a:bodyPr>
          <a:lstStyle/>
          <a:p>
            <a:pPr algn="l">
              <a:defRPr sz="1700" b="1">
                <a:solidFill>
                  <a:srgbClr val="0A1A2F"/>
                </a:solidFill>
                <a:latin typeface="Nohemi"/>
              </a:defRPr>
            </a:pPr>
            <a:r>
              <a:t>510K</a:t>
            </a:r>
          </a:p>
        </p:txBody>
      </p:sp>
      <p:sp>
        <p:nvSpPr>
          <p:cNvPr id="12" name="TextBox 11"/>
          <p:cNvSpPr txBox="1"/>
          <p:nvPr/>
        </p:nvSpPr>
        <p:spPr>
          <a:xfrm>
            <a:off x="8961120" y="3172968"/>
            <a:ext cx="2468880" cy="457200"/>
          </a:xfrm>
          <a:prstGeom prst="rect">
            <a:avLst/>
          </a:prstGeom>
          <a:noFill/>
        </p:spPr>
        <p:txBody>
          <a:bodyPr wrap="square">
            <a:spAutoFit/>
          </a:bodyPr>
          <a:lstStyle/>
          <a:p>
            <a:pPr algn="l">
              <a:defRPr sz="1400" b="0">
                <a:solidFill>
                  <a:srgbClr val="5E6B7A"/>
                </a:solidFill>
                <a:latin typeface="Public Sans"/>
              </a:defRPr>
            </a:pPr>
            <a:r>
              <a:t>Fastest growth 52%</a:t>
            </a:r>
          </a:p>
        </p:txBody>
      </p:sp>
      <p:sp>
        <p:nvSpPr>
          <p:cNvPr id="13" name="TextBox 12"/>
          <p:cNvSpPr txBox="1"/>
          <p:nvPr/>
        </p:nvSpPr>
        <p:spPr>
          <a:xfrm>
            <a:off x="731520" y="3941063"/>
            <a:ext cx="1828800" cy="457200"/>
          </a:xfrm>
          <a:prstGeom prst="rect">
            <a:avLst/>
          </a:prstGeom>
          <a:noFill/>
        </p:spPr>
        <p:txBody>
          <a:bodyPr wrap="square">
            <a:spAutoFit/>
          </a:bodyPr>
          <a:lstStyle/>
          <a:p>
            <a:pPr algn="l">
              <a:defRPr sz="1800" b="1">
                <a:solidFill>
                  <a:srgbClr val="0A1A2F"/>
                </a:solidFill>
                <a:latin typeface="Nohemi"/>
              </a:defRPr>
            </a:pPr>
            <a:r>
              <a:t>Alexandria</a:t>
            </a:r>
          </a:p>
        </p:txBody>
      </p:sp>
      <p:sp>
        <p:nvSpPr>
          <p:cNvPr id="14" name="Rounded Rectangle 13"/>
          <p:cNvSpPr/>
          <p:nvPr/>
        </p:nvSpPr>
        <p:spPr>
          <a:xfrm>
            <a:off x="2743200" y="4014215"/>
            <a:ext cx="2243875" cy="329184"/>
          </a:xfrm>
          <a:prstGeom prst="round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5675" y="3959351"/>
            <a:ext cx="1097280" cy="457200"/>
          </a:xfrm>
          <a:prstGeom prst="rect">
            <a:avLst/>
          </a:prstGeom>
          <a:noFill/>
        </p:spPr>
        <p:txBody>
          <a:bodyPr wrap="square">
            <a:spAutoFit/>
          </a:bodyPr>
          <a:lstStyle/>
          <a:p>
            <a:pPr algn="l">
              <a:defRPr sz="1700" b="1">
                <a:solidFill>
                  <a:srgbClr val="0A1A2F"/>
                </a:solidFill>
                <a:latin typeface="Nohemi"/>
              </a:defRPr>
            </a:pPr>
            <a:r>
              <a:t>420K</a:t>
            </a:r>
          </a:p>
        </p:txBody>
      </p:sp>
      <p:sp>
        <p:nvSpPr>
          <p:cNvPr id="16" name="TextBox 15"/>
          <p:cNvSpPr txBox="1"/>
          <p:nvPr/>
        </p:nvSpPr>
        <p:spPr>
          <a:xfrm>
            <a:off x="8961120" y="3977639"/>
            <a:ext cx="2468880" cy="457200"/>
          </a:xfrm>
          <a:prstGeom prst="rect">
            <a:avLst/>
          </a:prstGeom>
          <a:noFill/>
        </p:spPr>
        <p:txBody>
          <a:bodyPr wrap="square">
            <a:spAutoFit/>
          </a:bodyPr>
          <a:lstStyle/>
          <a:p>
            <a:pPr algn="l">
              <a:defRPr sz="1400" b="0">
                <a:solidFill>
                  <a:srgbClr val="5E6B7A"/>
                </a:solidFill>
                <a:latin typeface="Public Sans"/>
              </a:defRPr>
            </a:pPr>
            <a:r>
              <a:t>Business leader</a:t>
            </a:r>
          </a:p>
        </p:txBody>
      </p:sp>
      <p:sp>
        <p:nvSpPr>
          <p:cNvPr id="17" name="TextBox 16"/>
          <p:cNvSpPr txBox="1"/>
          <p:nvPr/>
        </p:nvSpPr>
        <p:spPr>
          <a:xfrm>
            <a:off x="731520" y="4745736"/>
            <a:ext cx="1828800" cy="457200"/>
          </a:xfrm>
          <a:prstGeom prst="rect">
            <a:avLst/>
          </a:prstGeom>
          <a:noFill/>
        </p:spPr>
        <p:txBody>
          <a:bodyPr wrap="square">
            <a:spAutoFit/>
          </a:bodyPr>
          <a:lstStyle/>
          <a:p>
            <a:pPr algn="l">
              <a:defRPr sz="1800" b="1">
                <a:solidFill>
                  <a:srgbClr val="0A1A2F"/>
                </a:solidFill>
                <a:latin typeface="Nohemi"/>
              </a:defRPr>
            </a:pPr>
            <a:r>
              <a:t>Giza</a:t>
            </a:r>
          </a:p>
        </p:txBody>
      </p:sp>
      <p:sp>
        <p:nvSpPr>
          <p:cNvPr id="18" name="Rounded Rectangle 17"/>
          <p:cNvSpPr/>
          <p:nvPr/>
        </p:nvSpPr>
        <p:spPr>
          <a:xfrm>
            <a:off x="2743200" y="4818888"/>
            <a:ext cx="2030173" cy="329184"/>
          </a:xfrm>
          <a:prstGeom prst="round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1973" y="4764023"/>
            <a:ext cx="1097280" cy="457200"/>
          </a:xfrm>
          <a:prstGeom prst="rect">
            <a:avLst/>
          </a:prstGeom>
          <a:noFill/>
        </p:spPr>
        <p:txBody>
          <a:bodyPr wrap="square">
            <a:spAutoFit/>
          </a:bodyPr>
          <a:lstStyle/>
          <a:p>
            <a:pPr algn="l">
              <a:defRPr sz="1700" b="1">
                <a:solidFill>
                  <a:srgbClr val="0A1A2F"/>
                </a:solidFill>
                <a:latin typeface="Nohemi"/>
              </a:defRPr>
            </a:pPr>
            <a:r>
              <a:t>380K</a:t>
            </a:r>
          </a:p>
        </p:txBody>
      </p:sp>
      <p:sp>
        <p:nvSpPr>
          <p:cNvPr id="20" name="TextBox 19"/>
          <p:cNvSpPr txBox="1"/>
          <p:nvPr/>
        </p:nvSpPr>
        <p:spPr>
          <a:xfrm>
            <a:off x="8961120" y="4782312"/>
            <a:ext cx="2468880" cy="457200"/>
          </a:xfrm>
          <a:prstGeom prst="rect">
            <a:avLst/>
          </a:prstGeom>
          <a:noFill/>
        </p:spPr>
        <p:txBody>
          <a:bodyPr wrap="square">
            <a:spAutoFit/>
          </a:bodyPr>
          <a:lstStyle/>
          <a:p>
            <a:pPr algn="l">
              <a:defRPr sz="1400" b="0">
                <a:solidFill>
                  <a:srgbClr val="5E6B7A"/>
                </a:solidFill>
                <a:latin typeface="Public Sans"/>
              </a:defRPr>
            </a:pPr>
            <a:r>
              <a:t>Urban corridor</a:t>
            </a:r>
          </a:p>
        </p:txBody>
      </p:sp>
      <p:sp>
        <p:nvSpPr>
          <p:cNvPr id="21" name="TextBox 20"/>
          <p:cNvSpPr txBox="1"/>
          <p:nvPr/>
        </p:nvSpPr>
        <p:spPr>
          <a:xfrm>
            <a:off x="731520" y="5550408"/>
            <a:ext cx="1828800" cy="457200"/>
          </a:xfrm>
          <a:prstGeom prst="rect">
            <a:avLst/>
          </a:prstGeom>
          <a:noFill/>
        </p:spPr>
        <p:txBody>
          <a:bodyPr wrap="square">
            <a:spAutoFit/>
          </a:bodyPr>
          <a:lstStyle/>
          <a:p>
            <a:pPr algn="l">
              <a:defRPr sz="1800" b="1">
                <a:solidFill>
                  <a:srgbClr val="0A1A2F"/>
                </a:solidFill>
                <a:latin typeface="Nohemi"/>
              </a:defRPr>
            </a:pPr>
            <a:r>
              <a:t>Upper Egypt</a:t>
            </a:r>
          </a:p>
        </p:txBody>
      </p:sp>
      <p:sp>
        <p:nvSpPr>
          <p:cNvPr id="22" name="Rounded Rectangle 21"/>
          <p:cNvSpPr/>
          <p:nvPr/>
        </p:nvSpPr>
        <p:spPr>
          <a:xfrm>
            <a:off x="2743200" y="5623560"/>
            <a:ext cx="1549342" cy="329184"/>
          </a:xfrm>
          <a:prstGeom prst="round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21142" y="5568696"/>
            <a:ext cx="1097280" cy="457200"/>
          </a:xfrm>
          <a:prstGeom prst="rect">
            <a:avLst/>
          </a:prstGeom>
          <a:noFill/>
        </p:spPr>
        <p:txBody>
          <a:bodyPr wrap="square">
            <a:spAutoFit/>
          </a:bodyPr>
          <a:lstStyle/>
          <a:p>
            <a:pPr algn="l">
              <a:defRPr sz="1700" b="1">
                <a:solidFill>
                  <a:srgbClr val="0A1A2F"/>
                </a:solidFill>
                <a:latin typeface="Nohemi"/>
              </a:defRPr>
            </a:pPr>
            <a:r>
              <a:t>290K</a:t>
            </a:r>
          </a:p>
        </p:txBody>
      </p:sp>
      <p:sp>
        <p:nvSpPr>
          <p:cNvPr id="24" name="TextBox 23"/>
          <p:cNvSpPr txBox="1"/>
          <p:nvPr/>
        </p:nvSpPr>
        <p:spPr>
          <a:xfrm>
            <a:off x="8961120" y="5586984"/>
            <a:ext cx="2468880" cy="457200"/>
          </a:xfrm>
          <a:prstGeom prst="rect">
            <a:avLst/>
          </a:prstGeom>
          <a:noFill/>
        </p:spPr>
        <p:txBody>
          <a:bodyPr wrap="square">
            <a:spAutoFit/>
          </a:bodyPr>
          <a:lstStyle/>
          <a:p>
            <a:pPr algn="l">
              <a:defRPr sz="1400" b="0">
                <a:solidFill>
                  <a:srgbClr val="5E6B7A"/>
                </a:solidFill>
                <a:latin typeface="Public Sans"/>
              </a:defRPr>
            </a:pPr>
            <a:r>
              <a:t>Key opportunity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B9C2CE"/>
                </a:solidFill>
                <a:latin typeface="Nohemi"/>
              </a:defRPr>
            </a:pPr>
            <a:r>
              <a:t>08  SATISFACTION</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FFFFFF"/>
                </a:solidFill>
                <a:latin typeface="Nohemi"/>
              </a:defRPr>
            </a:pPr>
            <a:r>
              <a:t>Citizen Satisfaction by Quarter</a:t>
            </a:r>
          </a:p>
        </p:txBody>
      </p:sp>
      <p:pic>
        <p:nvPicPr>
          <p:cNvPr id="5" name="Picture 4" descr="mcit-divider.png"/>
          <p:cNvPicPr>
            <a:picLocks noChangeAspect="1"/>
          </p:cNvPicPr>
          <p:nvPr/>
        </p:nvPicPr>
        <p:blipFill>
          <a:blip r:embed="rId2"/>
          <a:stretch>
            <a:fillRect/>
          </a:stretch>
        </p:blipFill>
        <p:spPr>
          <a:xfrm>
            <a:off x="731520" y="1691640"/>
            <a:ext cx="3657600" cy="114300"/>
          </a:xfrm>
          <a:prstGeom prst="rect">
            <a:avLst/>
          </a:prstGeom>
        </p:spPr>
      </p:pic>
      <p:pic>
        <p:nvPicPr>
          <p:cNvPr id="6" name="Picture 5" descr="mcit-footer.png"/>
          <p:cNvPicPr>
            <a:picLocks noChangeAspect="1"/>
          </p:cNvPicPr>
          <p:nvPr/>
        </p:nvPicPr>
        <p:blipFill>
          <a:blip r:embed="rId3"/>
          <a:stretch>
            <a:fillRect/>
          </a:stretch>
        </p:blipFill>
        <p:spPr>
          <a:xfrm>
            <a:off x="0" y="6309360"/>
            <a:ext cx="12191695" cy="548640"/>
          </a:xfrm>
          <a:prstGeom prst="rect">
            <a:avLst/>
          </a:prstGeom>
        </p:spPr>
      </p:pic>
      <p:sp>
        <p:nvSpPr>
          <p:cNvPr id="7" name="TextBox 6"/>
          <p:cNvSpPr txBox="1"/>
          <p:nvPr/>
        </p:nvSpPr>
        <p:spPr>
          <a:xfrm>
            <a:off x="731520" y="6419088"/>
            <a:ext cx="1828800" cy="320040"/>
          </a:xfrm>
          <a:prstGeom prst="rect">
            <a:avLst/>
          </a:prstGeom>
          <a:noFill/>
        </p:spPr>
        <p:txBody>
          <a:bodyPr wrap="square">
            <a:spAutoFit/>
          </a:bodyPr>
          <a:lstStyle/>
          <a:p>
            <a:pPr algn="l">
              <a:defRPr sz="1200" b="0">
                <a:solidFill>
                  <a:srgbClr val="8A9BA8"/>
                </a:solidFill>
                <a:latin typeface="Public Sans"/>
              </a:defRPr>
            </a:pPr>
            <a:r>
              <a:t>08</a:t>
            </a:r>
          </a:p>
        </p:txBody>
      </p:sp>
      <p:sp>
        <p:nvSpPr>
          <p:cNvPr id="8" name="TextBox 7"/>
          <p:cNvSpPr txBox="1"/>
          <p:nvPr/>
        </p:nvSpPr>
        <p:spPr>
          <a:xfrm>
            <a:off x="9601200" y="6419088"/>
            <a:ext cx="1828800" cy="320040"/>
          </a:xfrm>
          <a:prstGeom prst="rect">
            <a:avLst/>
          </a:prstGeom>
          <a:noFill/>
        </p:spPr>
        <p:txBody>
          <a:bodyPr wrap="square">
            <a:spAutoFit/>
          </a:bodyPr>
          <a:lstStyle/>
          <a:p>
            <a:pPr algn="r">
              <a:defRPr sz="1200" b="0">
                <a:solidFill>
                  <a:srgbClr val="8A9BA8"/>
                </a:solidFill>
                <a:latin typeface="Public Sans"/>
              </a:defRPr>
            </a:pPr>
            <a:r>
              <a:t>MCIT 2026</a:t>
            </a:r>
          </a:p>
        </p:txBody>
      </p:sp>
      <p:sp>
        <p:nvSpPr>
          <p:cNvPr id="9" name="Rounded Rectangle 8"/>
          <p:cNvSpPr/>
          <p:nvPr/>
        </p:nvSpPr>
        <p:spPr>
          <a:xfrm>
            <a:off x="731520" y="2377440"/>
            <a:ext cx="2560320" cy="3200400"/>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606040"/>
            <a:ext cx="2194560" cy="457200"/>
          </a:xfrm>
          <a:prstGeom prst="rect">
            <a:avLst/>
          </a:prstGeom>
          <a:noFill/>
        </p:spPr>
        <p:txBody>
          <a:bodyPr wrap="square">
            <a:spAutoFit/>
          </a:bodyPr>
          <a:lstStyle/>
          <a:p>
            <a:pPr algn="ctr">
              <a:defRPr sz="1700" b="1">
                <a:solidFill>
                  <a:srgbClr val="8A9BA8"/>
                </a:solidFill>
                <a:latin typeface="Nohemi"/>
              </a:defRPr>
            </a:pPr>
            <a:r>
              <a:t>Q1</a:t>
            </a:r>
          </a:p>
        </p:txBody>
      </p:sp>
      <p:sp>
        <p:nvSpPr>
          <p:cNvPr id="11" name="TextBox 10"/>
          <p:cNvSpPr txBox="1"/>
          <p:nvPr/>
        </p:nvSpPr>
        <p:spPr>
          <a:xfrm>
            <a:off x="914400" y="2971800"/>
            <a:ext cx="2194560" cy="731520"/>
          </a:xfrm>
          <a:prstGeom prst="rect">
            <a:avLst/>
          </a:prstGeom>
          <a:noFill/>
        </p:spPr>
        <p:txBody>
          <a:bodyPr wrap="square">
            <a:spAutoFit/>
          </a:bodyPr>
          <a:lstStyle/>
          <a:p>
            <a:pPr algn="ctr">
              <a:defRPr sz="4200" b="1">
                <a:solidFill>
                  <a:srgbClr val="FFFFFF"/>
                </a:solidFill>
                <a:latin typeface="Nohemi"/>
              </a:defRPr>
            </a:pPr>
            <a:r>
              <a:t>72%</a:t>
            </a:r>
          </a:p>
        </p:txBody>
      </p:sp>
      <p:sp>
        <p:nvSpPr>
          <p:cNvPr id="12" name="Rounded Rectangle 11"/>
          <p:cNvSpPr/>
          <p:nvPr/>
        </p:nvSpPr>
        <p:spPr>
          <a:xfrm>
            <a:off x="1097280" y="4114800"/>
            <a:ext cx="1828800" cy="237744"/>
          </a:xfrm>
          <a:prstGeom prst="round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97280" y="4114800"/>
            <a:ext cx="1316736" cy="237744"/>
          </a:xfrm>
          <a:prstGeom prst="round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34440"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581912"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929384"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276856"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624328" y="4663440"/>
            <a:ext cx="201168" cy="201168"/>
          </a:xfrm>
          <a:prstGeom prst="ellipse">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520439" y="2377440"/>
            <a:ext cx="2560320" cy="3200400"/>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03320" y="2606040"/>
            <a:ext cx="2194560" cy="457200"/>
          </a:xfrm>
          <a:prstGeom prst="rect">
            <a:avLst/>
          </a:prstGeom>
          <a:noFill/>
        </p:spPr>
        <p:txBody>
          <a:bodyPr wrap="square">
            <a:spAutoFit/>
          </a:bodyPr>
          <a:lstStyle/>
          <a:p>
            <a:pPr algn="ctr">
              <a:defRPr sz="1700" b="1">
                <a:solidFill>
                  <a:srgbClr val="8A9BA8"/>
                </a:solidFill>
                <a:latin typeface="Nohemi"/>
              </a:defRPr>
            </a:pPr>
            <a:r>
              <a:t>Q2</a:t>
            </a:r>
          </a:p>
        </p:txBody>
      </p:sp>
      <p:sp>
        <p:nvSpPr>
          <p:cNvPr id="21" name="TextBox 20"/>
          <p:cNvSpPr txBox="1"/>
          <p:nvPr/>
        </p:nvSpPr>
        <p:spPr>
          <a:xfrm>
            <a:off x="3703320" y="2971800"/>
            <a:ext cx="2194560" cy="731520"/>
          </a:xfrm>
          <a:prstGeom prst="rect">
            <a:avLst/>
          </a:prstGeom>
          <a:noFill/>
        </p:spPr>
        <p:txBody>
          <a:bodyPr wrap="square">
            <a:spAutoFit/>
          </a:bodyPr>
          <a:lstStyle/>
          <a:p>
            <a:pPr algn="ctr">
              <a:defRPr sz="4200" b="1">
                <a:solidFill>
                  <a:srgbClr val="FFFFFF"/>
                </a:solidFill>
                <a:latin typeface="Nohemi"/>
              </a:defRPr>
            </a:pPr>
            <a:r>
              <a:t>78%</a:t>
            </a:r>
          </a:p>
        </p:txBody>
      </p:sp>
      <p:sp>
        <p:nvSpPr>
          <p:cNvPr id="22" name="Rounded Rectangle 21"/>
          <p:cNvSpPr/>
          <p:nvPr/>
        </p:nvSpPr>
        <p:spPr>
          <a:xfrm>
            <a:off x="3886200" y="4114800"/>
            <a:ext cx="1828800" cy="237744"/>
          </a:xfrm>
          <a:prstGeom prst="round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886200" y="4114800"/>
            <a:ext cx="1426464" cy="237744"/>
          </a:xfrm>
          <a:prstGeom prst="round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023359"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370831"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18303"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065775"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13248" y="4663440"/>
            <a:ext cx="201168" cy="201168"/>
          </a:xfrm>
          <a:prstGeom prst="ellipse">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309359" y="2377440"/>
            <a:ext cx="2560320" cy="3200400"/>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2606040"/>
            <a:ext cx="2194560" cy="457200"/>
          </a:xfrm>
          <a:prstGeom prst="rect">
            <a:avLst/>
          </a:prstGeom>
          <a:noFill/>
        </p:spPr>
        <p:txBody>
          <a:bodyPr wrap="square">
            <a:spAutoFit/>
          </a:bodyPr>
          <a:lstStyle/>
          <a:p>
            <a:pPr algn="ctr">
              <a:defRPr sz="1700" b="1">
                <a:solidFill>
                  <a:srgbClr val="8A9BA8"/>
                </a:solidFill>
                <a:latin typeface="Nohemi"/>
              </a:defRPr>
            </a:pPr>
            <a:r>
              <a:t>Q3</a:t>
            </a:r>
          </a:p>
        </p:txBody>
      </p:sp>
      <p:sp>
        <p:nvSpPr>
          <p:cNvPr id="31" name="TextBox 30"/>
          <p:cNvSpPr txBox="1"/>
          <p:nvPr/>
        </p:nvSpPr>
        <p:spPr>
          <a:xfrm>
            <a:off x="6492240" y="2971800"/>
            <a:ext cx="2194560" cy="731520"/>
          </a:xfrm>
          <a:prstGeom prst="rect">
            <a:avLst/>
          </a:prstGeom>
          <a:noFill/>
        </p:spPr>
        <p:txBody>
          <a:bodyPr wrap="square">
            <a:spAutoFit/>
          </a:bodyPr>
          <a:lstStyle/>
          <a:p>
            <a:pPr algn="ctr">
              <a:defRPr sz="4200" b="1">
                <a:solidFill>
                  <a:srgbClr val="B9C2CE"/>
                </a:solidFill>
                <a:latin typeface="Nohemi"/>
              </a:defRPr>
            </a:pPr>
            <a:r>
              <a:t>85%</a:t>
            </a:r>
          </a:p>
        </p:txBody>
      </p:sp>
      <p:sp>
        <p:nvSpPr>
          <p:cNvPr id="32" name="Rounded Rectangle 31"/>
          <p:cNvSpPr/>
          <p:nvPr/>
        </p:nvSpPr>
        <p:spPr>
          <a:xfrm>
            <a:off x="6675120" y="4114800"/>
            <a:ext cx="1828800" cy="237744"/>
          </a:xfrm>
          <a:prstGeom prst="round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675120" y="4114800"/>
            <a:ext cx="1554480" cy="237744"/>
          </a:xfrm>
          <a:prstGeom prst="round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12279"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159751"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507223"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854696"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02167" y="4663440"/>
            <a:ext cx="201168" cy="201168"/>
          </a:xfrm>
          <a:prstGeom prst="ellipse">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098280" y="2377440"/>
            <a:ext cx="2560320" cy="3200400"/>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81159" y="2606040"/>
            <a:ext cx="2194560" cy="457200"/>
          </a:xfrm>
          <a:prstGeom prst="rect">
            <a:avLst/>
          </a:prstGeom>
          <a:noFill/>
        </p:spPr>
        <p:txBody>
          <a:bodyPr wrap="square">
            <a:spAutoFit/>
          </a:bodyPr>
          <a:lstStyle/>
          <a:p>
            <a:pPr algn="ctr">
              <a:defRPr sz="1700" b="1">
                <a:solidFill>
                  <a:srgbClr val="8A9BA8"/>
                </a:solidFill>
                <a:latin typeface="Nohemi"/>
              </a:defRPr>
            </a:pPr>
            <a:r>
              <a:t>Q4</a:t>
            </a:r>
          </a:p>
        </p:txBody>
      </p:sp>
      <p:sp>
        <p:nvSpPr>
          <p:cNvPr id="41" name="TextBox 40"/>
          <p:cNvSpPr txBox="1"/>
          <p:nvPr/>
        </p:nvSpPr>
        <p:spPr>
          <a:xfrm>
            <a:off x="9281159" y="2971800"/>
            <a:ext cx="2194560" cy="731520"/>
          </a:xfrm>
          <a:prstGeom prst="rect">
            <a:avLst/>
          </a:prstGeom>
          <a:noFill/>
        </p:spPr>
        <p:txBody>
          <a:bodyPr wrap="square">
            <a:spAutoFit/>
          </a:bodyPr>
          <a:lstStyle/>
          <a:p>
            <a:pPr algn="ctr">
              <a:defRPr sz="4200" b="1">
                <a:solidFill>
                  <a:srgbClr val="B9C2CE"/>
                </a:solidFill>
                <a:latin typeface="Nohemi"/>
              </a:defRPr>
            </a:pPr>
            <a:r>
              <a:t>91%</a:t>
            </a:r>
          </a:p>
        </p:txBody>
      </p:sp>
      <p:sp>
        <p:nvSpPr>
          <p:cNvPr id="42" name="Rounded Rectangle 41"/>
          <p:cNvSpPr/>
          <p:nvPr/>
        </p:nvSpPr>
        <p:spPr>
          <a:xfrm>
            <a:off x="9464040" y="4114800"/>
            <a:ext cx="1828800" cy="237744"/>
          </a:xfrm>
          <a:prstGeom prst="round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464040" y="4114800"/>
            <a:ext cx="1664208" cy="237744"/>
          </a:xfrm>
          <a:prstGeom prst="round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601200"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948672"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296144"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643616"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991088" y="4663440"/>
            <a:ext cx="201168" cy="201168"/>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5E6B7A"/>
                </a:solidFill>
                <a:latin typeface="Nohemi"/>
              </a:defRPr>
            </a:pPr>
            <a:r>
              <a:t>09  ACHIEVEMENTS</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0A1A2F"/>
                </a:solidFill>
                <a:latin typeface="Nohemi"/>
              </a:defRPr>
            </a:pPr>
            <a:r>
              <a:t>2026 Milestones</a:t>
            </a:r>
          </a:p>
        </p:txBody>
      </p:sp>
      <p:cxnSp>
        <p:nvCxnSpPr>
          <p:cNvPr id="5" name="Connector 4"/>
          <p:cNvCxnSpPr/>
          <p:nvPr/>
        </p:nvCxnSpPr>
        <p:spPr>
          <a:xfrm>
            <a:off x="731520" y="3931920"/>
            <a:ext cx="10698480" cy="0"/>
          </a:xfrm>
          <a:prstGeom prst="line">
            <a:avLst/>
          </a:prstGeom>
          <a:ln w="25400">
            <a:solidFill>
              <a:srgbClr val="B9C2CE"/>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600200" y="3822191"/>
            <a:ext cx="228600" cy="228600"/>
          </a:xfrm>
          <a:prstGeom prst="ellipse">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926080"/>
            <a:ext cx="1234440" cy="457200"/>
          </a:xfrm>
          <a:prstGeom prst="rect">
            <a:avLst/>
          </a:prstGeom>
          <a:noFill/>
        </p:spPr>
        <p:txBody>
          <a:bodyPr wrap="square">
            <a:spAutoFit/>
          </a:bodyPr>
          <a:lstStyle/>
          <a:p>
            <a:pPr algn="ctr">
              <a:defRPr sz="1800" b="1">
                <a:solidFill>
                  <a:srgbClr val="5E6B7A"/>
                </a:solidFill>
                <a:latin typeface="Nohemi"/>
              </a:defRPr>
            </a:pPr>
            <a:r>
              <a:t>Jan</a:t>
            </a:r>
          </a:p>
        </p:txBody>
      </p:sp>
      <p:sp>
        <p:nvSpPr>
          <p:cNvPr id="8" name="TextBox 7"/>
          <p:cNvSpPr txBox="1"/>
          <p:nvPr/>
        </p:nvSpPr>
        <p:spPr>
          <a:xfrm>
            <a:off x="822959" y="4160520"/>
            <a:ext cx="1783080" cy="822960"/>
          </a:xfrm>
          <a:prstGeom prst="rect">
            <a:avLst/>
          </a:prstGeom>
          <a:noFill/>
        </p:spPr>
        <p:txBody>
          <a:bodyPr wrap="square">
            <a:spAutoFit/>
          </a:bodyPr>
          <a:lstStyle/>
          <a:p>
            <a:pPr algn="ctr">
              <a:defRPr sz="1600" b="0">
                <a:solidFill>
                  <a:srgbClr val="0A1A2F"/>
                </a:solidFill>
                <a:latin typeface="Public Sans"/>
              </a:defRPr>
            </a:pPr>
            <a:r>
              <a:t>Digital identity</a:t>
            </a:r>
            <a:br/>
            <a:r>
              <a:t>launch</a:t>
            </a:r>
          </a:p>
        </p:txBody>
      </p:sp>
      <p:sp>
        <p:nvSpPr>
          <p:cNvPr id="9" name="Oval 8"/>
          <p:cNvSpPr/>
          <p:nvPr/>
        </p:nvSpPr>
        <p:spPr>
          <a:xfrm>
            <a:off x="4343400" y="3822191"/>
            <a:ext cx="228600" cy="228600"/>
          </a:xfrm>
          <a:prstGeom prst="ellipse">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2926080"/>
            <a:ext cx="1234440" cy="457200"/>
          </a:xfrm>
          <a:prstGeom prst="rect">
            <a:avLst/>
          </a:prstGeom>
          <a:noFill/>
        </p:spPr>
        <p:txBody>
          <a:bodyPr wrap="square">
            <a:spAutoFit/>
          </a:bodyPr>
          <a:lstStyle/>
          <a:p>
            <a:pPr algn="ctr">
              <a:defRPr sz="1800" b="1">
                <a:solidFill>
                  <a:srgbClr val="5E6B7A"/>
                </a:solidFill>
                <a:latin typeface="Nohemi"/>
              </a:defRPr>
            </a:pPr>
            <a:r>
              <a:t>Apr</a:t>
            </a:r>
          </a:p>
        </p:txBody>
      </p:sp>
      <p:sp>
        <p:nvSpPr>
          <p:cNvPr id="11" name="TextBox 10"/>
          <p:cNvSpPr txBox="1"/>
          <p:nvPr/>
        </p:nvSpPr>
        <p:spPr>
          <a:xfrm>
            <a:off x="3566160" y="4160520"/>
            <a:ext cx="1783080" cy="822960"/>
          </a:xfrm>
          <a:prstGeom prst="rect">
            <a:avLst/>
          </a:prstGeom>
          <a:noFill/>
        </p:spPr>
        <p:txBody>
          <a:bodyPr wrap="square">
            <a:spAutoFit/>
          </a:bodyPr>
          <a:lstStyle/>
          <a:p>
            <a:pPr algn="ctr">
              <a:defRPr sz="1600" b="0">
                <a:solidFill>
                  <a:srgbClr val="0A1A2F"/>
                </a:solidFill>
                <a:latin typeface="Public Sans"/>
              </a:defRPr>
            </a:pPr>
            <a:r>
              <a:t>AI processing</a:t>
            </a:r>
            <a:br/>
            <a:r>
              <a:t>live</a:t>
            </a:r>
          </a:p>
        </p:txBody>
      </p:sp>
      <p:sp>
        <p:nvSpPr>
          <p:cNvPr id="12" name="Oval 11"/>
          <p:cNvSpPr/>
          <p:nvPr/>
        </p:nvSpPr>
        <p:spPr>
          <a:xfrm>
            <a:off x="7086600" y="3822191"/>
            <a:ext cx="228600" cy="228600"/>
          </a:xfrm>
          <a:prstGeom prst="ellipse">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2926080"/>
            <a:ext cx="1234440" cy="457200"/>
          </a:xfrm>
          <a:prstGeom prst="rect">
            <a:avLst/>
          </a:prstGeom>
          <a:noFill/>
        </p:spPr>
        <p:txBody>
          <a:bodyPr wrap="square">
            <a:spAutoFit/>
          </a:bodyPr>
          <a:lstStyle/>
          <a:p>
            <a:pPr algn="ctr">
              <a:defRPr sz="1800" b="1">
                <a:solidFill>
                  <a:srgbClr val="5E6B7A"/>
                </a:solidFill>
                <a:latin typeface="Nohemi"/>
              </a:defRPr>
            </a:pPr>
            <a:r>
              <a:t>Jul</a:t>
            </a:r>
          </a:p>
        </p:txBody>
      </p:sp>
      <p:sp>
        <p:nvSpPr>
          <p:cNvPr id="14" name="TextBox 13"/>
          <p:cNvSpPr txBox="1"/>
          <p:nvPr/>
        </p:nvSpPr>
        <p:spPr>
          <a:xfrm>
            <a:off x="6309360" y="4160520"/>
            <a:ext cx="1783080" cy="822960"/>
          </a:xfrm>
          <a:prstGeom prst="rect">
            <a:avLst/>
          </a:prstGeom>
          <a:noFill/>
        </p:spPr>
        <p:txBody>
          <a:bodyPr wrap="square">
            <a:spAutoFit/>
          </a:bodyPr>
          <a:lstStyle/>
          <a:p>
            <a:pPr algn="ctr">
              <a:defRPr sz="1600" b="0">
                <a:solidFill>
                  <a:srgbClr val="0A1A2F"/>
                </a:solidFill>
                <a:latin typeface="Public Sans"/>
              </a:defRPr>
            </a:pPr>
            <a:r>
              <a:t>12 ministries</a:t>
            </a:r>
            <a:br/>
            <a:r>
              <a:t>connected</a:t>
            </a:r>
          </a:p>
        </p:txBody>
      </p:sp>
      <p:sp>
        <p:nvSpPr>
          <p:cNvPr id="15" name="Oval 14"/>
          <p:cNvSpPr/>
          <p:nvPr/>
        </p:nvSpPr>
        <p:spPr>
          <a:xfrm>
            <a:off x="9829800" y="3822191"/>
            <a:ext cx="228600" cy="228600"/>
          </a:xfrm>
          <a:prstGeom prst="ellipse">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0" y="2926080"/>
            <a:ext cx="1234440" cy="457200"/>
          </a:xfrm>
          <a:prstGeom prst="rect">
            <a:avLst/>
          </a:prstGeom>
          <a:noFill/>
        </p:spPr>
        <p:txBody>
          <a:bodyPr wrap="square">
            <a:spAutoFit/>
          </a:bodyPr>
          <a:lstStyle/>
          <a:p>
            <a:pPr algn="ctr">
              <a:defRPr sz="1800" b="1">
                <a:solidFill>
                  <a:srgbClr val="5E6B7A"/>
                </a:solidFill>
                <a:latin typeface="Nohemi"/>
              </a:defRPr>
            </a:pPr>
            <a:r>
              <a:t>Oct</a:t>
            </a:r>
          </a:p>
        </p:txBody>
      </p:sp>
      <p:sp>
        <p:nvSpPr>
          <p:cNvPr id="17" name="TextBox 16"/>
          <p:cNvSpPr txBox="1"/>
          <p:nvPr/>
        </p:nvSpPr>
        <p:spPr>
          <a:xfrm>
            <a:off x="9052559" y="4160520"/>
            <a:ext cx="1783080" cy="822960"/>
          </a:xfrm>
          <a:prstGeom prst="rect">
            <a:avLst/>
          </a:prstGeom>
          <a:noFill/>
        </p:spPr>
        <p:txBody>
          <a:bodyPr wrap="square">
            <a:spAutoFit/>
          </a:bodyPr>
          <a:lstStyle/>
          <a:p>
            <a:pPr algn="ctr">
              <a:defRPr sz="1600" b="0">
                <a:solidFill>
                  <a:srgbClr val="0A1A2F"/>
                </a:solidFill>
                <a:latin typeface="Public Sans"/>
              </a:defRPr>
            </a:pPr>
            <a:r>
              <a:t>2.4M citizens</a:t>
            </a:r>
            <a:br/>
            <a:r>
              <a:t>onboarded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B9C2CE"/>
                </a:solidFill>
                <a:latin typeface="Nohemi"/>
              </a:defRPr>
            </a:pPr>
            <a:r>
              <a:t>10  TECHNOLOGY</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FFFFFF"/>
                </a:solidFill>
                <a:latin typeface="Nohemi"/>
              </a:defRPr>
            </a:pPr>
            <a:r>
              <a:t>AI-Powered Processing</a:t>
            </a:r>
          </a:p>
        </p:txBody>
      </p:sp>
      <p:pic>
        <p:nvPicPr>
          <p:cNvPr id="5" name="Picture 4" descr="mcit-divider.png"/>
          <p:cNvPicPr>
            <a:picLocks noChangeAspect="1"/>
          </p:cNvPicPr>
          <p:nvPr/>
        </p:nvPicPr>
        <p:blipFill>
          <a:blip r:embed="rId2"/>
          <a:stretch>
            <a:fillRect/>
          </a:stretch>
        </p:blipFill>
        <p:spPr>
          <a:xfrm>
            <a:off x="731520" y="1691640"/>
            <a:ext cx="3657600" cy="114300"/>
          </a:xfrm>
          <a:prstGeom prst="rect">
            <a:avLst/>
          </a:prstGeom>
        </p:spPr>
      </p:pic>
      <p:pic>
        <p:nvPicPr>
          <p:cNvPr id="6" name="Picture 5" descr="mcit-footer.png"/>
          <p:cNvPicPr>
            <a:picLocks noChangeAspect="1"/>
          </p:cNvPicPr>
          <p:nvPr/>
        </p:nvPicPr>
        <p:blipFill>
          <a:blip r:embed="rId3"/>
          <a:stretch>
            <a:fillRect/>
          </a:stretch>
        </p:blipFill>
        <p:spPr>
          <a:xfrm>
            <a:off x="0" y="6309360"/>
            <a:ext cx="12191695" cy="548640"/>
          </a:xfrm>
          <a:prstGeom prst="rect">
            <a:avLst/>
          </a:prstGeom>
        </p:spPr>
      </p:pic>
      <p:sp>
        <p:nvSpPr>
          <p:cNvPr id="7" name="TextBox 6"/>
          <p:cNvSpPr txBox="1"/>
          <p:nvPr/>
        </p:nvSpPr>
        <p:spPr>
          <a:xfrm>
            <a:off x="731520" y="6419088"/>
            <a:ext cx="1828800" cy="320040"/>
          </a:xfrm>
          <a:prstGeom prst="rect">
            <a:avLst/>
          </a:prstGeom>
          <a:noFill/>
        </p:spPr>
        <p:txBody>
          <a:bodyPr wrap="square">
            <a:spAutoFit/>
          </a:bodyPr>
          <a:lstStyle/>
          <a:p>
            <a:pPr algn="l">
              <a:defRPr sz="1200" b="0">
                <a:solidFill>
                  <a:srgbClr val="8A9BA8"/>
                </a:solidFill>
                <a:latin typeface="Public Sans"/>
              </a:defRPr>
            </a:pPr>
            <a:r>
              <a:t>10</a:t>
            </a:r>
          </a:p>
        </p:txBody>
      </p:sp>
      <p:sp>
        <p:nvSpPr>
          <p:cNvPr id="8" name="TextBox 7"/>
          <p:cNvSpPr txBox="1"/>
          <p:nvPr/>
        </p:nvSpPr>
        <p:spPr>
          <a:xfrm>
            <a:off x="9601200" y="6419088"/>
            <a:ext cx="1828800" cy="320040"/>
          </a:xfrm>
          <a:prstGeom prst="rect">
            <a:avLst/>
          </a:prstGeom>
          <a:noFill/>
        </p:spPr>
        <p:txBody>
          <a:bodyPr wrap="square">
            <a:spAutoFit/>
          </a:bodyPr>
          <a:lstStyle/>
          <a:p>
            <a:pPr algn="r">
              <a:defRPr sz="1200" b="0">
                <a:solidFill>
                  <a:srgbClr val="8A9BA8"/>
                </a:solidFill>
                <a:latin typeface="Public Sans"/>
              </a:defRPr>
            </a:pPr>
            <a:r>
              <a:t>MCIT 2026</a:t>
            </a:r>
          </a:p>
        </p:txBody>
      </p:sp>
      <p:sp>
        <p:nvSpPr>
          <p:cNvPr id="9" name="TextBox 8"/>
          <p:cNvSpPr txBox="1"/>
          <p:nvPr/>
        </p:nvSpPr>
        <p:spPr>
          <a:xfrm>
            <a:off x="731520" y="2286000"/>
            <a:ext cx="6400800" cy="3200400"/>
          </a:xfrm>
          <a:prstGeom prst="rect">
            <a:avLst/>
          </a:prstGeom>
          <a:noFill/>
        </p:spPr>
        <p:txBody>
          <a:bodyPr wrap="square">
            <a:spAutoFit/>
          </a:bodyPr>
          <a:lstStyle/>
          <a:p>
            <a:pPr algn="l">
              <a:defRPr sz="1900" b="0">
                <a:solidFill>
                  <a:srgbClr val="B9C2CE"/>
                </a:solidFill>
                <a:latin typeface="Public Sans"/>
              </a:defRPr>
            </a:pPr>
            <a:r>
              <a:t>Artificial intelligence handles document verification, data extraction, and eligibility checks across 40 government services. Models trained on millions of applications achieve 99.2 percent accuracy in document classification. Conversational interfaces serve citizens in Arabic and English. Manual review workload fell 65 percent.</a:t>
            </a:r>
          </a:p>
        </p:txBody>
      </p:sp>
      <p:sp>
        <p:nvSpPr>
          <p:cNvPr id="10" name="Rounded Rectangle 9"/>
          <p:cNvSpPr/>
          <p:nvPr/>
        </p:nvSpPr>
        <p:spPr>
          <a:xfrm>
            <a:off x="7863840" y="2286000"/>
            <a:ext cx="3566160" cy="2926080"/>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651760"/>
            <a:ext cx="2834640" cy="914400"/>
          </a:xfrm>
          <a:prstGeom prst="rect">
            <a:avLst/>
          </a:prstGeom>
          <a:noFill/>
        </p:spPr>
        <p:txBody>
          <a:bodyPr wrap="square">
            <a:spAutoFit/>
          </a:bodyPr>
          <a:lstStyle/>
          <a:p>
            <a:pPr algn="ctr">
              <a:defRPr sz="5000" b="1">
                <a:solidFill>
                  <a:srgbClr val="B9C2CE"/>
                </a:solidFill>
                <a:latin typeface="Nohemi"/>
              </a:defRPr>
            </a:pPr>
            <a:r>
              <a:t>99.2%</a:t>
            </a:r>
          </a:p>
        </p:txBody>
      </p:sp>
      <p:sp>
        <p:nvSpPr>
          <p:cNvPr id="12" name="TextBox 11"/>
          <p:cNvSpPr txBox="1"/>
          <p:nvPr/>
        </p:nvSpPr>
        <p:spPr>
          <a:xfrm>
            <a:off x="8229600" y="3611880"/>
            <a:ext cx="2834640" cy="457200"/>
          </a:xfrm>
          <a:prstGeom prst="rect">
            <a:avLst/>
          </a:prstGeom>
          <a:noFill/>
        </p:spPr>
        <p:txBody>
          <a:bodyPr wrap="square">
            <a:spAutoFit/>
          </a:bodyPr>
          <a:lstStyle/>
          <a:p>
            <a:pPr algn="ctr">
              <a:defRPr sz="1500" b="0">
                <a:solidFill>
                  <a:srgbClr val="8A9BA8"/>
                </a:solidFill>
                <a:latin typeface="Public Sans"/>
              </a:defRPr>
            </a:pPr>
            <a:r>
              <a:t>model accuracy</a:t>
            </a:r>
          </a:p>
        </p:txBody>
      </p:sp>
      <p:sp>
        <p:nvSpPr>
          <p:cNvPr id="13" name="TextBox 12"/>
          <p:cNvSpPr txBox="1"/>
          <p:nvPr/>
        </p:nvSpPr>
        <p:spPr>
          <a:xfrm>
            <a:off x="8229600" y="4206240"/>
            <a:ext cx="2834640" cy="457200"/>
          </a:xfrm>
          <a:prstGeom prst="rect">
            <a:avLst/>
          </a:prstGeom>
          <a:noFill/>
        </p:spPr>
        <p:txBody>
          <a:bodyPr wrap="square">
            <a:spAutoFit/>
          </a:bodyPr>
          <a:lstStyle/>
          <a:p>
            <a:pPr algn="ctr">
              <a:defRPr sz="1500" b="1">
                <a:solidFill>
                  <a:srgbClr val="B9C2CE"/>
                </a:solidFill>
                <a:latin typeface="Public Sans"/>
              </a:defRPr>
            </a:pPr>
            <a:r>
              <a:t>65% less manual review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5E6B7A"/>
                </a:solidFill>
                <a:latin typeface="Nohemi"/>
              </a:defRPr>
            </a:pPr>
            <a:r>
              <a:t>11  SECURITY</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0A1A2F"/>
                </a:solidFill>
                <a:latin typeface="Nohemi"/>
              </a:defRPr>
            </a:pPr>
            <a:r>
              <a:t>Security and Trust</a:t>
            </a:r>
          </a:p>
        </p:txBody>
      </p:sp>
      <p:sp>
        <p:nvSpPr>
          <p:cNvPr id="5" name="TextBox 4"/>
          <p:cNvSpPr txBox="1"/>
          <p:nvPr/>
        </p:nvSpPr>
        <p:spPr>
          <a:xfrm>
            <a:off x="731520" y="2286000"/>
            <a:ext cx="6400800" cy="3200400"/>
          </a:xfrm>
          <a:prstGeom prst="rect">
            <a:avLst/>
          </a:prstGeom>
          <a:noFill/>
        </p:spPr>
        <p:txBody>
          <a:bodyPr wrap="square">
            <a:spAutoFit/>
          </a:bodyPr>
          <a:lstStyle/>
          <a:p>
            <a:pPr algn="l">
              <a:defRPr sz="1900" b="0">
                <a:solidFill>
                  <a:srgbClr val="3A4656"/>
                </a:solidFill>
                <a:latin typeface="Public Sans"/>
              </a:defRPr>
            </a:pPr>
            <a:r>
              <a:t>Zero-trust architecture protects citizen data with end-to-end encryption, multi-factor authentication, and continuous monitoring. The operations center neutralized 14,000 intrusion attempts in 2026 with zero successful breaches. Biometric verification cut identity fraud 83 percent. Full regulatory compliance confirmed Q3 2026.</a:t>
            </a:r>
          </a:p>
        </p:txBody>
      </p:sp>
      <p:sp>
        <p:nvSpPr>
          <p:cNvPr id="6" name="Rounded Rectangle 5"/>
          <p:cNvSpPr/>
          <p:nvPr/>
        </p:nvSpPr>
        <p:spPr>
          <a:xfrm>
            <a:off x="7863840" y="2286000"/>
            <a:ext cx="3566160" cy="2926080"/>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0" y="2651760"/>
            <a:ext cx="2834640" cy="914400"/>
          </a:xfrm>
          <a:prstGeom prst="rect">
            <a:avLst/>
          </a:prstGeom>
          <a:noFill/>
        </p:spPr>
        <p:txBody>
          <a:bodyPr wrap="square">
            <a:spAutoFit/>
          </a:bodyPr>
          <a:lstStyle/>
          <a:p>
            <a:pPr algn="ctr">
              <a:defRPr sz="5000" b="1">
                <a:solidFill>
                  <a:srgbClr val="0A1A2F"/>
                </a:solidFill>
                <a:latin typeface="Nohemi"/>
              </a:defRPr>
            </a:pPr>
            <a:r>
              <a:t>14,000</a:t>
            </a:r>
          </a:p>
        </p:txBody>
      </p:sp>
      <p:sp>
        <p:nvSpPr>
          <p:cNvPr id="8" name="TextBox 7"/>
          <p:cNvSpPr txBox="1"/>
          <p:nvPr/>
        </p:nvSpPr>
        <p:spPr>
          <a:xfrm>
            <a:off x="8229600" y="3611880"/>
            <a:ext cx="2834640" cy="457200"/>
          </a:xfrm>
          <a:prstGeom prst="rect">
            <a:avLst/>
          </a:prstGeom>
          <a:noFill/>
        </p:spPr>
        <p:txBody>
          <a:bodyPr wrap="square">
            <a:spAutoFit/>
          </a:bodyPr>
          <a:lstStyle/>
          <a:p>
            <a:pPr algn="ctr">
              <a:defRPr sz="1500" b="0">
                <a:solidFill>
                  <a:srgbClr val="5E6B7A"/>
                </a:solidFill>
                <a:latin typeface="Public Sans"/>
              </a:defRPr>
            </a:pPr>
            <a:r>
              <a:t>threats blocked</a:t>
            </a:r>
          </a:p>
        </p:txBody>
      </p:sp>
      <p:sp>
        <p:nvSpPr>
          <p:cNvPr id="9" name="TextBox 8"/>
          <p:cNvSpPr txBox="1"/>
          <p:nvPr/>
        </p:nvSpPr>
        <p:spPr>
          <a:xfrm>
            <a:off x="8229600" y="4206240"/>
            <a:ext cx="2834640" cy="457200"/>
          </a:xfrm>
          <a:prstGeom prst="rect">
            <a:avLst/>
          </a:prstGeom>
          <a:noFill/>
        </p:spPr>
        <p:txBody>
          <a:bodyPr wrap="square">
            <a:spAutoFit/>
          </a:bodyPr>
          <a:lstStyle/>
          <a:p>
            <a:pPr algn="ctr">
              <a:defRPr sz="1500" b="1">
                <a:solidFill>
                  <a:srgbClr val="0A1A2F"/>
                </a:solidFill>
                <a:latin typeface="Public Sans"/>
              </a:defRPr>
            </a:pPr>
            <a:r>
              <a:t>zero breaches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B9C2CE"/>
                </a:solidFill>
                <a:latin typeface="Nohemi"/>
              </a:defRPr>
            </a:pPr>
            <a:r>
              <a:t>12  QUALITY</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FFFFFF"/>
                </a:solidFill>
                <a:latin typeface="Nohemi"/>
              </a:defRPr>
            </a:pPr>
            <a:r>
              <a:t>Service Quality</a:t>
            </a:r>
          </a:p>
        </p:txBody>
      </p:sp>
      <p:pic>
        <p:nvPicPr>
          <p:cNvPr id="5" name="Picture 4" descr="mcit-divider.png"/>
          <p:cNvPicPr>
            <a:picLocks noChangeAspect="1"/>
          </p:cNvPicPr>
          <p:nvPr/>
        </p:nvPicPr>
        <p:blipFill>
          <a:blip r:embed="rId2"/>
          <a:stretch>
            <a:fillRect/>
          </a:stretch>
        </p:blipFill>
        <p:spPr>
          <a:xfrm>
            <a:off x="731520" y="1691640"/>
            <a:ext cx="3657600" cy="114300"/>
          </a:xfrm>
          <a:prstGeom prst="rect">
            <a:avLst/>
          </a:prstGeom>
        </p:spPr>
      </p:pic>
      <p:pic>
        <p:nvPicPr>
          <p:cNvPr id="6" name="Picture 5" descr="mcit-footer.png"/>
          <p:cNvPicPr>
            <a:picLocks noChangeAspect="1"/>
          </p:cNvPicPr>
          <p:nvPr/>
        </p:nvPicPr>
        <p:blipFill>
          <a:blip r:embed="rId3"/>
          <a:stretch>
            <a:fillRect/>
          </a:stretch>
        </p:blipFill>
        <p:spPr>
          <a:xfrm>
            <a:off x="0" y="6309360"/>
            <a:ext cx="12191695" cy="548640"/>
          </a:xfrm>
          <a:prstGeom prst="rect">
            <a:avLst/>
          </a:prstGeom>
        </p:spPr>
      </p:pic>
      <p:sp>
        <p:nvSpPr>
          <p:cNvPr id="7" name="TextBox 6"/>
          <p:cNvSpPr txBox="1"/>
          <p:nvPr/>
        </p:nvSpPr>
        <p:spPr>
          <a:xfrm>
            <a:off x="731520" y="6419088"/>
            <a:ext cx="1828800" cy="320040"/>
          </a:xfrm>
          <a:prstGeom prst="rect">
            <a:avLst/>
          </a:prstGeom>
          <a:noFill/>
        </p:spPr>
        <p:txBody>
          <a:bodyPr wrap="square">
            <a:spAutoFit/>
          </a:bodyPr>
          <a:lstStyle/>
          <a:p>
            <a:pPr algn="l">
              <a:defRPr sz="1200" b="0">
                <a:solidFill>
                  <a:srgbClr val="8A9BA8"/>
                </a:solidFill>
                <a:latin typeface="Public Sans"/>
              </a:defRPr>
            </a:pPr>
            <a:r>
              <a:t>12</a:t>
            </a:r>
          </a:p>
        </p:txBody>
      </p:sp>
      <p:sp>
        <p:nvSpPr>
          <p:cNvPr id="8" name="TextBox 7"/>
          <p:cNvSpPr txBox="1"/>
          <p:nvPr/>
        </p:nvSpPr>
        <p:spPr>
          <a:xfrm>
            <a:off x="9601200" y="6419088"/>
            <a:ext cx="1828800" cy="320040"/>
          </a:xfrm>
          <a:prstGeom prst="rect">
            <a:avLst/>
          </a:prstGeom>
          <a:noFill/>
        </p:spPr>
        <p:txBody>
          <a:bodyPr wrap="square">
            <a:spAutoFit/>
          </a:bodyPr>
          <a:lstStyle/>
          <a:p>
            <a:pPr algn="r">
              <a:defRPr sz="1200" b="0">
                <a:solidFill>
                  <a:srgbClr val="8A9BA8"/>
                </a:solidFill>
                <a:latin typeface="Public Sans"/>
              </a:defRPr>
            </a:pPr>
            <a:r>
              <a:t>MCIT 2026</a:t>
            </a:r>
          </a:p>
        </p:txBody>
      </p:sp>
      <p:sp>
        <p:nvSpPr>
          <p:cNvPr id="9" name="TextBox 8"/>
          <p:cNvSpPr txBox="1"/>
          <p:nvPr/>
        </p:nvSpPr>
        <p:spPr>
          <a:xfrm>
            <a:off x="731520" y="2286000"/>
            <a:ext cx="6400800" cy="3200400"/>
          </a:xfrm>
          <a:prstGeom prst="rect">
            <a:avLst/>
          </a:prstGeom>
          <a:noFill/>
        </p:spPr>
        <p:txBody>
          <a:bodyPr wrap="square">
            <a:spAutoFit/>
          </a:bodyPr>
          <a:lstStyle/>
          <a:p>
            <a:pPr algn="l">
              <a:defRPr sz="1900" b="0">
                <a:solidFill>
                  <a:srgbClr val="B9C2CE"/>
                </a:solidFill>
                <a:latin typeface="Public Sans"/>
              </a:defRPr>
            </a:pPr>
            <a:r>
              <a:t>Five dimensions measured: speed, accuracy, availability, accessibility, feedback. Average service time 4.2 seconds. Error rates 0.3 percent, down from 2.1 percent in 2024. Uptime 99.9 percent. WCAG 2.1 AA compliance across all citizen interfaces.</a:t>
            </a:r>
          </a:p>
        </p:txBody>
      </p:sp>
      <p:sp>
        <p:nvSpPr>
          <p:cNvPr id="10" name="Rounded Rectangle 9"/>
          <p:cNvSpPr/>
          <p:nvPr/>
        </p:nvSpPr>
        <p:spPr>
          <a:xfrm>
            <a:off x="7863840" y="2286000"/>
            <a:ext cx="3566160" cy="2926080"/>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651760"/>
            <a:ext cx="2834640" cy="914400"/>
          </a:xfrm>
          <a:prstGeom prst="rect">
            <a:avLst/>
          </a:prstGeom>
          <a:noFill/>
        </p:spPr>
        <p:txBody>
          <a:bodyPr wrap="square">
            <a:spAutoFit/>
          </a:bodyPr>
          <a:lstStyle/>
          <a:p>
            <a:pPr algn="ctr">
              <a:defRPr sz="5000" b="1">
                <a:solidFill>
                  <a:srgbClr val="B9C2CE"/>
                </a:solidFill>
                <a:latin typeface="Nohemi"/>
              </a:defRPr>
            </a:pPr>
            <a:r>
              <a:t>99.9%</a:t>
            </a:r>
          </a:p>
        </p:txBody>
      </p:sp>
      <p:sp>
        <p:nvSpPr>
          <p:cNvPr id="12" name="TextBox 11"/>
          <p:cNvSpPr txBox="1"/>
          <p:nvPr/>
        </p:nvSpPr>
        <p:spPr>
          <a:xfrm>
            <a:off x="8229600" y="3611880"/>
            <a:ext cx="2834640" cy="457200"/>
          </a:xfrm>
          <a:prstGeom prst="rect">
            <a:avLst/>
          </a:prstGeom>
          <a:noFill/>
        </p:spPr>
        <p:txBody>
          <a:bodyPr wrap="square">
            <a:spAutoFit/>
          </a:bodyPr>
          <a:lstStyle/>
          <a:p>
            <a:pPr algn="ctr">
              <a:defRPr sz="1500" b="0">
                <a:solidFill>
                  <a:srgbClr val="8A9BA8"/>
                </a:solidFill>
                <a:latin typeface="Public Sans"/>
              </a:defRPr>
            </a:pPr>
            <a:r>
              <a:t>platform uptime</a:t>
            </a:r>
          </a:p>
        </p:txBody>
      </p:sp>
      <p:sp>
        <p:nvSpPr>
          <p:cNvPr id="13" name="TextBox 12"/>
          <p:cNvSpPr txBox="1"/>
          <p:nvPr/>
        </p:nvSpPr>
        <p:spPr>
          <a:xfrm>
            <a:off x="8229600" y="4206240"/>
            <a:ext cx="2834640" cy="457200"/>
          </a:xfrm>
          <a:prstGeom prst="rect">
            <a:avLst/>
          </a:prstGeom>
          <a:noFill/>
        </p:spPr>
        <p:txBody>
          <a:bodyPr wrap="square">
            <a:spAutoFit/>
          </a:bodyPr>
          <a:lstStyle/>
          <a:p>
            <a:pPr algn="ctr">
              <a:defRPr sz="1500" b="1">
                <a:solidFill>
                  <a:srgbClr val="B9C2CE"/>
                </a:solidFill>
                <a:latin typeface="Public Sans"/>
              </a:defRPr>
            </a:pPr>
            <a:r>
              <a:t>0.3% error rate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B9C2CE"/>
                </a:solidFill>
                <a:latin typeface="Nohemi"/>
              </a:defRPr>
            </a:pPr>
            <a:r>
              <a:t>13  REALITY CHECK</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FFFFFF"/>
                </a:solidFill>
                <a:latin typeface="Nohemi"/>
              </a:defRPr>
            </a:pPr>
            <a:r>
              <a:t>Challenges</a:t>
            </a:r>
          </a:p>
        </p:txBody>
      </p:sp>
      <p:pic>
        <p:nvPicPr>
          <p:cNvPr id="5" name="Picture 4" descr="mcit-divider.png"/>
          <p:cNvPicPr>
            <a:picLocks noChangeAspect="1"/>
          </p:cNvPicPr>
          <p:nvPr/>
        </p:nvPicPr>
        <p:blipFill>
          <a:blip r:embed="rId2"/>
          <a:stretch>
            <a:fillRect/>
          </a:stretch>
        </p:blipFill>
        <p:spPr>
          <a:xfrm>
            <a:off x="731520" y="1691640"/>
            <a:ext cx="3657600" cy="114300"/>
          </a:xfrm>
          <a:prstGeom prst="rect">
            <a:avLst/>
          </a:prstGeom>
        </p:spPr>
      </p:pic>
      <p:pic>
        <p:nvPicPr>
          <p:cNvPr id="6" name="Picture 5" descr="mcit-footer.png"/>
          <p:cNvPicPr>
            <a:picLocks noChangeAspect="1"/>
          </p:cNvPicPr>
          <p:nvPr/>
        </p:nvPicPr>
        <p:blipFill>
          <a:blip r:embed="rId3"/>
          <a:stretch>
            <a:fillRect/>
          </a:stretch>
        </p:blipFill>
        <p:spPr>
          <a:xfrm>
            <a:off x="0" y="6309360"/>
            <a:ext cx="12191695" cy="548640"/>
          </a:xfrm>
          <a:prstGeom prst="rect">
            <a:avLst/>
          </a:prstGeom>
        </p:spPr>
      </p:pic>
      <p:sp>
        <p:nvSpPr>
          <p:cNvPr id="7" name="TextBox 6"/>
          <p:cNvSpPr txBox="1"/>
          <p:nvPr/>
        </p:nvSpPr>
        <p:spPr>
          <a:xfrm>
            <a:off x="731520" y="6419088"/>
            <a:ext cx="1828800" cy="320040"/>
          </a:xfrm>
          <a:prstGeom prst="rect">
            <a:avLst/>
          </a:prstGeom>
          <a:noFill/>
        </p:spPr>
        <p:txBody>
          <a:bodyPr wrap="square">
            <a:spAutoFit/>
          </a:bodyPr>
          <a:lstStyle/>
          <a:p>
            <a:pPr algn="l">
              <a:defRPr sz="1200" b="0">
                <a:solidFill>
                  <a:srgbClr val="8A9BA8"/>
                </a:solidFill>
                <a:latin typeface="Public Sans"/>
              </a:defRPr>
            </a:pPr>
            <a:r>
              <a:t>13</a:t>
            </a:r>
          </a:p>
        </p:txBody>
      </p:sp>
      <p:sp>
        <p:nvSpPr>
          <p:cNvPr id="8" name="TextBox 7"/>
          <p:cNvSpPr txBox="1"/>
          <p:nvPr/>
        </p:nvSpPr>
        <p:spPr>
          <a:xfrm>
            <a:off x="9601200" y="6419088"/>
            <a:ext cx="1828800" cy="320040"/>
          </a:xfrm>
          <a:prstGeom prst="rect">
            <a:avLst/>
          </a:prstGeom>
          <a:noFill/>
        </p:spPr>
        <p:txBody>
          <a:bodyPr wrap="square">
            <a:spAutoFit/>
          </a:bodyPr>
          <a:lstStyle/>
          <a:p>
            <a:pPr algn="r">
              <a:defRPr sz="1200" b="0">
                <a:solidFill>
                  <a:srgbClr val="8A9BA8"/>
                </a:solidFill>
                <a:latin typeface="Public Sans"/>
              </a:defRPr>
            </a:pPr>
            <a:r>
              <a:t>MCIT 2026</a:t>
            </a:r>
          </a:p>
        </p:txBody>
      </p:sp>
      <p:sp>
        <p:nvSpPr>
          <p:cNvPr id="9" name="Rounded Rectangle 8"/>
          <p:cNvSpPr/>
          <p:nvPr/>
        </p:nvSpPr>
        <p:spPr>
          <a:xfrm>
            <a:off x="731520" y="2331720"/>
            <a:ext cx="10698480" cy="804672"/>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331720"/>
            <a:ext cx="91440" cy="804672"/>
          </a:xfrm>
          <a:prstGeom prst="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404872"/>
            <a:ext cx="2011680" cy="457200"/>
          </a:xfrm>
          <a:prstGeom prst="rect">
            <a:avLst/>
          </a:prstGeom>
          <a:noFill/>
        </p:spPr>
        <p:txBody>
          <a:bodyPr wrap="square">
            <a:spAutoFit/>
          </a:bodyPr>
          <a:lstStyle/>
          <a:p>
            <a:pPr algn="l">
              <a:defRPr sz="1800" b="1">
                <a:solidFill>
                  <a:srgbClr val="B9C2CE"/>
                </a:solidFill>
                <a:latin typeface="Nohemi"/>
              </a:defRPr>
            </a:pPr>
            <a:r>
              <a:t>Connectivity</a:t>
            </a:r>
          </a:p>
        </p:txBody>
      </p:sp>
      <p:sp>
        <p:nvSpPr>
          <p:cNvPr id="12" name="TextBox 11"/>
          <p:cNvSpPr txBox="1"/>
          <p:nvPr/>
        </p:nvSpPr>
        <p:spPr>
          <a:xfrm>
            <a:off x="3291840" y="2423160"/>
            <a:ext cx="7680960" cy="621792"/>
          </a:xfrm>
          <a:prstGeom prst="rect">
            <a:avLst/>
          </a:prstGeom>
          <a:noFill/>
        </p:spPr>
        <p:txBody>
          <a:bodyPr wrap="square">
            <a:spAutoFit/>
          </a:bodyPr>
          <a:lstStyle/>
          <a:p>
            <a:pPr algn="l">
              <a:defRPr sz="1600" b="0">
                <a:solidFill>
                  <a:srgbClr val="FFFFFF"/>
                </a:solidFill>
                <a:latin typeface="Public Sans"/>
              </a:defRPr>
            </a:pPr>
            <a:r>
              <a:t>Rural gaps limit access. Mobile units cover 40% of underserved areas; 2027 plan reaches 85%.</a:t>
            </a:r>
          </a:p>
        </p:txBody>
      </p:sp>
      <p:sp>
        <p:nvSpPr>
          <p:cNvPr id="13" name="Rounded Rectangle 12"/>
          <p:cNvSpPr/>
          <p:nvPr/>
        </p:nvSpPr>
        <p:spPr>
          <a:xfrm>
            <a:off x="731520" y="3264408"/>
            <a:ext cx="10698480" cy="804672"/>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264408"/>
            <a:ext cx="91440" cy="804672"/>
          </a:xfrm>
          <a:prstGeom prst="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337560"/>
            <a:ext cx="2011680" cy="457200"/>
          </a:xfrm>
          <a:prstGeom prst="rect">
            <a:avLst/>
          </a:prstGeom>
          <a:noFill/>
        </p:spPr>
        <p:txBody>
          <a:bodyPr wrap="square">
            <a:spAutoFit/>
          </a:bodyPr>
          <a:lstStyle/>
          <a:p>
            <a:pPr algn="l">
              <a:defRPr sz="1800" b="1">
                <a:solidFill>
                  <a:srgbClr val="B9C2CE"/>
                </a:solidFill>
                <a:latin typeface="Nohemi"/>
              </a:defRPr>
            </a:pPr>
            <a:r>
              <a:t>Digital literacy</a:t>
            </a:r>
          </a:p>
        </p:txBody>
      </p:sp>
      <p:sp>
        <p:nvSpPr>
          <p:cNvPr id="16" name="TextBox 15"/>
          <p:cNvSpPr txBox="1"/>
          <p:nvPr/>
        </p:nvSpPr>
        <p:spPr>
          <a:xfrm>
            <a:off x="3291840" y="3355848"/>
            <a:ext cx="7680960" cy="621792"/>
          </a:xfrm>
          <a:prstGeom prst="rect">
            <a:avLst/>
          </a:prstGeom>
          <a:noFill/>
        </p:spPr>
        <p:txBody>
          <a:bodyPr wrap="square">
            <a:spAutoFit/>
          </a:bodyPr>
          <a:lstStyle/>
          <a:p>
            <a:pPr algn="l">
              <a:defRPr sz="1600" b="0">
                <a:solidFill>
                  <a:srgbClr val="FFFFFF"/>
                </a:solidFill>
                <a:latin typeface="Public Sans"/>
              </a:defRPr>
            </a:pPr>
            <a:r>
              <a:t>Programs need wider reach among elderly citizens. Assisted centers scale 120 to 400.</a:t>
            </a:r>
          </a:p>
        </p:txBody>
      </p:sp>
      <p:sp>
        <p:nvSpPr>
          <p:cNvPr id="17" name="Rounded Rectangle 16"/>
          <p:cNvSpPr/>
          <p:nvPr/>
        </p:nvSpPr>
        <p:spPr>
          <a:xfrm>
            <a:off x="731520" y="4197096"/>
            <a:ext cx="10698480" cy="804672"/>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197096"/>
            <a:ext cx="91440" cy="804672"/>
          </a:xfrm>
          <a:prstGeom prst="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270248"/>
            <a:ext cx="2011680" cy="457200"/>
          </a:xfrm>
          <a:prstGeom prst="rect">
            <a:avLst/>
          </a:prstGeom>
          <a:noFill/>
        </p:spPr>
        <p:txBody>
          <a:bodyPr wrap="square">
            <a:spAutoFit/>
          </a:bodyPr>
          <a:lstStyle/>
          <a:p>
            <a:pPr algn="l">
              <a:defRPr sz="1800" b="1">
                <a:solidFill>
                  <a:srgbClr val="B9C2CE"/>
                </a:solidFill>
                <a:latin typeface="Nohemi"/>
              </a:defRPr>
            </a:pPr>
            <a:r>
              <a:t>Legacy systems</a:t>
            </a:r>
          </a:p>
        </p:txBody>
      </p:sp>
      <p:sp>
        <p:nvSpPr>
          <p:cNvPr id="20" name="TextBox 19"/>
          <p:cNvSpPr txBox="1"/>
          <p:nvPr/>
        </p:nvSpPr>
        <p:spPr>
          <a:xfrm>
            <a:off x="3291840" y="4288536"/>
            <a:ext cx="7680960" cy="621792"/>
          </a:xfrm>
          <a:prstGeom prst="rect">
            <a:avLst/>
          </a:prstGeom>
          <a:noFill/>
        </p:spPr>
        <p:txBody>
          <a:bodyPr wrap="square">
            <a:spAutoFit/>
          </a:bodyPr>
          <a:lstStyle/>
          <a:p>
            <a:pPr algn="l">
              <a:defRPr sz="1600" b="0">
                <a:solidFill>
                  <a:srgbClr val="FFFFFF"/>
                </a:solidFill>
                <a:latin typeface="Public Sans"/>
              </a:defRPr>
            </a:pPr>
            <a:r>
              <a:t>Three ministries on decades-old infrastructure. Dedicated teams; Q2 2027 target.</a:t>
            </a:r>
          </a:p>
        </p:txBody>
      </p:sp>
      <p:sp>
        <p:nvSpPr>
          <p:cNvPr id="21" name="Rounded Rectangle 20"/>
          <p:cNvSpPr/>
          <p:nvPr/>
        </p:nvSpPr>
        <p:spPr>
          <a:xfrm>
            <a:off x="731520" y="5129783"/>
            <a:ext cx="10698480" cy="804672"/>
          </a:xfrm>
          <a:prstGeom prst="roundRect">
            <a:avLst/>
          </a:prstGeom>
          <a:solidFill>
            <a:srgbClr val="0D2036"/>
          </a:solidFill>
          <a:ln w="12700">
            <a:solidFill>
              <a:srgbClr val="1E2E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129783"/>
            <a:ext cx="91440" cy="804672"/>
          </a:xfrm>
          <a:prstGeom prst="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202936"/>
            <a:ext cx="2011680" cy="457200"/>
          </a:xfrm>
          <a:prstGeom prst="rect">
            <a:avLst/>
          </a:prstGeom>
          <a:noFill/>
        </p:spPr>
        <p:txBody>
          <a:bodyPr wrap="square">
            <a:spAutoFit/>
          </a:bodyPr>
          <a:lstStyle/>
          <a:p>
            <a:pPr algn="l">
              <a:defRPr sz="1800" b="1">
                <a:solidFill>
                  <a:srgbClr val="B9C2CE"/>
                </a:solidFill>
                <a:latin typeface="Nohemi"/>
              </a:defRPr>
            </a:pPr>
            <a:r>
              <a:t>Peak load</a:t>
            </a:r>
          </a:p>
        </p:txBody>
      </p:sp>
      <p:sp>
        <p:nvSpPr>
          <p:cNvPr id="24" name="TextBox 23"/>
          <p:cNvSpPr txBox="1"/>
          <p:nvPr/>
        </p:nvSpPr>
        <p:spPr>
          <a:xfrm>
            <a:off x="3291840" y="5221223"/>
            <a:ext cx="7680960" cy="621792"/>
          </a:xfrm>
          <a:prstGeom prst="rect">
            <a:avLst/>
          </a:prstGeom>
          <a:noFill/>
        </p:spPr>
        <p:txBody>
          <a:bodyPr wrap="square">
            <a:spAutoFit/>
          </a:bodyPr>
          <a:lstStyle/>
          <a:p>
            <a:pPr algn="l">
              <a:defRPr sz="1600" b="0">
                <a:solidFill>
                  <a:srgbClr val="FFFFFF"/>
                </a:solidFill>
                <a:latin typeface="Public Sans"/>
              </a:defRPr>
            </a:pPr>
            <a:r>
              <a:t>Tax season slowdowns. Auto-scaling Q1 2027, tested at 5x peak.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5E6B7A"/>
                </a:solidFill>
                <a:latin typeface="Nohemi"/>
              </a:defRPr>
            </a:pPr>
            <a:r>
              <a:t>14  STRATEGY</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0A1A2F"/>
                </a:solidFill>
                <a:latin typeface="Nohemi"/>
              </a:defRPr>
            </a:pPr>
            <a:r>
              <a:t>2027 Strategic Priorities</a:t>
            </a:r>
          </a:p>
        </p:txBody>
      </p:sp>
      <p:sp>
        <p:nvSpPr>
          <p:cNvPr id="5" name="TextBox 4"/>
          <p:cNvSpPr txBox="1"/>
          <p:nvPr/>
        </p:nvSpPr>
        <p:spPr>
          <a:xfrm>
            <a:off x="731520" y="2286000"/>
            <a:ext cx="914400" cy="548640"/>
          </a:xfrm>
          <a:prstGeom prst="rect">
            <a:avLst/>
          </a:prstGeom>
          <a:noFill/>
        </p:spPr>
        <p:txBody>
          <a:bodyPr wrap="square">
            <a:spAutoFit/>
          </a:bodyPr>
          <a:lstStyle/>
          <a:p>
            <a:pPr algn="l">
              <a:defRPr sz="2800" b="1">
                <a:solidFill>
                  <a:srgbClr val="B9C2CE"/>
                </a:solidFill>
                <a:latin typeface="Nohemi"/>
              </a:defRPr>
            </a:pPr>
            <a:r>
              <a:t>01</a:t>
            </a:r>
          </a:p>
        </p:txBody>
      </p:sp>
      <p:sp>
        <p:nvSpPr>
          <p:cNvPr id="6" name="TextBox 5"/>
          <p:cNvSpPr txBox="1"/>
          <p:nvPr/>
        </p:nvSpPr>
        <p:spPr>
          <a:xfrm>
            <a:off x="1737360" y="2286000"/>
            <a:ext cx="5029200" cy="548640"/>
          </a:xfrm>
          <a:prstGeom prst="rect">
            <a:avLst/>
          </a:prstGeom>
          <a:noFill/>
        </p:spPr>
        <p:txBody>
          <a:bodyPr wrap="square">
            <a:spAutoFit/>
          </a:bodyPr>
          <a:lstStyle/>
          <a:p>
            <a:pPr algn="l">
              <a:defRPr sz="2000" b="1">
                <a:solidFill>
                  <a:srgbClr val="0A1A2F"/>
                </a:solidFill>
                <a:latin typeface="Nohemi"/>
              </a:defRPr>
            </a:pPr>
            <a:r>
              <a:t>5 million citizens</a:t>
            </a:r>
          </a:p>
        </p:txBody>
      </p:sp>
      <p:sp>
        <p:nvSpPr>
          <p:cNvPr id="7" name="TextBox 6"/>
          <p:cNvSpPr txBox="1"/>
          <p:nvPr/>
        </p:nvSpPr>
        <p:spPr>
          <a:xfrm>
            <a:off x="1737360" y="2761488"/>
            <a:ext cx="9601200" cy="457200"/>
          </a:xfrm>
          <a:prstGeom prst="rect">
            <a:avLst/>
          </a:prstGeom>
          <a:noFill/>
        </p:spPr>
        <p:txBody>
          <a:bodyPr wrap="square">
            <a:spAutoFit/>
          </a:bodyPr>
          <a:lstStyle/>
          <a:p>
            <a:pPr algn="l">
              <a:defRPr sz="1600" b="0">
                <a:solidFill>
                  <a:srgbClr val="5E6B7A"/>
                </a:solidFill>
                <a:latin typeface="Public Sans"/>
              </a:defRPr>
            </a:pPr>
            <a:r>
              <a:t>Double the base via rural expansion and assisted onboarding</a:t>
            </a:r>
          </a:p>
        </p:txBody>
      </p:sp>
      <p:sp>
        <p:nvSpPr>
          <p:cNvPr id="8" name="TextBox 7"/>
          <p:cNvSpPr txBox="1"/>
          <p:nvPr/>
        </p:nvSpPr>
        <p:spPr>
          <a:xfrm>
            <a:off x="731520" y="3246120"/>
            <a:ext cx="914400" cy="548640"/>
          </a:xfrm>
          <a:prstGeom prst="rect">
            <a:avLst/>
          </a:prstGeom>
          <a:noFill/>
        </p:spPr>
        <p:txBody>
          <a:bodyPr wrap="square">
            <a:spAutoFit/>
          </a:bodyPr>
          <a:lstStyle/>
          <a:p>
            <a:pPr algn="l">
              <a:defRPr sz="2800" b="1">
                <a:solidFill>
                  <a:srgbClr val="B9C2CE"/>
                </a:solidFill>
                <a:latin typeface="Nohemi"/>
              </a:defRPr>
            </a:pPr>
            <a:r>
              <a:t>02</a:t>
            </a:r>
          </a:p>
        </p:txBody>
      </p:sp>
      <p:sp>
        <p:nvSpPr>
          <p:cNvPr id="9" name="TextBox 8"/>
          <p:cNvSpPr txBox="1"/>
          <p:nvPr/>
        </p:nvSpPr>
        <p:spPr>
          <a:xfrm>
            <a:off x="1737360" y="3246120"/>
            <a:ext cx="5029200" cy="548640"/>
          </a:xfrm>
          <a:prstGeom prst="rect">
            <a:avLst/>
          </a:prstGeom>
          <a:noFill/>
        </p:spPr>
        <p:txBody>
          <a:bodyPr wrap="square">
            <a:spAutoFit/>
          </a:bodyPr>
          <a:lstStyle/>
          <a:p>
            <a:pPr algn="l">
              <a:defRPr sz="2000" b="1">
                <a:solidFill>
                  <a:srgbClr val="0A1A2F"/>
                </a:solidFill>
                <a:latin typeface="Nohemi"/>
              </a:defRPr>
            </a:pPr>
            <a:r>
              <a:t>90% digitized</a:t>
            </a:r>
          </a:p>
        </p:txBody>
      </p:sp>
      <p:sp>
        <p:nvSpPr>
          <p:cNvPr id="10" name="TextBox 9"/>
          <p:cNvSpPr txBox="1"/>
          <p:nvPr/>
        </p:nvSpPr>
        <p:spPr>
          <a:xfrm>
            <a:off x="1737360" y="3721608"/>
            <a:ext cx="9601200" cy="457200"/>
          </a:xfrm>
          <a:prstGeom prst="rect">
            <a:avLst/>
          </a:prstGeom>
          <a:noFill/>
        </p:spPr>
        <p:txBody>
          <a:bodyPr wrap="square">
            <a:spAutoFit/>
          </a:bodyPr>
          <a:lstStyle/>
          <a:p>
            <a:pPr algn="l">
              <a:defRPr sz="1600" b="0">
                <a:solidFill>
                  <a:srgbClr val="5E6B7A"/>
                </a:solidFill>
                <a:latin typeface="Public Sans"/>
              </a:defRPr>
            </a:pPr>
            <a:r>
              <a:t>Complete the long tail of specialized ministry workflows</a:t>
            </a:r>
          </a:p>
        </p:txBody>
      </p:sp>
      <p:sp>
        <p:nvSpPr>
          <p:cNvPr id="11" name="TextBox 10"/>
          <p:cNvSpPr txBox="1"/>
          <p:nvPr/>
        </p:nvSpPr>
        <p:spPr>
          <a:xfrm>
            <a:off x="731520" y="4206240"/>
            <a:ext cx="914400" cy="548640"/>
          </a:xfrm>
          <a:prstGeom prst="rect">
            <a:avLst/>
          </a:prstGeom>
          <a:noFill/>
        </p:spPr>
        <p:txBody>
          <a:bodyPr wrap="square">
            <a:spAutoFit/>
          </a:bodyPr>
          <a:lstStyle/>
          <a:p>
            <a:pPr algn="l">
              <a:defRPr sz="2800" b="1">
                <a:solidFill>
                  <a:srgbClr val="B9C2CE"/>
                </a:solidFill>
                <a:latin typeface="Nohemi"/>
              </a:defRPr>
            </a:pPr>
            <a:r>
              <a:t>03</a:t>
            </a:r>
          </a:p>
        </p:txBody>
      </p:sp>
      <p:sp>
        <p:nvSpPr>
          <p:cNvPr id="12" name="TextBox 11"/>
          <p:cNvSpPr txBox="1"/>
          <p:nvPr/>
        </p:nvSpPr>
        <p:spPr>
          <a:xfrm>
            <a:off x="1737360" y="4206240"/>
            <a:ext cx="5029200" cy="548640"/>
          </a:xfrm>
          <a:prstGeom prst="rect">
            <a:avLst/>
          </a:prstGeom>
          <a:noFill/>
        </p:spPr>
        <p:txBody>
          <a:bodyPr wrap="square">
            <a:spAutoFit/>
          </a:bodyPr>
          <a:lstStyle/>
          <a:p>
            <a:pPr algn="l">
              <a:defRPr sz="2000" b="1">
                <a:solidFill>
                  <a:srgbClr val="0A1A2F"/>
                </a:solidFill>
                <a:latin typeface="Nohemi"/>
              </a:defRPr>
            </a:pPr>
            <a:r>
              <a:t>Predictive services</a:t>
            </a:r>
          </a:p>
        </p:txBody>
      </p:sp>
      <p:sp>
        <p:nvSpPr>
          <p:cNvPr id="13" name="TextBox 12"/>
          <p:cNvSpPr txBox="1"/>
          <p:nvPr/>
        </p:nvSpPr>
        <p:spPr>
          <a:xfrm>
            <a:off x="1737360" y="4681727"/>
            <a:ext cx="9601200" cy="457200"/>
          </a:xfrm>
          <a:prstGeom prst="rect">
            <a:avLst/>
          </a:prstGeom>
          <a:noFill/>
        </p:spPr>
        <p:txBody>
          <a:bodyPr wrap="square">
            <a:spAutoFit/>
          </a:bodyPr>
          <a:lstStyle/>
          <a:p>
            <a:pPr algn="l">
              <a:defRPr sz="1600" b="0">
                <a:solidFill>
                  <a:srgbClr val="5E6B7A"/>
                </a:solidFill>
                <a:latin typeface="Public Sans"/>
              </a:defRPr>
            </a:pPr>
            <a:r>
              <a:t>AI anticipates citizen needs before they apply</a:t>
            </a:r>
          </a:p>
        </p:txBody>
      </p:sp>
      <p:sp>
        <p:nvSpPr>
          <p:cNvPr id="14" name="TextBox 13"/>
          <p:cNvSpPr txBox="1"/>
          <p:nvPr/>
        </p:nvSpPr>
        <p:spPr>
          <a:xfrm>
            <a:off x="731520" y="5166360"/>
            <a:ext cx="914400" cy="548640"/>
          </a:xfrm>
          <a:prstGeom prst="rect">
            <a:avLst/>
          </a:prstGeom>
          <a:noFill/>
        </p:spPr>
        <p:txBody>
          <a:bodyPr wrap="square">
            <a:spAutoFit/>
          </a:bodyPr>
          <a:lstStyle/>
          <a:p>
            <a:pPr algn="l">
              <a:defRPr sz="2800" b="1">
                <a:solidFill>
                  <a:srgbClr val="B9C2CE"/>
                </a:solidFill>
                <a:latin typeface="Nohemi"/>
              </a:defRPr>
            </a:pPr>
            <a:r>
              <a:t>04</a:t>
            </a:r>
          </a:p>
        </p:txBody>
      </p:sp>
      <p:sp>
        <p:nvSpPr>
          <p:cNvPr id="15" name="TextBox 14"/>
          <p:cNvSpPr txBox="1"/>
          <p:nvPr/>
        </p:nvSpPr>
        <p:spPr>
          <a:xfrm>
            <a:off x="1737360" y="5166360"/>
            <a:ext cx="5029200" cy="548640"/>
          </a:xfrm>
          <a:prstGeom prst="rect">
            <a:avLst/>
          </a:prstGeom>
          <a:noFill/>
        </p:spPr>
        <p:txBody>
          <a:bodyPr wrap="square">
            <a:spAutoFit/>
          </a:bodyPr>
          <a:lstStyle/>
          <a:p>
            <a:pPr algn="l">
              <a:defRPr sz="2000" b="1">
                <a:solidFill>
                  <a:srgbClr val="0A1A2F"/>
                </a:solidFill>
                <a:latin typeface="Nohemi"/>
              </a:defRPr>
            </a:pPr>
            <a:r>
              <a:t>Regional leadership</a:t>
            </a:r>
          </a:p>
        </p:txBody>
      </p:sp>
      <p:sp>
        <p:nvSpPr>
          <p:cNvPr id="16" name="TextBox 15"/>
          <p:cNvSpPr txBox="1"/>
          <p:nvPr/>
        </p:nvSpPr>
        <p:spPr>
          <a:xfrm>
            <a:off x="1737360" y="5641848"/>
            <a:ext cx="9601200" cy="457200"/>
          </a:xfrm>
          <a:prstGeom prst="rect">
            <a:avLst/>
          </a:prstGeom>
          <a:noFill/>
        </p:spPr>
        <p:txBody>
          <a:bodyPr wrap="square">
            <a:spAutoFit/>
          </a:bodyPr>
          <a:lstStyle/>
          <a:p>
            <a:pPr algn="l">
              <a:defRPr sz="1600" b="0">
                <a:solidFill>
                  <a:srgbClr val="5E6B7A"/>
                </a:solidFill>
                <a:latin typeface="Public Sans"/>
              </a:defRPr>
            </a:pPr>
            <a:r>
              <a:t>Export platform expertise; set the Arab digital standard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B9C2CE"/>
                </a:solidFill>
                <a:latin typeface="Nohemi"/>
              </a:defRPr>
            </a:pPr>
            <a:r>
              <a:t>15  INVESTMENT</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FFFFFF"/>
                </a:solidFill>
                <a:latin typeface="Nohemi"/>
              </a:defRPr>
            </a:pPr>
            <a:r>
              <a:t>2027 Budget Allocation</a:t>
            </a:r>
          </a:p>
        </p:txBody>
      </p:sp>
      <p:pic>
        <p:nvPicPr>
          <p:cNvPr id="5" name="Picture 4" descr="mcit-divider.png"/>
          <p:cNvPicPr>
            <a:picLocks noChangeAspect="1"/>
          </p:cNvPicPr>
          <p:nvPr/>
        </p:nvPicPr>
        <p:blipFill>
          <a:blip r:embed="rId2"/>
          <a:stretch>
            <a:fillRect/>
          </a:stretch>
        </p:blipFill>
        <p:spPr>
          <a:xfrm>
            <a:off x="731520" y="1691640"/>
            <a:ext cx="3657600" cy="114300"/>
          </a:xfrm>
          <a:prstGeom prst="rect">
            <a:avLst/>
          </a:prstGeom>
        </p:spPr>
      </p:pic>
      <p:pic>
        <p:nvPicPr>
          <p:cNvPr id="6" name="Picture 5" descr="mcit-footer.png"/>
          <p:cNvPicPr>
            <a:picLocks noChangeAspect="1"/>
          </p:cNvPicPr>
          <p:nvPr/>
        </p:nvPicPr>
        <p:blipFill>
          <a:blip r:embed="rId3"/>
          <a:stretch>
            <a:fillRect/>
          </a:stretch>
        </p:blipFill>
        <p:spPr>
          <a:xfrm>
            <a:off x="0" y="6309360"/>
            <a:ext cx="12191695" cy="548640"/>
          </a:xfrm>
          <a:prstGeom prst="rect">
            <a:avLst/>
          </a:prstGeom>
        </p:spPr>
      </p:pic>
      <p:sp>
        <p:nvSpPr>
          <p:cNvPr id="7" name="TextBox 6"/>
          <p:cNvSpPr txBox="1"/>
          <p:nvPr/>
        </p:nvSpPr>
        <p:spPr>
          <a:xfrm>
            <a:off x="731520" y="6419088"/>
            <a:ext cx="1828800" cy="320040"/>
          </a:xfrm>
          <a:prstGeom prst="rect">
            <a:avLst/>
          </a:prstGeom>
          <a:noFill/>
        </p:spPr>
        <p:txBody>
          <a:bodyPr wrap="square">
            <a:spAutoFit/>
          </a:bodyPr>
          <a:lstStyle/>
          <a:p>
            <a:pPr algn="l">
              <a:defRPr sz="1200" b="0">
                <a:solidFill>
                  <a:srgbClr val="8A9BA8"/>
                </a:solidFill>
                <a:latin typeface="Public Sans"/>
              </a:defRPr>
            </a:pPr>
            <a:r>
              <a:t>15</a:t>
            </a:r>
          </a:p>
        </p:txBody>
      </p:sp>
      <p:sp>
        <p:nvSpPr>
          <p:cNvPr id="8" name="TextBox 7"/>
          <p:cNvSpPr txBox="1"/>
          <p:nvPr/>
        </p:nvSpPr>
        <p:spPr>
          <a:xfrm>
            <a:off x="9601200" y="6419088"/>
            <a:ext cx="1828800" cy="320040"/>
          </a:xfrm>
          <a:prstGeom prst="rect">
            <a:avLst/>
          </a:prstGeom>
          <a:noFill/>
        </p:spPr>
        <p:txBody>
          <a:bodyPr wrap="square">
            <a:spAutoFit/>
          </a:bodyPr>
          <a:lstStyle/>
          <a:p>
            <a:pPr algn="r">
              <a:defRPr sz="1200" b="0">
                <a:solidFill>
                  <a:srgbClr val="8A9BA8"/>
                </a:solidFill>
                <a:latin typeface="Public Sans"/>
              </a:defRPr>
            </a:pPr>
            <a:r>
              <a:t>MCIT 2026</a:t>
            </a:r>
          </a:p>
        </p:txBody>
      </p:sp>
      <p:sp>
        <p:nvSpPr>
          <p:cNvPr id="9" name="Freeform 8"/>
          <p:cNvSpPr/>
          <p:nvPr/>
        </p:nvSpPr>
        <p:spPr>
          <a:xfrm>
            <a:off x="3108960" y="2651760"/>
            <a:ext cx="1370923" cy="2177806"/>
          </a:xfrm>
          <a:custGeom>
            <a:avLst/>
            <a:gdLst/>
            <a:ahLst/>
            <a:cxnLst/>
            <a:rect l="l" t="t" r="r" b="b"/>
            <a:pathLst>
              <a:path w="1370923" h="2177806">
                <a:moveTo>
                  <a:pt x="0" y="0"/>
                </a:moveTo>
                <a:lnTo>
                  <a:pt x="150511" y="8283"/>
                </a:lnTo>
                <a:lnTo>
                  <a:pt x="299205" y="33032"/>
                </a:lnTo>
                <a:lnTo>
                  <a:pt x="444285" y="73949"/>
                </a:lnTo>
                <a:lnTo>
                  <a:pt x="583998" y="130539"/>
                </a:lnTo>
                <a:lnTo>
                  <a:pt x="716659" y="202118"/>
                </a:lnTo>
                <a:lnTo>
                  <a:pt x="840663" y="287823"/>
                </a:lnTo>
                <a:lnTo>
                  <a:pt x="954513" y="386617"/>
                </a:lnTo>
                <a:lnTo>
                  <a:pt x="1056835" y="497309"/>
                </a:lnTo>
                <a:lnTo>
                  <a:pt x="1146393" y="618560"/>
                </a:lnTo>
                <a:lnTo>
                  <a:pt x="1222104" y="748906"/>
                </a:lnTo>
                <a:lnTo>
                  <a:pt x="1283055" y="886773"/>
                </a:lnTo>
                <a:lnTo>
                  <a:pt x="1328508" y="1030496"/>
                </a:lnTo>
                <a:lnTo>
                  <a:pt x="1357916" y="1178339"/>
                </a:lnTo>
                <a:lnTo>
                  <a:pt x="1370923" y="1328517"/>
                </a:lnTo>
                <a:lnTo>
                  <a:pt x="1367371" y="1479214"/>
                </a:lnTo>
                <a:lnTo>
                  <a:pt x="1347305" y="1628612"/>
                </a:lnTo>
                <a:lnTo>
                  <a:pt x="1310965" y="1774905"/>
                </a:lnTo>
                <a:lnTo>
                  <a:pt x="1258792" y="1916328"/>
                </a:lnTo>
                <a:lnTo>
                  <a:pt x="1191414" y="2051171"/>
                </a:lnTo>
                <a:lnTo>
                  <a:pt x="1109647" y="2177806"/>
                </a:lnTo>
                <a:lnTo>
                  <a:pt x="606607" y="1812326"/>
                </a:lnTo>
                <a:lnTo>
                  <a:pt x="651306" y="1743098"/>
                </a:lnTo>
                <a:lnTo>
                  <a:pt x="688139" y="1669384"/>
                </a:lnTo>
                <a:lnTo>
                  <a:pt x="716661" y="1592073"/>
                </a:lnTo>
                <a:lnTo>
                  <a:pt x="736526" y="1512100"/>
                </a:lnTo>
                <a:lnTo>
                  <a:pt x="747496" y="1430429"/>
                </a:lnTo>
                <a:lnTo>
                  <a:pt x="749438" y="1348047"/>
                </a:lnTo>
                <a:lnTo>
                  <a:pt x="742327" y="1265951"/>
                </a:lnTo>
                <a:lnTo>
                  <a:pt x="726251" y="1185130"/>
                </a:lnTo>
                <a:lnTo>
                  <a:pt x="701403" y="1106561"/>
                </a:lnTo>
                <a:lnTo>
                  <a:pt x="668083" y="1031194"/>
                </a:lnTo>
                <a:lnTo>
                  <a:pt x="626695" y="959938"/>
                </a:lnTo>
                <a:lnTo>
                  <a:pt x="577736" y="893654"/>
                </a:lnTo>
                <a:lnTo>
                  <a:pt x="521800" y="833143"/>
                </a:lnTo>
                <a:lnTo>
                  <a:pt x="459562" y="779135"/>
                </a:lnTo>
                <a:lnTo>
                  <a:pt x="391773" y="732283"/>
                </a:lnTo>
                <a:lnTo>
                  <a:pt x="319252" y="693153"/>
                </a:lnTo>
                <a:lnTo>
                  <a:pt x="242875" y="662217"/>
                </a:lnTo>
                <a:lnTo>
                  <a:pt x="163565" y="639849"/>
                </a:lnTo>
                <a:lnTo>
                  <a:pt x="82279" y="626320"/>
                </a:lnTo>
                <a:lnTo>
                  <a:pt x="0" y="621792"/>
                </a:lnTo>
                <a:close/>
              </a:path>
            </a:pathLst>
          </a:custGeom>
          <a:solidFill>
            <a:srgbClr val="5E6B7A"/>
          </a:solidFill>
          <a:ln w="25400">
            <a:solidFill>
              <a:srgbClr val="0A1A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2302753" y="4464086"/>
            <a:ext cx="1915854" cy="930874"/>
          </a:xfrm>
          <a:custGeom>
            <a:avLst/>
            <a:gdLst/>
            <a:ahLst/>
            <a:cxnLst/>
            <a:rect l="l" t="t" r="r" b="b"/>
            <a:pathLst>
              <a:path w="1915854" h="930874">
                <a:moveTo>
                  <a:pt x="1915854" y="365480"/>
                </a:moveTo>
                <a:lnTo>
                  <a:pt x="1825504" y="477053"/>
                </a:lnTo>
                <a:lnTo>
                  <a:pt x="1723986" y="578571"/>
                </a:lnTo>
                <a:lnTo>
                  <a:pt x="1612413" y="668921"/>
                </a:lnTo>
                <a:lnTo>
                  <a:pt x="1492007" y="747114"/>
                </a:lnTo>
                <a:lnTo>
                  <a:pt x="1364086" y="812292"/>
                </a:lnTo>
                <a:lnTo>
                  <a:pt x="1230054" y="863743"/>
                </a:lnTo>
                <a:lnTo>
                  <a:pt x="1091378" y="900901"/>
                </a:lnTo>
                <a:lnTo>
                  <a:pt x="949578" y="923360"/>
                </a:lnTo>
                <a:lnTo>
                  <a:pt x="806207" y="930874"/>
                </a:lnTo>
                <a:lnTo>
                  <a:pt x="662835" y="923360"/>
                </a:lnTo>
                <a:lnTo>
                  <a:pt x="521035" y="900901"/>
                </a:lnTo>
                <a:lnTo>
                  <a:pt x="382359" y="863743"/>
                </a:lnTo>
                <a:lnTo>
                  <a:pt x="248327" y="812292"/>
                </a:lnTo>
                <a:lnTo>
                  <a:pt x="120406" y="747114"/>
                </a:lnTo>
                <a:lnTo>
                  <a:pt x="0" y="668921"/>
                </a:lnTo>
                <a:lnTo>
                  <a:pt x="365480" y="165881"/>
                </a:lnTo>
                <a:lnTo>
                  <a:pt x="431303" y="208626"/>
                </a:lnTo>
                <a:lnTo>
                  <a:pt x="501232" y="244257"/>
                </a:lnTo>
                <a:lnTo>
                  <a:pt x="574503" y="272383"/>
                </a:lnTo>
                <a:lnTo>
                  <a:pt x="650313" y="292696"/>
                </a:lnTo>
                <a:lnTo>
                  <a:pt x="727830" y="304974"/>
                </a:lnTo>
                <a:lnTo>
                  <a:pt x="806207" y="309082"/>
                </a:lnTo>
                <a:lnTo>
                  <a:pt x="884583" y="304974"/>
                </a:lnTo>
                <a:lnTo>
                  <a:pt x="962100" y="292696"/>
                </a:lnTo>
                <a:lnTo>
                  <a:pt x="1037910" y="272383"/>
                </a:lnTo>
                <a:lnTo>
                  <a:pt x="1111181" y="244257"/>
                </a:lnTo>
                <a:lnTo>
                  <a:pt x="1181111" y="208626"/>
                </a:lnTo>
                <a:lnTo>
                  <a:pt x="1246933" y="165881"/>
                </a:lnTo>
                <a:lnTo>
                  <a:pt x="1307926" y="116489"/>
                </a:lnTo>
                <a:lnTo>
                  <a:pt x="1363422" y="60993"/>
                </a:lnTo>
                <a:lnTo>
                  <a:pt x="1412814" y="0"/>
                </a:lnTo>
                <a:close/>
              </a:path>
            </a:pathLst>
          </a:custGeom>
          <a:solidFill>
            <a:srgbClr val="B9C2CE"/>
          </a:solidFill>
          <a:ln w="25400">
            <a:solidFill>
              <a:srgbClr val="0A1A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1737360" y="4023360"/>
            <a:ext cx="930873" cy="1109647"/>
          </a:xfrm>
          <a:custGeom>
            <a:avLst/>
            <a:gdLst/>
            <a:ahLst/>
            <a:cxnLst/>
            <a:rect l="l" t="t" r="r" b="b"/>
            <a:pathLst>
              <a:path w="930873" h="1109647">
                <a:moveTo>
                  <a:pt x="565393" y="1109647"/>
                </a:moveTo>
                <a:lnTo>
                  <a:pt x="453820" y="1019297"/>
                </a:lnTo>
                <a:lnTo>
                  <a:pt x="352302" y="917779"/>
                </a:lnTo>
                <a:lnTo>
                  <a:pt x="261952" y="806206"/>
                </a:lnTo>
                <a:lnTo>
                  <a:pt x="183759" y="685800"/>
                </a:lnTo>
                <a:lnTo>
                  <a:pt x="118581" y="557879"/>
                </a:lnTo>
                <a:lnTo>
                  <a:pt x="67130" y="423847"/>
                </a:lnTo>
                <a:lnTo>
                  <a:pt x="29972" y="285171"/>
                </a:lnTo>
                <a:lnTo>
                  <a:pt x="7513" y="143371"/>
                </a:lnTo>
                <a:lnTo>
                  <a:pt x="0" y="0"/>
                </a:lnTo>
                <a:lnTo>
                  <a:pt x="621792" y="0"/>
                </a:lnTo>
                <a:lnTo>
                  <a:pt x="625899" y="78376"/>
                </a:lnTo>
                <a:lnTo>
                  <a:pt x="638177" y="155893"/>
                </a:lnTo>
                <a:lnTo>
                  <a:pt x="658490" y="231703"/>
                </a:lnTo>
                <a:lnTo>
                  <a:pt x="686616" y="304974"/>
                </a:lnTo>
                <a:lnTo>
                  <a:pt x="722247" y="374904"/>
                </a:lnTo>
                <a:lnTo>
                  <a:pt x="764992" y="440726"/>
                </a:lnTo>
                <a:lnTo>
                  <a:pt x="814384" y="501719"/>
                </a:lnTo>
                <a:lnTo>
                  <a:pt x="869880" y="557215"/>
                </a:lnTo>
                <a:lnTo>
                  <a:pt x="930873" y="606607"/>
                </a:lnTo>
                <a:close/>
              </a:path>
            </a:pathLst>
          </a:custGeom>
          <a:solidFill>
            <a:srgbClr val="8A9BA8"/>
          </a:solidFill>
          <a:ln w="25400">
            <a:solidFill>
              <a:srgbClr val="0A1A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1737360" y="2913712"/>
            <a:ext cx="930873" cy="1109648"/>
          </a:xfrm>
          <a:custGeom>
            <a:avLst/>
            <a:gdLst/>
            <a:ahLst/>
            <a:cxnLst/>
            <a:rect l="l" t="t" r="r" b="b"/>
            <a:pathLst>
              <a:path w="930873" h="1109648">
                <a:moveTo>
                  <a:pt x="0" y="1109648"/>
                </a:moveTo>
                <a:lnTo>
                  <a:pt x="7513" y="966276"/>
                </a:lnTo>
                <a:lnTo>
                  <a:pt x="29972" y="824476"/>
                </a:lnTo>
                <a:lnTo>
                  <a:pt x="67130" y="685800"/>
                </a:lnTo>
                <a:lnTo>
                  <a:pt x="118581" y="551768"/>
                </a:lnTo>
                <a:lnTo>
                  <a:pt x="183759" y="423848"/>
                </a:lnTo>
                <a:lnTo>
                  <a:pt x="261952" y="303441"/>
                </a:lnTo>
                <a:lnTo>
                  <a:pt x="352302" y="191868"/>
                </a:lnTo>
                <a:lnTo>
                  <a:pt x="453820" y="90350"/>
                </a:lnTo>
                <a:lnTo>
                  <a:pt x="565393" y="0"/>
                </a:lnTo>
                <a:lnTo>
                  <a:pt x="930873" y="503040"/>
                </a:lnTo>
                <a:lnTo>
                  <a:pt x="869880" y="552432"/>
                </a:lnTo>
                <a:lnTo>
                  <a:pt x="814384" y="607928"/>
                </a:lnTo>
                <a:lnTo>
                  <a:pt x="764992" y="668921"/>
                </a:lnTo>
                <a:lnTo>
                  <a:pt x="722247" y="734744"/>
                </a:lnTo>
                <a:lnTo>
                  <a:pt x="686616" y="804673"/>
                </a:lnTo>
                <a:lnTo>
                  <a:pt x="658490" y="877944"/>
                </a:lnTo>
                <a:lnTo>
                  <a:pt x="638177" y="953754"/>
                </a:lnTo>
                <a:lnTo>
                  <a:pt x="625899" y="1031271"/>
                </a:lnTo>
                <a:lnTo>
                  <a:pt x="621792" y="1109648"/>
                </a:lnTo>
                <a:close/>
              </a:path>
            </a:pathLst>
          </a:custGeom>
          <a:solidFill>
            <a:srgbClr val="1E2E42"/>
          </a:solidFill>
          <a:ln w="25400">
            <a:solidFill>
              <a:srgbClr val="0A1A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2302753" y="2651760"/>
            <a:ext cx="806207" cy="764992"/>
          </a:xfrm>
          <a:custGeom>
            <a:avLst/>
            <a:gdLst/>
            <a:ahLst/>
            <a:cxnLst/>
            <a:rect l="l" t="t" r="r" b="b"/>
            <a:pathLst>
              <a:path w="806207" h="764992">
                <a:moveTo>
                  <a:pt x="0" y="261952"/>
                </a:moveTo>
                <a:lnTo>
                  <a:pt x="89547" y="202118"/>
                </a:lnTo>
                <a:lnTo>
                  <a:pt x="183513" y="149495"/>
                </a:lnTo>
                <a:lnTo>
                  <a:pt x="281318" y="104406"/>
                </a:lnTo>
                <a:lnTo>
                  <a:pt x="382359" y="67130"/>
                </a:lnTo>
                <a:lnTo>
                  <a:pt x="486013" y="37897"/>
                </a:lnTo>
                <a:lnTo>
                  <a:pt x="591641" y="16886"/>
                </a:lnTo>
                <a:lnTo>
                  <a:pt x="698592" y="4228"/>
                </a:lnTo>
                <a:lnTo>
                  <a:pt x="806206" y="0"/>
                </a:lnTo>
                <a:lnTo>
                  <a:pt x="806207" y="621792"/>
                </a:lnTo>
                <a:lnTo>
                  <a:pt x="747377" y="624103"/>
                </a:lnTo>
                <a:lnTo>
                  <a:pt x="688911" y="631023"/>
                </a:lnTo>
                <a:lnTo>
                  <a:pt x="631167" y="642509"/>
                </a:lnTo>
                <a:lnTo>
                  <a:pt x="574503" y="658490"/>
                </a:lnTo>
                <a:lnTo>
                  <a:pt x="519267" y="678867"/>
                </a:lnTo>
                <a:lnTo>
                  <a:pt x="465801" y="703516"/>
                </a:lnTo>
                <a:lnTo>
                  <a:pt x="414433" y="732283"/>
                </a:lnTo>
                <a:lnTo>
                  <a:pt x="365480" y="764992"/>
                </a:lnTo>
                <a:close/>
              </a:path>
            </a:pathLst>
          </a:custGeom>
          <a:solidFill>
            <a:srgbClr val="0A1A2F"/>
          </a:solidFill>
          <a:ln w="25400">
            <a:solidFill>
              <a:srgbClr val="0A1A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31720" y="3675888"/>
            <a:ext cx="1554480" cy="457200"/>
          </a:xfrm>
          <a:prstGeom prst="rect">
            <a:avLst/>
          </a:prstGeom>
          <a:noFill/>
        </p:spPr>
        <p:txBody>
          <a:bodyPr wrap="square">
            <a:spAutoFit/>
          </a:bodyPr>
          <a:lstStyle/>
          <a:p>
            <a:pPr algn="ctr">
              <a:defRPr sz="2600" b="1">
                <a:solidFill>
                  <a:srgbClr val="FFFFFF"/>
                </a:solidFill>
                <a:latin typeface="Nohemi"/>
              </a:defRPr>
            </a:pPr>
            <a:r>
              <a:t>2027</a:t>
            </a:r>
          </a:p>
        </p:txBody>
      </p:sp>
      <p:sp>
        <p:nvSpPr>
          <p:cNvPr id="15" name="TextBox 14"/>
          <p:cNvSpPr txBox="1"/>
          <p:nvPr/>
        </p:nvSpPr>
        <p:spPr>
          <a:xfrm>
            <a:off x="2331720" y="4069080"/>
            <a:ext cx="1554480" cy="365760"/>
          </a:xfrm>
          <a:prstGeom prst="rect">
            <a:avLst/>
          </a:prstGeom>
          <a:noFill/>
        </p:spPr>
        <p:txBody>
          <a:bodyPr wrap="square">
            <a:spAutoFit/>
          </a:bodyPr>
          <a:lstStyle/>
          <a:p>
            <a:pPr algn="ctr">
              <a:defRPr sz="1300" b="0">
                <a:solidFill>
                  <a:srgbClr val="8A9BA8"/>
                </a:solidFill>
                <a:latin typeface="Public Sans"/>
              </a:defRPr>
            </a:pPr>
            <a:r>
              <a:t>BUDGET</a:t>
            </a:r>
          </a:p>
        </p:txBody>
      </p:sp>
      <p:sp>
        <p:nvSpPr>
          <p:cNvPr id="16" name="Rectangle 15"/>
          <p:cNvSpPr/>
          <p:nvPr/>
        </p:nvSpPr>
        <p:spPr>
          <a:xfrm>
            <a:off x="5852160" y="2578608"/>
            <a:ext cx="320040" cy="320040"/>
          </a:xfrm>
          <a:prstGeom prst="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468880"/>
            <a:ext cx="2926080" cy="457200"/>
          </a:xfrm>
          <a:prstGeom prst="rect">
            <a:avLst/>
          </a:prstGeom>
          <a:noFill/>
        </p:spPr>
        <p:txBody>
          <a:bodyPr wrap="square">
            <a:spAutoFit/>
          </a:bodyPr>
          <a:lstStyle/>
          <a:p>
            <a:pPr algn="l">
              <a:defRPr sz="1800" b="0">
                <a:solidFill>
                  <a:srgbClr val="FFFFFF"/>
                </a:solidFill>
                <a:latin typeface="Public Sans"/>
              </a:defRPr>
            </a:pPr>
            <a:r>
              <a:t>Infrastructure</a:t>
            </a:r>
          </a:p>
        </p:txBody>
      </p:sp>
      <p:sp>
        <p:nvSpPr>
          <p:cNvPr id="18" name="TextBox 17"/>
          <p:cNvSpPr txBox="1"/>
          <p:nvPr/>
        </p:nvSpPr>
        <p:spPr>
          <a:xfrm>
            <a:off x="9418320" y="2468880"/>
            <a:ext cx="1097280" cy="457200"/>
          </a:xfrm>
          <a:prstGeom prst="rect">
            <a:avLst/>
          </a:prstGeom>
          <a:noFill/>
        </p:spPr>
        <p:txBody>
          <a:bodyPr wrap="square">
            <a:spAutoFit/>
          </a:bodyPr>
          <a:lstStyle/>
          <a:p>
            <a:pPr algn="r">
              <a:defRPr sz="1800" b="1">
                <a:solidFill>
                  <a:srgbClr val="FFFFFF"/>
                </a:solidFill>
                <a:latin typeface="Nohemi"/>
              </a:defRPr>
            </a:pPr>
            <a:r>
              <a:t>35%</a:t>
            </a:r>
          </a:p>
        </p:txBody>
      </p:sp>
      <p:sp>
        <p:nvSpPr>
          <p:cNvPr id="19" name="Rectangle 18"/>
          <p:cNvSpPr/>
          <p:nvPr/>
        </p:nvSpPr>
        <p:spPr>
          <a:xfrm>
            <a:off x="5852160" y="3218688"/>
            <a:ext cx="320040" cy="320040"/>
          </a:xfrm>
          <a:prstGeom prst="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3108960"/>
            <a:ext cx="2926080" cy="457200"/>
          </a:xfrm>
          <a:prstGeom prst="rect">
            <a:avLst/>
          </a:prstGeom>
          <a:noFill/>
        </p:spPr>
        <p:txBody>
          <a:bodyPr wrap="square">
            <a:spAutoFit/>
          </a:bodyPr>
          <a:lstStyle/>
          <a:p>
            <a:pPr algn="l">
              <a:defRPr sz="1800" b="0">
                <a:solidFill>
                  <a:srgbClr val="FFFFFF"/>
                </a:solidFill>
                <a:latin typeface="Public Sans"/>
              </a:defRPr>
            </a:pPr>
            <a:r>
              <a:t>AI Development</a:t>
            </a:r>
          </a:p>
        </p:txBody>
      </p:sp>
      <p:sp>
        <p:nvSpPr>
          <p:cNvPr id="21" name="TextBox 20"/>
          <p:cNvSpPr txBox="1"/>
          <p:nvPr/>
        </p:nvSpPr>
        <p:spPr>
          <a:xfrm>
            <a:off x="9418320" y="3108960"/>
            <a:ext cx="1097280" cy="457200"/>
          </a:xfrm>
          <a:prstGeom prst="rect">
            <a:avLst/>
          </a:prstGeom>
          <a:noFill/>
        </p:spPr>
        <p:txBody>
          <a:bodyPr wrap="square">
            <a:spAutoFit/>
          </a:bodyPr>
          <a:lstStyle/>
          <a:p>
            <a:pPr algn="r">
              <a:defRPr sz="1800" b="1">
                <a:solidFill>
                  <a:srgbClr val="FFFFFF"/>
                </a:solidFill>
                <a:latin typeface="Nohemi"/>
              </a:defRPr>
            </a:pPr>
            <a:r>
              <a:t>25%</a:t>
            </a:r>
          </a:p>
        </p:txBody>
      </p:sp>
      <p:sp>
        <p:nvSpPr>
          <p:cNvPr id="22" name="Rectangle 21"/>
          <p:cNvSpPr/>
          <p:nvPr/>
        </p:nvSpPr>
        <p:spPr>
          <a:xfrm>
            <a:off x="5852160" y="3858768"/>
            <a:ext cx="320040" cy="320040"/>
          </a:xfrm>
          <a:prstGeom prst="rect">
            <a:avLst/>
          </a:prstGeom>
          <a:solidFill>
            <a:srgbClr val="8A9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3749039"/>
            <a:ext cx="2926080" cy="457200"/>
          </a:xfrm>
          <a:prstGeom prst="rect">
            <a:avLst/>
          </a:prstGeom>
          <a:noFill/>
        </p:spPr>
        <p:txBody>
          <a:bodyPr wrap="square">
            <a:spAutoFit/>
          </a:bodyPr>
          <a:lstStyle/>
          <a:p>
            <a:pPr algn="l">
              <a:defRPr sz="1800" b="0">
                <a:solidFill>
                  <a:srgbClr val="FFFFFF"/>
                </a:solidFill>
                <a:latin typeface="Public Sans"/>
              </a:defRPr>
            </a:pPr>
            <a:r>
              <a:t>Rural Access</a:t>
            </a:r>
          </a:p>
        </p:txBody>
      </p:sp>
      <p:sp>
        <p:nvSpPr>
          <p:cNvPr id="24" name="TextBox 23"/>
          <p:cNvSpPr txBox="1"/>
          <p:nvPr/>
        </p:nvSpPr>
        <p:spPr>
          <a:xfrm>
            <a:off x="9418320" y="3749039"/>
            <a:ext cx="1097280" cy="457200"/>
          </a:xfrm>
          <a:prstGeom prst="rect">
            <a:avLst/>
          </a:prstGeom>
          <a:noFill/>
        </p:spPr>
        <p:txBody>
          <a:bodyPr wrap="square">
            <a:spAutoFit/>
          </a:bodyPr>
          <a:lstStyle/>
          <a:p>
            <a:pPr algn="r">
              <a:defRPr sz="1800" b="1">
                <a:solidFill>
                  <a:srgbClr val="FFFFFF"/>
                </a:solidFill>
                <a:latin typeface="Nohemi"/>
              </a:defRPr>
            </a:pPr>
            <a:r>
              <a:t>15%</a:t>
            </a:r>
          </a:p>
        </p:txBody>
      </p:sp>
      <p:sp>
        <p:nvSpPr>
          <p:cNvPr id="25" name="Rectangle 24"/>
          <p:cNvSpPr/>
          <p:nvPr/>
        </p:nvSpPr>
        <p:spPr>
          <a:xfrm>
            <a:off x="5852160" y="4498848"/>
            <a:ext cx="320040" cy="320040"/>
          </a:xfrm>
          <a:prstGeom prst="rect">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4389120"/>
            <a:ext cx="2926080" cy="457200"/>
          </a:xfrm>
          <a:prstGeom prst="rect">
            <a:avLst/>
          </a:prstGeom>
          <a:noFill/>
        </p:spPr>
        <p:txBody>
          <a:bodyPr wrap="square">
            <a:spAutoFit/>
          </a:bodyPr>
          <a:lstStyle/>
          <a:p>
            <a:pPr algn="l">
              <a:defRPr sz="1800" b="0">
                <a:solidFill>
                  <a:srgbClr val="FFFFFF"/>
                </a:solidFill>
                <a:latin typeface="Public Sans"/>
              </a:defRPr>
            </a:pPr>
            <a:r>
              <a:t>Training</a:t>
            </a:r>
          </a:p>
        </p:txBody>
      </p:sp>
      <p:sp>
        <p:nvSpPr>
          <p:cNvPr id="27" name="TextBox 26"/>
          <p:cNvSpPr txBox="1"/>
          <p:nvPr/>
        </p:nvSpPr>
        <p:spPr>
          <a:xfrm>
            <a:off x="9418320" y="4389120"/>
            <a:ext cx="1097280" cy="457200"/>
          </a:xfrm>
          <a:prstGeom prst="rect">
            <a:avLst/>
          </a:prstGeom>
          <a:noFill/>
        </p:spPr>
        <p:txBody>
          <a:bodyPr wrap="square">
            <a:spAutoFit/>
          </a:bodyPr>
          <a:lstStyle/>
          <a:p>
            <a:pPr algn="r">
              <a:defRPr sz="1800" b="1">
                <a:solidFill>
                  <a:srgbClr val="FFFFFF"/>
                </a:solidFill>
                <a:latin typeface="Nohemi"/>
              </a:defRPr>
            </a:pPr>
            <a:r>
              <a:t>15%</a:t>
            </a:r>
          </a:p>
        </p:txBody>
      </p:sp>
      <p:sp>
        <p:nvSpPr>
          <p:cNvPr id="28" name="Rectangle 27"/>
          <p:cNvSpPr/>
          <p:nvPr/>
        </p:nvSpPr>
        <p:spPr>
          <a:xfrm>
            <a:off x="5852160" y="5138928"/>
            <a:ext cx="320040" cy="32004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5029200"/>
            <a:ext cx="2926080" cy="457200"/>
          </a:xfrm>
          <a:prstGeom prst="rect">
            <a:avLst/>
          </a:prstGeom>
          <a:noFill/>
        </p:spPr>
        <p:txBody>
          <a:bodyPr wrap="square">
            <a:spAutoFit/>
          </a:bodyPr>
          <a:lstStyle/>
          <a:p>
            <a:pPr algn="l">
              <a:defRPr sz="1800" b="0">
                <a:solidFill>
                  <a:srgbClr val="FFFFFF"/>
                </a:solidFill>
                <a:latin typeface="Public Sans"/>
              </a:defRPr>
            </a:pPr>
            <a:r>
              <a:t>Security</a:t>
            </a:r>
          </a:p>
        </p:txBody>
      </p:sp>
      <p:sp>
        <p:nvSpPr>
          <p:cNvPr id="30" name="TextBox 29"/>
          <p:cNvSpPr txBox="1"/>
          <p:nvPr/>
        </p:nvSpPr>
        <p:spPr>
          <a:xfrm>
            <a:off x="9418320" y="5029200"/>
            <a:ext cx="1097280" cy="457200"/>
          </a:xfrm>
          <a:prstGeom prst="rect">
            <a:avLst/>
          </a:prstGeom>
          <a:noFill/>
        </p:spPr>
        <p:txBody>
          <a:bodyPr wrap="square">
            <a:spAutoFit/>
          </a:bodyPr>
          <a:lstStyle/>
          <a:p>
            <a:pPr algn="r">
              <a:defRPr sz="1800" b="1">
                <a:solidFill>
                  <a:srgbClr val="FFFFFF"/>
                </a:solidFill>
                <a:latin typeface="Nohemi"/>
              </a:defRPr>
            </a:pPr>
            <a:r>
              <a:t>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5E6B7A"/>
                </a:solidFill>
                <a:latin typeface="Nohemi"/>
              </a:defRPr>
            </a:pPr>
            <a:r>
              <a:t>16  ROADMAP</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0A1A2F"/>
                </a:solidFill>
                <a:latin typeface="Nohemi"/>
              </a:defRPr>
            </a:pPr>
            <a:r>
              <a:t>2027 Quarterly Roadmap</a:t>
            </a:r>
          </a:p>
        </p:txBody>
      </p:sp>
      <p:cxnSp>
        <p:nvCxnSpPr>
          <p:cNvPr id="5" name="Connector 4"/>
          <p:cNvCxnSpPr/>
          <p:nvPr/>
        </p:nvCxnSpPr>
        <p:spPr>
          <a:xfrm>
            <a:off x="731520" y="2834640"/>
            <a:ext cx="10698480" cy="0"/>
          </a:xfrm>
          <a:prstGeom prst="line">
            <a:avLst/>
          </a:prstGeom>
          <a:ln w="25400">
            <a:solidFill>
              <a:srgbClr val="B9C2CE"/>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914400" y="3291840"/>
            <a:ext cx="2194560" cy="1920240"/>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3291840"/>
            <a:ext cx="2194560" cy="73152"/>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901952" y="2724912"/>
            <a:ext cx="228600" cy="228600"/>
          </a:xfrm>
          <a:prstGeom prst="ellipse">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566160"/>
            <a:ext cx="1828800" cy="457200"/>
          </a:xfrm>
          <a:prstGeom prst="rect">
            <a:avLst/>
          </a:prstGeom>
          <a:noFill/>
        </p:spPr>
        <p:txBody>
          <a:bodyPr wrap="square">
            <a:spAutoFit/>
          </a:bodyPr>
          <a:lstStyle/>
          <a:p>
            <a:pPr algn="ctr">
              <a:defRPr sz="2400" b="1">
                <a:solidFill>
                  <a:srgbClr val="0A1A2F"/>
                </a:solidFill>
                <a:latin typeface="Nohemi"/>
              </a:defRPr>
            </a:pPr>
            <a:r>
              <a:t>Q1</a:t>
            </a:r>
          </a:p>
        </p:txBody>
      </p:sp>
      <p:sp>
        <p:nvSpPr>
          <p:cNvPr id="10" name="TextBox 9"/>
          <p:cNvSpPr txBox="1"/>
          <p:nvPr/>
        </p:nvSpPr>
        <p:spPr>
          <a:xfrm>
            <a:off x="1097280" y="4069080"/>
            <a:ext cx="1828800" cy="914400"/>
          </a:xfrm>
          <a:prstGeom prst="rect">
            <a:avLst/>
          </a:prstGeom>
          <a:noFill/>
        </p:spPr>
        <p:txBody>
          <a:bodyPr wrap="square">
            <a:spAutoFit/>
          </a:bodyPr>
          <a:lstStyle/>
          <a:p>
            <a:pPr algn="ctr">
              <a:defRPr sz="1500" b="0">
                <a:solidFill>
                  <a:srgbClr val="0A1A2F"/>
                </a:solidFill>
                <a:latin typeface="Public Sans"/>
              </a:defRPr>
            </a:pPr>
            <a:r>
              <a:t>Predictive services</a:t>
            </a:r>
            <a:br/>
            <a:r>
              <a:t>Auto-scaling live</a:t>
            </a:r>
          </a:p>
        </p:txBody>
      </p:sp>
      <p:sp>
        <p:nvSpPr>
          <p:cNvPr id="11" name="Rounded Rectangle 10"/>
          <p:cNvSpPr/>
          <p:nvPr/>
        </p:nvSpPr>
        <p:spPr>
          <a:xfrm>
            <a:off x="3657600" y="3291840"/>
            <a:ext cx="2194560" cy="1920240"/>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0" y="3291840"/>
            <a:ext cx="2194560" cy="73152"/>
          </a:xfrm>
          <a:prstGeom prst="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45152" y="2724912"/>
            <a:ext cx="228600" cy="228600"/>
          </a:xfrm>
          <a:prstGeom prst="ellipse">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0" y="3566160"/>
            <a:ext cx="1828800" cy="457200"/>
          </a:xfrm>
          <a:prstGeom prst="rect">
            <a:avLst/>
          </a:prstGeom>
          <a:noFill/>
        </p:spPr>
        <p:txBody>
          <a:bodyPr wrap="square">
            <a:spAutoFit/>
          </a:bodyPr>
          <a:lstStyle/>
          <a:p>
            <a:pPr algn="ctr">
              <a:defRPr sz="2400" b="1">
                <a:solidFill>
                  <a:srgbClr val="5E6B7A"/>
                </a:solidFill>
                <a:latin typeface="Nohemi"/>
              </a:defRPr>
            </a:pPr>
            <a:r>
              <a:t>Q2</a:t>
            </a:r>
          </a:p>
        </p:txBody>
      </p:sp>
      <p:sp>
        <p:nvSpPr>
          <p:cNvPr id="15" name="TextBox 14"/>
          <p:cNvSpPr txBox="1"/>
          <p:nvPr/>
        </p:nvSpPr>
        <p:spPr>
          <a:xfrm>
            <a:off x="3840480" y="4069080"/>
            <a:ext cx="1828800" cy="914400"/>
          </a:xfrm>
          <a:prstGeom prst="rect">
            <a:avLst/>
          </a:prstGeom>
          <a:noFill/>
        </p:spPr>
        <p:txBody>
          <a:bodyPr wrap="square">
            <a:spAutoFit/>
          </a:bodyPr>
          <a:lstStyle/>
          <a:p>
            <a:pPr algn="ctr">
              <a:defRPr sz="1500" b="0">
                <a:solidFill>
                  <a:srgbClr val="0A1A2F"/>
                </a:solidFill>
                <a:latin typeface="Public Sans"/>
              </a:defRPr>
            </a:pPr>
            <a:r>
              <a:t>Legacy complete</a:t>
            </a:r>
            <a:br/>
            <a:r>
              <a:t>400 centers</a:t>
            </a:r>
          </a:p>
        </p:txBody>
      </p:sp>
      <p:sp>
        <p:nvSpPr>
          <p:cNvPr id="16" name="Rounded Rectangle 15"/>
          <p:cNvSpPr/>
          <p:nvPr/>
        </p:nvSpPr>
        <p:spPr>
          <a:xfrm>
            <a:off x="6400800" y="3291840"/>
            <a:ext cx="2194560" cy="1920240"/>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3291840"/>
            <a:ext cx="2194560" cy="73152"/>
          </a:xfrm>
          <a:prstGeom prst="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88352" y="2724912"/>
            <a:ext cx="228600" cy="228600"/>
          </a:xfrm>
          <a:prstGeom prst="ellipse">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0" y="3566160"/>
            <a:ext cx="1828800" cy="457200"/>
          </a:xfrm>
          <a:prstGeom prst="rect">
            <a:avLst/>
          </a:prstGeom>
          <a:noFill/>
        </p:spPr>
        <p:txBody>
          <a:bodyPr wrap="square">
            <a:spAutoFit/>
          </a:bodyPr>
          <a:lstStyle/>
          <a:p>
            <a:pPr algn="ctr">
              <a:defRPr sz="2400" b="1">
                <a:solidFill>
                  <a:srgbClr val="5E6B7A"/>
                </a:solidFill>
                <a:latin typeface="Nohemi"/>
              </a:defRPr>
            </a:pPr>
            <a:r>
              <a:t>Q3</a:t>
            </a:r>
          </a:p>
        </p:txBody>
      </p:sp>
      <p:sp>
        <p:nvSpPr>
          <p:cNvPr id="20" name="TextBox 19"/>
          <p:cNvSpPr txBox="1"/>
          <p:nvPr/>
        </p:nvSpPr>
        <p:spPr>
          <a:xfrm>
            <a:off x="6583680" y="4069080"/>
            <a:ext cx="1828800" cy="914400"/>
          </a:xfrm>
          <a:prstGeom prst="rect">
            <a:avLst/>
          </a:prstGeom>
          <a:noFill/>
        </p:spPr>
        <p:txBody>
          <a:bodyPr wrap="square">
            <a:spAutoFit/>
          </a:bodyPr>
          <a:lstStyle/>
          <a:p>
            <a:pPr algn="ctr">
              <a:defRPr sz="1500" b="0">
                <a:solidFill>
                  <a:srgbClr val="0A1A2F"/>
                </a:solidFill>
                <a:latin typeface="Public Sans"/>
              </a:defRPr>
            </a:pPr>
            <a:r>
              <a:t>200 rural units</a:t>
            </a:r>
            <a:br/>
            <a:r>
              <a:t>AI national</a:t>
            </a:r>
          </a:p>
        </p:txBody>
      </p:sp>
      <p:sp>
        <p:nvSpPr>
          <p:cNvPr id="21" name="Rounded Rectangle 20"/>
          <p:cNvSpPr/>
          <p:nvPr/>
        </p:nvSpPr>
        <p:spPr>
          <a:xfrm>
            <a:off x="9144000" y="3291840"/>
            <a:ext cx="2194560" cy="1920240"/>
          </a:xfrm>
          <a:prstGeom prst="roundRect">
            <a:avLst/>
          </a:prstGeom>
          <a:solidFill>
            <a:srgbClr val="FFFFFF"/>
          </a:solidFill>
          <a:ln w="12700">
            <a:solidFill>
              <a:srgbClr val="DD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3291840"/>
            <a:ext cx="2194560" cy="73152"/>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131552" y="2724912"/>
            <a:ext cx="228600" cy="228600"/>
          </a:xfrm>
          <a:prstGeom prst="ellipse">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3566160"/>
            <a:ext cx="1828800" cy="457200"/>
          </a:xfrm>
          <a:prstGeom prst="rect">
            <a:avLst/>
          </a:prstGeom>
          <a:noFill/>
        </p:spPr>
        <p:txBody>
          <a:bodyPr wrap="square">
            <a:spAutoFit/>
          </a:bodyPr>
          <a:lstStyle/>
          <a:p>
            <a:pPr algn="ctr">
              <a:defRPr sz="2400" b="1">
                <a:solidFill>
                  <a:srgbClr val="0A1A2F"/>
                </a:solidFill>
                <a:latin typeface="Nohemi"/>
              </a:defRPr>
            </a:pPr>
            <a:r>
              <a:t>Q4</a:t>
            </a:r>
          </a:p>
        </p:txBody>
      </p:sp>
      <p:sp>
        <p:nvSpPr>
          <p:cNvPr id="25" name="TextBox 24"/>
          <p:cNvSpPr txBox="1"/>
          <p:nvPr/>
        </p:nvSpPr>
        <p:spPr>
          <a:xfrm>
            <a:off x="9326880" y="4069080"/>
            <a:ext cx="1828800" cy="914400"/>
          </a:xfrm>
          <a:prstGeom prst="rect">
            <a:avLst/>
          </a:prstGeom>
          <a:noFill/>
        </p:spPr>
        <p:txBody>
          <a:bodyPr wrap="square">
            <a:spAutoFit/>
          </a:bodyPr>
          <a:lstStyle/>
          <a:p>
            <a:pPr algn="ctr">
              <a:defRPr sz="1500" b="0">
                <a:solidFill>
                  <a:srgbClr val="0A1A2F"/>
                </a:solidFill>
                <a:latin typeface="Public Sans"/>
              </a:defRPr>
            </a:pPr>
            <a:r>
              <a:t>5M citizens</a:t>
            </a:r>
            <a:br/>
            <a:r>
              <a:t>90% digitized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411480"/>
          </a:xfrm>
          <a:prstGeom prst="rect">
            <a:avLst/>
          </a:prstGeom>
          <a:noFill/>
        </p:spPr>
        <p:txBody>
          <a:bodyPr wrap="square">
            <a:spAutoFit/>
          </a:bodyPr>
          <a:lstStyle/>
          <a:p>
            <a:pPr algn="l">
              <a:defRPr sz="1400" b="1">
                <a:solidFill>
                  <a:srgbClr val="B9C2CE"/>
                </a:solidFill>
                <a:latin typeface="Nohemi"/>
              </a:defRPr>
            </a:pPr>
            <a:r>
              <a:t>17  BENCHMARKS</a:t>
            </a:r>
          </a:p>
        </p:txBody>
      </p:sp>
      <p:sp>
        <p:nvSpPr>
          <p:cNvPr id="4" name="TextBox 3"/>
          <p:cNvSpPr txBox="1"/>
          <p:nvPr/>
        </p:nvSpPr>
        <p:spPr>
          <a:xfrm>
            <a:off x="731520" y="731520"/>
            <a:ext cx="10698480" cy="914400"/>
          </a:xfrm>
          <a:prstGeom prst="rect">
            <a:avLst/>
          </a:prstGeom>
          <a:noFill/>
        </p:spPr>
        <p:txBody>
          <a:bodyPr wrap="square">
            <a:spAutoFit/>
          </a:bodyPr>
          <a:lstStyle/>
          <a:p>
            <a:pPr algn="l">
              <a:defRPr sz="3800" b="1">
                <a:solidFill>
                  <a:srgbClr val="FFFFFF"/>
                </a:solidFill>
                <a:latin typeface="Nohemi"/>
              </a:defRPr>
            </a:pPr>
            <a:r>
              <a:t>Speed vs Satisfaction</a:t>
            </a:r>
          </a:p>
        </p:txBody>
      </p:sp>
      <p:pic>
        <p:nvPicPr>
          <p:cNvPr id="5" name="Picture 4" descr="mcit-divider.png"/>
          <p:cNvPicPr>
            <a:picLocks noChangeAspect="1"/>
          </p:cNvPicPr>
          <p:nvPr/>
        </p:nvPicPr>
        <p:blipFill>
          <a:blip r:embed="rId2"/>
          <a:stretch>
            <a:fillRect/>
          </a:stretch>
        </p:blipFill>
        <p:spPr>
          <a:xfrm>
            <a:off x="731520" y="1691640"/>
            <a:ext cx="3657600" cy="114300"/>
          </a:xfrm>
          <a:prstGeom prst="rect">
            <a:avLst/>
          </a:prstGeom>
        </p:spPr>
      </p:pic>
      <p:pic>
        <p:nvPicPr>
          <p:cNvPr id="6" name="Picture 5" descr="mcit-footer.png"/>
          <p:cNvPicPr>
            <a:picLocks noChangeAspect="1"/>
          </p:cNvPicPr>
          <p:nvPr/>
        </p:nvPicPr>
        <p:blipFill>
          <a:blip r:embed="rId3"/>
          <a:stretch>
            <a:fillRect/>
          </a:stretch>
        </p:blipFill>
        <p:spPr>
          <a:xfrm>
            <a:off x="0" y="6309360"/>
            <a:ext cx="12191695" cy="548640"/>
          </a:xfrm>
          <a:prstGeom prst="rect">
            <a:avLst/>
          </a:prstGeom>
        </p:spPr>
      </p:pic>
      <p:sp>
        <p:nvSpPr>
          <p:cNvPr id="7" name="TextBox 6"/>
          <p:cNvSpPr txBox="1"/>
          <p:nvPr/>
        </p:nvSpPr>
        <p:spPr>
          <a:xfrm>
            <a:off x="731520" y="6419088"/>
            <a:ext cx="1828800" cy="320040"/>
          </a:xfrm>
          <a:prstGeom prst="rect">
            <a:avLst/>
          </a:prstGeom>
          <a:noFill/>
        </p:spPr>
        <p:txBody>
          <a:bodyPr wrap="square">
            <a:spAutoFit/>
          </a:bodyPr>
          <a:lstStyle/>
          <a:p>
            <a:pPr algn="l">
              <a:defRPr sz="1200" b="0">
                <a:solidFill>
                  <a:srgbClr val="8A9BA8"/>
                </a:solidFill>
                <a:latin typeface="Public Sans"/>
              </a:defRPr>
            </a:pPr>
            <a:r>
              <a:t>17</a:t>
            </a:r>
          </a:p>
        </p:txBody>
      </p:sp>
      <p:sp>
        <p:nvSpPr>
          <p:cNvPr id="8" name="TextBox 7"/>
          <p:cNvSpPr txBox="1"/>
          <p:nvPr/>
        </p:nvSpPr>
        <p:spPr>
          <a:xfrm>
            <a:off x="9601200" y="6419088"/>
            <a:ext cx="1828800" cy="320040"/>
          </a:xfrm>
          <a:prstGeom prst="rect">
            <a:avLst/>
          </a:prstGeom>
          <a:noFill/>
        </p:spPr>
        <p:txBody>
          <a:bodyPr wrap="square">
            <a:spAutoFit/>
          </a:bodyPr>
          <a:lstStyle/>
          <a:p>
            <a:pPr algn="r">
              <a:defRPr sz="1200" b="0">
                <a:solidFill>
                  <a:srgbClr val="8A9BA8"/>
                </a:solidFill>
                <a:latin typeface="Public Sans"/>
              </a:defRPr>
            </a:pPr>
            <a:r>
              <a:t>MCIT 2026</a:t>
            </a:r>
          </a:p>
        </p:txBody>
      </p:sp>
      <p:sp>
        <p:nvSpPr>
          <p:cNvPr id="9" name="Rounded Rectangle 8"/>
          <p:cNvSpPr/>
          <p:nvPr/>
        </p:nvSpPr>
        <p:spPr>
          <a:xfrm>
            <a:off x="731520" y="2286000"/>
            <a:ext cx="6858000" cy="35661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463040" y="4864608"/>
            <a:ext cx="5669280"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4718304"/>
            <a:ext cx="548640" cy="292608"/>
          </a:xfrm>
          <a:prstGeom prst="rect">
            <a:avLst/>
          </a:prstGeom>
          <a:noFill/>
        </p:spPr>
        <p:txBody>
          <a:bodyPr wrap="square">
            <a:spAutoFit/>
          </a:bodyPr>
          <a:lstStyle/>
          <a:p>
            <a:pPr algn="r">
              <a:defRPr sz="1100" b="0">
                <a:solidFill>
                  <a:srgbClr val="5E6B7A"/>
                </a:solidFill>
                <a:latin typeface="Public Sans"/>
              </a:defRPr>
            </a:pPr>
            <a:r>
              <a:t>80</a:t>
            </a:r>
          </a:p>
        </p:txBody>
      </p:sp>
      <p:cxnSp>
        <p:nvCxnSpPr>
          <p:cNvPr id="12" name="Connector 11"/>
          <p:cNvCxnSpPr/>
          <p:nvPr/>
        </p:nvCxnSpPr>
        <p:spPr>
          <a:xfrm>
            <a:off x="1463040" y="4334256"/>
            <a:ext cx="5669280"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4187952"/>
            <a:ext cx="548640" cy="292608"/>
          </a:xfrm>
          <a:prstGeom prst="rect">
            <a:avLst/>
          </a:prstGeom>
          <a:noFill/>
        </p:spPr>
        <p:txBody>
          <a:bodyPr wrap="square">
            <a:spAutoFit/>
          </a:bodyPr>
          <a:lstStyle/>
          <a:p>
            <a:pPr algn="r">
              <a:defRPr sz="1100" b="0">
                <a:solidFill>
                  <a:srgbClr val="5E6B7A"/>
                </a:solidFill>
                <a:latin typeface="Public Sans"/>
              </a:defRPr>
            </a:pPr>
            <a:r>
              <a:t>85</a:t>
            </a:r>
          </a:p>
        </p:txBody>
      </p:sp>
      <p:cxnSp>
        <p:nvCxnSpPr>
          <p:cNvPr id="14" name="Connector 13"/>
          <p:cNvCxnSpPr/>
          <p:nvPr/>
        </p:nvCxnSpPr>
        <p:spPr>
          <a:xfrm>
            <a:off x="1463040" y="3803904"/>
            <a:ext cx="5669280"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3657600"/>
            <a:ext cx="548640" cy="292608"/>
          </a:xfrm>
          <a:prstGeom prst="rect">
            <a:avLst/>
          </a:prstGeom>
          <a:noFill/>
        </p:spPr>
        <p:txBody>
          <a:bodyPr wrap="square">
            <a:spAutoFit/>
          </a:bodyPr>
          <a:lstStyle/>
          <a:p>
            <a:pPr algn="r">
              <a:defRPr sz="1100" b="0">
                <a:solidFill>
                  <a:srgbClr val="5E6B7A"/>
                </a:solidFill>
                <a:latin typeface="Public Sans"/>
              </a:defRPr>
            </a:pPr>
            <a:r>
              <a:t>90</a:t>
            </a:r>
          </a:p>
        </p:txBody>
      </p:sp>
      <p:cxnSp>
        <p:nvCxnSpPr>
          <p:cNvPr id="16" name="Connector 15"/>
          <p:cNvCxnSpPr/>
          <p:nvPr/>
        </p:nvCxnSpPr>
        <p:spPr>
          <a:xfrm>
            <a:off x="1463040" y="3273552"/>
            <a:ext cx="5669280"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3127248"/>
            <a:ext cx="548640" cy="292608"/>
          </a:xfrm>
          <a:prstGeom prst="rect">
            <a:avLst/>
          </a:prstGeom>
          <a:noFill/>
        </p:spPr>
        <p:txBody>
          <a:bodyPr wrap="square">
            <a:spAutoFit/>
          </a:bodyPr>
          <a:lstStyle/>
          <a:p>
            <a:pPr algn="r">
              <a:defRPr sz="1100" b="0">
                <a:solidFill>
                  <a:srgbClr val="5E6B7A"/>
                </a:solidFill>
                <a:latin typeface="Public Sans"/>
              </a:defRPr>
            </a:pPr>
            <a:r>
              <a:t>95</a:t>
            </a:r>
          </a:p>
        </p:txBody>
      </p:sp>
      <p:cxnSp>
        <p:nvCxnSpPr>
          <p:cNvPr id="18" name="Connector 17"/>
          <p:cNvCxnSpPr/>
          <p:nvPr/>
        </p:nvCxnSpPr>
        <p:spPr>
          <a:xfrm>
            <a:off x="1463040" y="2743200"/>
            <a:ext cx="5669280"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2596896"/>
            <a:ext cx="548640" cy="292608"/>
          </a:xfrm>
          <a:prstGeom prst="rect">
            <a:avLst/>
          </a:prstGeom>
          <a:noFill/>
        </p:spPr>
        <p:txBody>
          <a:bodyPr wrap="square">
            <a:spAutoFit/>
          </a:bodyPr>
          <a:lstStyle/>
          <a:p>
            <a:pPr algn="r">
              <a:defRPr sz="1100" b="0">
                <a:solidFill>
                  <a:srgbClr val="5E6B7A"/>
                </a:solidFill>
                <a:latin typeface="Public Sans"/>
              </a:defRPr>
            </a:pPr>
            <a:r>
              <a:t>100</a:t>
            </a:r>
          </a:p>
        </p:txBody>
      </p:sp>
      <p:sp>
        <p:nvSpPr>
          <p:cNvPr id="20" name="TextBox 19"/>
          <p:cNvSpPr txBox="1"/>
          <p:nvPr/>
        </p:nvSpPr>
        <p:spPr>
          <a:xfrm>
            <a:off x="1188720" y="5440680"/>
            <a:ext cx="548640" cy="292608"/>
          </a:xfrm>
          <a:prstGeom prst="rect">
            <a:avLst/>
          </a:prstGeom>
          <a:noFill/>
        </p:spPr>
        <p:txBody>
          <a:bodyPr wrap="square">
            <a:spAutoFit/>
          </a:bodyPr>
          <a:lstStyle/>
          <a:p>
            <a:pPr algn="ctr">
              <a:defRPr sz="1100" b="0">
                <a:solidFill>
                  <a:srgbClr val="5E6B7A"/>
                </a:solidFill>
                <a:latin typeface="Public Sans"/>
              </a:defRPr>
            </a:pPr>
            <a:r>
              <a:t>0s</a:t>
            </a:r>
          </a:p>
        </p:txBody>
      </p:sp>
      <p:sp>
        <p:nvSpPr>
          <p:cNvPr id="21" name="TextBox 20"/>
          <p:cNvSpPr txBox="1"/>
          <p:nvPr/>
        </p:nvSpPr>
        <p:spPr>
          <a:xfrm>
            <a:off x="2322576" y="5440680"/>
            <a:ext cx="548640" cy="292608"/>
          </a:xfrm>
          <a:prstGeom prst="rect">
            <a:avLst/>
          </a:prstGeom>
          <a:noFill/>
        </p:spPr>
        <p:txBody>
          <a:bodyPr wrap="square">
            <a:spAutoFit/>
          </a:bodyPr>
          <a:lstStyle/>
          <a:p>
            <a:pPr algn="ctr">
              <a:defRPr sz="1100" b="0">
                <a:solidFill>
                  <a:srgbClr val="5E6B7A"/>
                </a:solidFill>
                <a:latin typeface="Public Sans"/>
              </a:defRPr>
            </a:pPr>
            <a:r>
              <a:t>2s</a:t>
            </a:r>
          </a:p>
        </p:txBody>
      </p:sp>
      <p:sp>
        <p:nvSpPr>
          <p:cNvPr id="22" name="TextBox 21"/>
          <p:cNvSpPr txBox="1"/>
          <p:nvPr/>
        </p:nvSpPr>
        <p:spPr>
          <a:xfrm>
            <a:off x="3456432" y="5440680"/>
            <a:ext cx="548640" cy="292608"/>
          </a:xfrm>
          <a:prstGeom prst="rect">
            <a:avLst/>
          </a:prstGeom>
          <a:noFill/>
        </p:spPr>
        <p:txBody>
          <a:bodyPr wrap="square">
            <a:spAutoFit/>
          </a:bodyPr>
          <a:lstStyle/>
          <a:p>
            <a:pPr algn="ctr">
              <a:defRPr sz="1100" b="0">
                <a:solidFill>
                  <a:srgbClr val="5E6B7A"/>
                </a:solidFill>
                <a:latin typeface="Public Sans"/>
              </a:defRPr>
            </a:pPr>
            <a:r>
              <a:t>4s</a:t>
            </a:r>
          </a:p>
        </p:txBody>
      </p:sp>
      <p:sp>
        <p:nvSpPr>
          <p:cNvPr id="23" name="TextBox 22"/>
          <p:cNvSpPr txBox="1"/>
          <p:nvPr/>
        </p:nvSpPr>
        <p:spPr>
          <a:xfrm>
            <a:off x="4590288" y="5440680"/>
            <a:ext cx="548640" cy="292608"/>
          </a:xfrm>
          <a:prstGeom prst="rect">
            <a:avLst/>
          </a:prstGeom>
          <a:noFill/>
        </p:spPr>
        <p:txBody>
          <a:bodyPr wrap="square">
            <a:spAutoFit/>
          </a:bodyPr>
          <a:lstStyle/>
          <a:p>
            <a:pPr algn="ctr">
              <a:defRPr sz="1100" b="0">
                <a:solidFill>
                  <a:srgbClr val="5E6B7A"/>
                </a:solidFill>
                <a:latin typeface="Public Sans"/>
              </a:defRPr>
            </a:pPr>
            <a:r>
              <a:t>6s</a:t>
            </a:r>
          </a:p>
        </p:txBody>
      </p:sp>
      <p:sp>
        <p:nvSpPr>
          <p:cNvPr id="24" name="TextBox 23"/>
          <p:cNvSpPr txBox="1"/>
          <p:nvPr/>
        </p:nvSpPr>
        <p:spPr>
          <a:xfrm>
            <a:off x="5724144" y="5440680"/>
            <a:ext cx="548640" cy="292608"/>
          </a:xfrm>
          <a:prstGeom prst="rect">
            <a:avLst/>
          </a:prstGeom>
          <a:noFill/>
        </p:spPr>
        <p:txBody>
          <a:bodyPr wrap="square">
            <a:spAutoFit/>
          </a:bodyPr>
          <a:lstStyle/>
          <a:p>
            <a:pPr algn="ctr">
              <a:defRPr sz="1100" b="0">
                <a:solidFill>
                  <a:srgbClr val="5E6B7A"/>
                </a:solidFill>
                <a:latin typeface="Public Sans"/>
              </a:defRPr>
            </a:pPr>
            <a:r>
              <a:t>8s</a:t>
            </a:r>
          </a:p>
        </p:txBody>
      </p:sp>
      <p:sp>
        <p:nvSpPr>
          <p:cNvPr id="25" name="TextBox 24"/>
          <p:cNvSpPr txBox="1"/>
          <p:nvPr/>
        </p:nvSpPr>
        <p:spPr>
          <a:xfrm>
            <a:off x="6857999" y="5440680"/>
            <a:ext cx="548640" cy="292608"/>
          </a:xfrm>
          <a:prstGeom prst="rect">
            <a:avLst/>
          </a:prstGeom>
          <a:noFill/>
        </p:spPr>
        <p:txBody>
          <a:bodyPr wrap="square">
            <a:spAutoFit/>
          </a:bodyPr>
          <a:lstStyle/>
          <a:p>
            <a:pPr algn="ctr">
              <a:defRPr sz="1100" b="0">
                <a:solidFill>
                  <a:srgbClr val="5E6B7A"/>
                </a:solidFill>
                <a:latin typeface="Public Sans"/>
              </a:defRPr>
            </a:pPr>
            <a:r>
              <a:t>10s</a:t>
            </a:r>
          </a:p>
        </p:txBody>
      </p:sp>
      <p:sp>
        <p:nvSpPr>
          <p:cNvPr id="26" name="Oval 25"/>
          <p:cNvSpPr/>
          <p:nvPr/>
        </p:nvSpPr>
        <p:spPr>
          <a:xfrm>
            <a:off x="3697833" y="3551529"/>
            <a:ext cx="292608" cy="292608"/>
          </a:xfrm>
          <a:prstGeom prst="ellipse">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86937" y="3862425"/>
            <a:ext cx="914400" cy="274320"/>
          </a:xfrm>
          <a:prstGeom prst="rect">
            <a:avLst/>
          </a:prstGeom>
          <a:noFill/>
        </p:spPr>
        <p:txBody>
          <a:bodyPr wrap="square">
            <a:spAutoFit/>
          </a:bodyPr>
          <a:lstStyle/>
          <a:p>
            <a:pPr algn="ctr">
              <a:defRPr sz="1100" b="1">
                <a:solidFill>
                  <a:srgbClr val="0A1A2F"/>
                </a:solidFill>
                <a:latin typeface="Public Sans"/>
              </a:defRPr>
            </a:pPr>
            <a:r>
              <a:t>ID</a:t>
            </a:r>
          </a:p>
        </p:txBody>
      </p:sp>
      <p:sp>
        <p:nvSpPr>
          <p:cNvPr id="28" name="Oval 27"/>
          <p:cNvSpPr/>
          <p:nvPr/>
        </p:nvSpPr>
        <p:spPr>
          <a:xfrm>
            <a:off x="4802428" y="4003243"/>
            <a:ext cx="237744" cy="237744"/>
          </a:xfrm>
          <a:prstGeom prst="ellipse">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4100" y="4259275"/>
            <a:ext cx="914400" cy="274320"/>
          </a:xfrm>
          <a:prstGeom prst="rect">
            <a:avLst/>
          </a:prstGeom>
          <a:noFill/>
        </p:spPr>
        <p:txBody>
          <a:bodyPr wrap="square">
            <a:spAutoFit/>
          </a:bodyPr>
          <a:lstStyle/>
          <a:p>
            <a:pPr algn="ctr">
              <a:defRPr sz="1100" b="1">
                <a:solidFill>
                  <a:srgbClr val="0A1A2F"/>
                </a:solidFill>
                <a:latin typeface="Public Sans"/>
              </a:defRPr>
            </a:pPr>
            <a:r>
              <a:t>Pay</a:t>
            </a:r>
          </a:p>
        </p:txBody>
      </p:sp>
      <p:sp>
        <p:nvSpPr>
          <p:cNvPr id="30" name="Oval 29"/>
          <p:cNvSpPr/>
          <p:nvPr/>
        </p:nvSpPr>
        <p:spPr>
          <a:xfrm>
            <a:off x="3489350" y="3357676"/>
            <a:ext cx="256032" cy="256032"/>
          </a:xfrm>
          <a:prstGeom prst="ellipse">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60166" y="3631996"/>
            <a:ext cx="914400" cy="274320"/>
          </a:xfrm>
          <a:prstGeom prst="rect">
            <a:avLst/>
          </a:prstGeom>
          <a:noFill/>
        </p:spPr>
        <p:txBody>
          <a:bodyPr wrap="square">
            <a:spAutoFit/>
          </a:bodyPr>
          <a:lstStyle/>
          <a:p>
            <a:pPr algn="ctr">
              <a:defRPr sz="1100" b="1">
                <a:solidFill>
                  <a:srgbClr val="0A1A2F"/>
                </a:solidFill>
                <a:latin typeface="Public Sans"/>
              </a:defRPr>
            </a:pPr>
            <a:r>
              <a:t>Health</a:t>
            </a:r>
          </a:p>
        </p:txBody>
      </p:sp>
      <p:sp>
        <p:nvSpPr>
          <p:cNvPr id="32" name="Oval 31"/>
          <p:cNvSpPr/>
          <p:nvPr/>
        </p:nvSpPr>
        <p:spPr>
          <a:xfrm>
            <a:off x="6117336" y="4487875"/>
            <a:ext cx="329184" cy="329184"/>
          </a:xfrm>
          <a:prstGeom prst="ellipse">
            <a:avLst/>
          </a:prstGeom>
          <a:solidFill>
            <a:srgbClr val="8A9B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24727" y="4835347"/>
            <a:ext cx="914400" cy="274320"/>
          </a:xfrm>
          <a:prstGeom prst="rect">
            <a:avLst/>
          </a:prstGeom>
          <a:noFill/>
        </p:spPr>
        <p:txBody>
          <a:bodyPr wrap="square">
            <a:spAutoFit/>
          </a:bodyPr>
          <a:lstStyle/>
          <a:p>
            <a:pPr algn="ctr">
              <a:defRPr sz="1100" b="1">
                <a:solidFill>
                  <a:srgbClr val="0A1A2F"/>
                </a:solidFill>
                <a:latin typeface="Public Sans"/>
              </a:defRPr>
            </a:pPr>
            <a:r>
              <a:t>Tax</a:t>
            </a:r>
          </a:p>
        </p:txBody>
      </p:sp>
      <p:sp>
        <p:nvSpPr>
          <p:cNvPr id="34" name="Oval 33"/>
          <p:cNvSpPr/>
          <p:nvPr/>
        </p:nvSpPr>
        <p:spPr>
          <a:xfrm>
            <a:off x="4301337" y="3800246"/>
            <a:ext cx="219456" cy="219456"/>
          </a:xfrm>
          <a:prstGeom prst="ellipse">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53865" y="4037990"/>
            <a:ext cx="914400" cy="274320"/>
          </a:xfrm>
          <a:prstGeom prst="rect">
            <a:avLst/>
          </a:prstGeom>
          <a:noFill/>
        </p:spPr>
        <p:txBody>
          <a:bodyPr wrap="square">
            <a:spAutoFit/>
          </a:bodyPr>
          <a:lstStyle/>
          <a:p>
            <a:pPr algn="ctr">
              <a:defRPr sz="1100" b="1">
                <a:solidFill>
                  <a:srgbClr val="0A1A2F"/>
                </a:solidFill>
                <a:latin typeface="Public Sans"/>
              </a:defRPr>
            </a:pPr>
            <a:r>
              <a:t>License</a:t>
            </a:r>
          </a:p>
        </p:txBody>
      </p:sp>
      <p:sp>
        <p:nvSpPr>
          <p:cNvPr id="36" name="Oval 35"/>
          <p:cNvSpPr/>
          <p:nvPr/>
        </p:nvSpPr>
        <p:spPr>
          <a:xfrm>
            <a:off x="5501030" y="4339742"/>
            <a:ext cx="201168" cy="201168"/>
          </a:xfrm>
          <a:prstGeom prst="ellipse">
            <a:avLst/>
          </a:prstGeom>
          <a:solidFill>
            <a:srgbClr val="1E2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44414" y="4559198"/>
            <a:ext cx="914400" cy="274320"/>
          </a:xfrm>
          <a:prstGeom prst="rect">
            <a:avLst/>
          </a:prstGeom>
          <a:noFill/>
        </p:spPr>
        <p:txBody>
          <a:bodyPr wrap="square">
            <a:spAutoFit/>
          </a:bodyPr>
          <a:lstStyle/>
          <a:p>
            <a:pPr algn="ctr">
              <a:defRPr sz="1100" b="1">
                <a:solidFill>
                  <a:srgbClr val="0A1A2F"/>
                </a:solidFill>
                <a:latin typeface="Public Sans"/>
              </a:defRPr>
            </a:pPr>
            <a:r>
              <a:t>Permit</a:t>
            </a:r>
          </a:p>
        </p:txBody>
      </p:sp>
      <p:sp>
        <p:nvSpPr>
          <p:cNvPr id="38" name="TextBox 37"/>
          <p:cNvSpPr txBox="1"/>
          <p:nvPr/>
        </p:nvSpPr>
        <p:spPr>
          <a:xfrm>
            <a:off x="8046720" y="2286000"/>
            <a:ext cx="3383280" cy="457200"/>
          </a:xfrm>
          <a:prstGeom prst="rect">
            <a:avLst/>
          </a:prstGeom>
          <a:noFill/>
        </p:spPr>
        <p:txBody>
          <a:bodyPr wrap="square">
            <a:spAutoFit/>
          </a:bodyPr>
          <a:lstStyle/>
          <a:p>
            <a:pPr algn="l">
              <a:defRPr sz="1400" b="0">
                <a:solidFill>
                  <a:srgbClr val="8A9BA8"/>
                </a:solidFill>
                <a:latin typeface="Public Sans"/>
              </a:defRPr>
            </a:pPr>
            <a:r>
              <a:t>Bubble = transaction volume</a:t>
            </a:r>
          </a:p>
        </p:txBody>
      </p:sp>
      <p:sp>
        <p:nvSpPr>
          <p:cNvPr id="39" name="TextBox 38"/>
          <p:cNvSpPr txBox="1"/>
          <p:nvPr/>
        </p:nvSpPr>
        <p:spPr>
          <a:xfrm>
            <a:off x="8046720" y="2834640"/>
            <a:ext cx="3383280" cy="2286000"/>
          </a:xfrm>
          <a:prstGeom prst="rect">
            <a:avLst/>
          </a:prstGeom>
          <a:noFill/>
        </p:spPr>
        <p:txBody>
          <a:bodyPr wrap="square">
            <a:spAutoFit/>
          </a:bodyPr>
          <a:lstStyle/>
          <a:p>
            <a:pPr algn="l">
              <a:defRPr sz="1600" b="0">
                <a:solidFill>
                  <a:srgbClr val="FFFFFF"/>
                </a:solidFill>
                <a:latin typeface="Public Sans"/>
              </a:defRPr>
            </a:pPr>
            <a:r>
              <a:t>Tax is slowest but handles the most complex cases. Health and ID lead on both axes.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cit-hero.png"/>
          <p:cNvPicPr>
            <a:picLocks noChangeAspect="1"/>
          </p:cNvPicPr>
          <p:nvPr/>
        </p:nvPicPr>
        <p:blipFill>
          <a:blip r:embed="rId2"/>
          <a:stretch>
            <a:fillRect/>
          </a:stretch>
        </p:blipFill>
        <p:spPr>
          <a:xfrm>
            <a:off x="0" y="0"/>
            <a:ext cx="12191695" cy="1828800"/>
          </a:xfrm>
          <a:prstGeom prst="rect">
            <a:avLst/>
          </a:prstGeom>
        </p:spPr>
      </p:pic>
      <p:sp>
        <p:nvSpPr>
          <p:cNvPr id="4" name="TextBox 3"/>
          <p:cNvSpPr txBox="1"/>
          <p:nvPr/>
        </p:nvSpPr>
        <p:spPr>
          <a:xfrm>
            <a:off x="731520" y="2377440"/>
            <a:ext cx="10698480" cy="548640"/>
          </a:xfrm>
          <a:prstGeom prst="rect">
            <a:avLst/>
          </a:prstGeom>
          <a:noFill/>
        </p:spPr>
        <p:txBody>
          <a:bodyPr wrap="square">
            <a:spAutoFit/>
          </a:bodyPr>
          <a:lstStyle/>
          <a:p>
            <a:pPr algn="l">
              <a:defRPr sz="1500" b="1">
                <a:solidFill>
                  <a:srgbClr val="B9C2CE"/>
                </a:solidFill>
                <a:latin typeface="Nohemi"/>
              </a:defRPr>
            </a:pPr>
            <a:r>
              <a:t>JOIN THE TRANSFORMATION</a:t>
            </a:r>
          </a:p>
        </p:txBody>
      </p:sp>
      <p:sp>
        <p:nvSpPr>
          <p:cNvPr id="5" name="TextBox 4"/>
          <p:cNvSpPr txBox="1"/>
          <p:nvPr/>
        </p:nvSpPr>
        <p:spPr>
          <a:xfrm>
            <a:off x="731520" y="2834640"/>
            <a:ext cx="10698480" cy="1645920"/>
          </a:xfrm>
          <a:prstGeom prst="rect">
            <a:avLst/>
          </a:prstGeom>
          <a:noFill/>
        </p:spPr>
        <p:txBody>
          <a:bodyPr wrap="square">
            <a:spAutoFit/>
          </a:bodyPr>
          <a:lstStyle/>
          <a:p>
            <a:pPr algn="l">
              <a:defRPr sz="4600" b="1">
                <a:solidFill>
                  <a:srgbClr val="FFFFFF"/>
                </a:solidFill>
                <a:latin typeface="Nohemi"/>
              </a:defRPr>
            </a:pPr>
            <a:r>
              <a:t>Every service digital.</a:t>
            </a:r>
            <a:br/>
            <a:r>
              <a:t>Every citizen included.</a:t>
            </a:r>
          </a:p>
        </p:txBody>
      </p:sp>
      <p:sp>
        <p:nvSpPr>
          <p:cNvPr id="6" name="TextBox 5"/>
          <p:cNvSpPr txBox="1"/>
          <p:nvPr/>
        </p:nvSpPr>
        <p:spPr>
          <a:xfrm>
            <a:off x="731520" y="4572000"/>
            <a:ext cx="7772400" cy="914400"/>
          </a:xfrm>
          <a:prstGeom prst="rect">
            <a:avLst/>
          </a:prstGeom>
          <a:noFill/>
        </p:spPr>
        <p:txBody>
          <a:bodyPr wrap="square">
            <a:spAutoFit/>
          </a:bodyPr>
          <a:lstStyle/>
          <a:p>
            <a:pPr algn="l">
              <a:defRPr sz="2000" b="0">
                <a:solidFill>
                  <a:srgbClr val="8A9BA8"/>
                </a:solidFill>
                <a:latin typeface="Public Sans"/>
              </a:defRPr>
            </a:pPr>
            <a:r>
              <a:t>Ministries, private sector partners, and citizens: build the digital Egypt of 2027 together.</a:t>
            </a:r>
          </a:p>
        </p:txBody>
      </p:sp>
      <p:sp>
        <p:nvSpPr>
          <p:cNvPr id="7" name="Rounded Rectangle 6"/>
          <p:cNvSpPr/>
          <p:nvPr/>
        </p:nvSpPr>
        <p:spPr>
          <a:xfrm>
            <a:off x="731520" y="5486400"/>
            <a:ext cx="2377440" cy="640080"/>
          </a:xfrm>
          <a:prstGeom prst="roundRect">
            <a:avLst/>
          </a:prstGeom>
          <a:solidFill>
            <a:srgbClr val="B9C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59552"/>
            <a:ext cx="2377440" cy="502920"/>
          </a:xfrm>
          <a:prstGeom prst="rect">
            <a:avLst/>
          </a:prstGeom>
          <a:noFill/>
        </p:spPr>
        <p:txBody>
          <a:bodyPr wrap="square">
            <a:spAutoFit/>
          </a:bodyPr>
          <a:lstStyle/>
          <a:p>
            <a:pPr algn="ctr">
              <a:defRPr sz="1900" b="1">
                <a:solidFill>
                  <a:srgbClr val="0A1A2F"/>
                </a:solidFill>
                <a:latin typeface="Nohemi"/>
              </a:defRPr>
            </a:pPr>
            <a:r>
              <a:t>Get Involved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cit-cover.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097280" y="2560320"/>
            <a:ext cx="9966960" cy="1097280"/>
          </a:xfrm>
          <a:prstGeom prst="rect">
            <a:avLst/>
          </a:prstGeom>
          <a:noFill/>
        </p:spPr>
        <p:txBody>
          <a:bodyPr wrap="square">
            <a:spAutoFit/>
          </a:bodyPr>
          <a:lstStyle/>
          <a:p>
            <a:pPr algn="ctr">
              <a:defRPr sz="6200" b="1">
                <a:solidFill>
                  <a:srgbClr val="FFFFFF"/>
                </a:solidFill>
                <a:latin typeface="Nohemi"/>
              </a:defRPr>
            </a:pPr>
            <a:r>
              <a:t>Thank You</a:t>
            </a:r>
          </a:p>
        </p:txBody>
      </p:sp>
      <p:pic>
        <p:nvPicPr>
          <p:cNvPr id="5" name="Picture 4" descr="mcit-divider.png"/>
          <p:cNvPicPr>
            <a:picLocks noChangeAspect="1"/>
          </p:cNvPicPr>
          <p:nvPr/>
        </p:nvPicPr>
        <p:blipFill>
          <a:blip r:embed="rId3"/>
          <a:stretch>
            <a:fillRect/>
          </a:stretch>
        </p:blipFill>
        <p:spPr>
          <a:xfrm>
            <a:off x="5120640" y="3749039"/>
            <a:ext cx="1920240" cy="60008"/>
          </a:xfrm>
          <a:prstGeom prst="rect">
            <a:avLst/>
          </a:prstGeom>
        </p:spPr>
      </p:pic>
      <p:sp>
        <p:nvSpPr>
          <p:cNvPr id="6" name="TextBox 5"/>
          <p:cNvSpPr txBox="1"/>
          <p:nvPr/>
        </p:nvSpPr>
        <p:spPr>
          <a:xfrm>
            <a:off x="1097280" y="4114800"/>
            <a:ext cx="9966960" cy="548640"/>
          </a:xfrm>
          <a:prstGeom prst="rect">
            <a:avLst/>
          </a:prstGeom>
          <a:noFill/>
        </p:spPr>
        <p:txBody>
          <a:bodyPr wrap="square">
            <a:spAutoFit/>
          </a:bodyPr>
          <a:lstStyle/>
          <a:p>
            <a:pPr algn="ctr">
              <a:defRPr sz="1900" b="0">
                <a:solidFill>
                  <a:srgbClr val="B9C2CE"/>
                </a:solidFill>
                <a:latin typeface="Public Sans"/>
              </a:defRPr>
            </a:pPr>
            <a:r>
              <a:t>Ministry of Communications and Information Technology</a:t>
            </a:r>
          </a:p>
        </p:txBody>
      </p:sp>
      <p:sp>
        <p:nvSpPr>
          <p:cNvPr id="7" name="TextBox 6"/>
          <p:cNvSpPr txBox="1"/>
          <p:nvPr/>
        </p:nvSpPr>
        <p:spPr>
          <a:xfrm>
            <a:off x="1097280" y="4572000"/>
            <a:ext cx="9966960" cy="457200"/>
          </a:xfrm>
          <a:prstGeom prst="rect">
            <a:avLst/>
          </a:prstGeom>
          <a:noFill/>
        </p:spPr>
        <p:txBody>
          <a:bodyPr wrap="square">
            <a:spAutoFit/>
          </a:bodyPr>
          <a:lstStyle/>
          <a:p>
            <a:pPr algn="ctr">
              <a:defRPr sz="1500" b="0">
                <a:solidFill>
                  <a:srgbClr val="8A9BA8"/>
                </a:solidFill>
                <a:latin typeface="Public Sans"/>
              </a:defRPr>
            </a:pPr>
            <a:r>
              <a:t>Digital Government Services  |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