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914400"/>
            <a:ext cx="5029200" cy="3840480"/>
          </a:xfrm>
          <a:prstGeom prst="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418320" y="4389120"/>
            <a:ext cx="4114800" cy="3657600"/>
          </a:xfrm>
          <a:prstGeom prst="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457200"/>
            <a:ext cx="11274552" cy="5943600"/>
          </a:xfrm>
          <a:prstGeom prst="rect">
            <a:avLst/>
          </a:prstGeom>
          <a:no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463040"/>
            <a:ext cx="7315200" cy="548640"/>
          </a:xfrm>
          <a:prstGeom prst="rect">
            <a:avLst/>
          </a:prstGeom>
          <a:noFill/>
        </p:spPr>
        <p:txBody>
          <a:bodyPr wrap="square">
            <a:spAutoFit/>
          </a:bodyPr>
          <a:lstStyle/>
          <a:p>
            <a:pPr algn="l">
              <a:spcAft>
                <a:spcPts val="600"/>
              </a:spcAft>
              <a:defRPr sz="1500" b="1">
                <a:solidFill>
                  <a:srgbClr val="A8E063"/>
                </a:solidFill>
                <a:latin typeface="Nohemi"/>
              </a:defRPr>
            </a:pPr>
            <a:r>
              <a:t>MINISTRY OF COMMUNICATIONS AND INFORMATION TECHNOLOGY</a:t>
            </a:r>
          </a:p>
        </p:txBody>
      </p:sp>
      <p:sp>
        <p:nvSpPr>
          <p:cNvPr id="7" name="TextBox 6"/>
          <p:cNvSpPr txBox="1"/>
          <p:nvPr/>
        </p:nvSpPr>
        <p:spPr>
          <a:xfrm>
            <a:off x="1097280" y="2011680"/>
            <a:ext cx="7315200" cy="1463040"/>
          </a:xfrm>
          <a:prstGeom prst="rect">
            <a:avLst/>
          </a:prstGeom>
          <a:noFill/>
        </p:spPr>
        <p:txBody>
          <a:bodyPr wrap="square">
            <a:spAutoFit/>
          </a:bodyPr>
          <a:lstStyle/>
          <a:p>
            <a:pPr algn="l">
              <a:spcAft>
                <a:spcPts val="600"/>
              </a:spcAft>
              <a:defRPr sz="6000" b="1">
                <a:solidFill>
                  <a:srgbClr val="F7F8F0"/>
                </a:solidFill>
                <a:latin typeface="Nohemi"/>
              </a:defRPr>
            </a:pPr>
            <a:r>
              <a:t>Annual Digital</a:t>
            </a:r>
            <a:br/>
            <a:r>
              <a:t>Report 2026</a:t>
            </a:r>
          </a:p>
        </p:txBody>
      </p:sp>
      <p:sp>
        <p:nvSpPr>
          <p:cNvPr id="8" name="TextBox 7"/>
          <p:cNvSpPr txBox="1"/>
          <p:nvPr/>
        </p:nvSpPr>
        <p:spPr>
          <a:xfrm>
            <a:off x="1097280" y="3931920"/>
            <a:ext cx="7315200" cy="731520"/>
          </a:xfrm>
          <a:prstGeom prst="rect">
            <a:avLst/>
          </a:prstGeom>
          <a:noFill/>
        </p:spPr>
        <p:txBody>
          <a:bodyPr wrap="square">
            <a:spAutoFit/>
          </a:bodyPr>
          <a:lstStyle/>
          <a:p>
            <a:pPr algn="l">
              <a:spcAft>
                <a:spcPts val="600"/>
              </a:spcAft>
              <a:defRPr sz="2400" b="0">
                <a:solidFill>
                  <a:srgbClr val="9AADA3"/>
                </a:solidFill>
                <a:latin typeface="Public Sans"/>
              </a:defRPr>
            </a:pPr>
            <a:r>
              <a:t>Digital Government Services Performance Review</a:t>
            </a:r>
          </a:p>
        </p:txBody>
      </p:sp>
      <p:cxnSp>
        <p:nvCxnSpPr>
          <p:cNvPr id="9" name="Connector 8"/>
          <p:cNvCxnSpPr/>
          <p:nvPr/>
        </p:nvCxnSpPr>
        <p:spPr>
          <a:xfrm>
            <a:off x="1097280" y="4846320"/>
            <a:ext cx="1828800" cy="0"/>
          </a:xfrm>
          <a:prstGeom prst="line">
            <a:avLst/>
          </a:prstGeom>
          <a:ln w="38100">
            <a:solidFill>
              <a:srgbClr val="A8E06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97280" y="5029200"/>
            <a:ext cx="7315200" cy="457200"/>
          </a:xfrm>
          <a:prstGeom prst="rect">
            <a:avLst/>
          </a:prstGeom>
          <a:noFill/>
        </p:spPr>
        <p:txBody>
          <a:bodyPr wrap="square">
            <a:spAutoFit/>
          </a:bodyPr>
          <a:lstStyle/>
          <a:p>
            <a:pPr algn="l">
              <a:spcAft>
                <a:spcPts val="600"/>
              </a:spcAft>
              <a:defRPr sz="1600" b="0">
                <a:solidFill>
                  <a:srgbClr val="9AADA3"/>
                </a:solidFill>
                <a:latin typeface="Public Sans"/>
              </a:defRPr>
            </a:pPr>
            <a:r>
              <a:t>October 2026  |  Cairo, Egypt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01  OVERVIEW</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Agenda</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01</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TextBox 7"/>
          <p:cNvSpPr txBox="1"/>
          <p:nvPr/>
        </p:nvSpPr>
        <p:spPr>
          <a:xfrm>
            <a:off x="731520" y="2377440"/>
            <a:ext cx="640080" cy="548640"/>
          </a:xfrm>
          <a:prstGeom prst="rect">
            <a:avLst/>
          </a:prstGeom>
          <a:noFill/>
        </p:spPr>
        <p:txBody>
          <a:bodyPr wrap="square">
            <a:spAutoFit/>
          </a:bodyPr>
          <a:lstStyle/>
          <a:p>
            <a:pPr algn="l">
              <a:spcAft>
                <a:spcPts val="600"/>
              </a:spcAft>
              <a:defRPr sz="2200" b="1">
                <a:solidFill>
                  <a:srgbClr val="A8E063"/>
                </a:solidFill>
                <a:latin typeface="Nohemi"/>
              </a:defRPr>
            </a:pPr>
            <a:r>
              <a:t>01</a:t>
            </a:r>
          </a:p>
        </p:txBody>
      </p:sp>
      <p:sp>
        <p:nvSpPr>
          <p:cNvPr id="9" name="TextBox 8"/>
          <p:cNvSpPr txBox="1"/>
          <p:nvPr/>
        </p:nvSpPr>
        <p:spPr>
          <a:xfrm>
            <a:off x="1463040" y="2377440"/>
            <a:ext cx="3657600" cy="548640"/>
          </a:xfrm>
          <a:prstGeom prst="rect">
            <a:avLst/>
          </a:prstGeom>
          <a:noFill/>
        </p:spPr>
        <p:txBody>
          <a:bodyPr wrap="square">
            <a:spAutoFit/>
          </a:bodyPr>
          <a:lstStyle/>
          <a:p>
            <a:pPr algn="l">
              <a:spcAft>
                <a:spcPts val="600"/>
              </a:spcAft>
              <a:defRPr sz="2200" b="1">
                <a:solidFill>
                  <a:srgbClr val="F7F8F0"/>
                </a:solidFill>
                <a:latin typeface="Nohemi"/>
              </a:defRPr>
            </a:pPr>
            <a:r>
              <a:t>Executive Summary</a:t>
            </a:r>
          </a:p>
        </p:txBody>
      </p:sp>
      <p:sp>
        <p:nvSpPr>
          <p:cNvPr id="10" name="TextBox 9"/>
          <p:cNvSpPr txBox="1"/>
          <p:nvPr/>
        </p:nvSpPr>
        <p:spPr>
          <a:xfrm>
            <a:off x="5486400" y="2423160"/>
            <a:ext cx="5943600" cy="548640"/>
          </a:xfrm>
          <a:prstGeom prst="rect">
            <a:avLst/>
          </a:prstGeom>
          <a:noFill/>
        </p:spPr>
        <p:txBody>
          <a:bodyPr wrap="square">
            <a:spAutoFit/>
          </a:bodyPr>
          <a:lstStyle/>
          <a:p>
            <a:pPr algn="l">
              <a:spcAft>
                <a:spcPts val="600"/>
              </a:spcAft>
              <a:defRPr sz="1800" b="0">
                <a:solidFill>
                  <a:srgbClr val="9AADA3"/>
                </a:solidFill>
                <a:latin typeface="Public Sans"/>
              </a:defRPr>
            </a:pPr>
            <a:r>
              <a:t>Where we stand after a landmark year</a:t>
            </a:r>
          </a:p>
        </p:txBody>
      </p:sp>
      <p:cxnSp>
        <p:nvCxnSpPr>
          <p:cNvPr id="11" name="Connector 10"/>
          <p:cNvCxnSpPr/>
          <p:nvPr/>
        </p:nvCxnSpPr>
        <p:spPr>
          <a:xfrm>
            <a:off x="731520" y="3035808"/>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3127248"/>
            <a:ext cx="640080" cy="548640"/>
          </a:xfrm>
          <a:prstGeom prst="rect">
            <a:avLst/>
          </a:prstGeom>
          <a:noFill/>
        </p:spPr>
        <p:txBody>
          <a:bodyPr wrap="square">
            <a:spAutoFit/>
          </a:bodyPr>
          <a:lstStyle/>
          <a:p>
            <a:pPr algn="l">
              <a:spcAft>
                <a:spcPts val="600"/>
              </a:spcAft>
              <a:defRPr sz="2200" b="1">
                <a:solidFill>
                  <a:srgbClr val="A8E063"/>
                </a:solidFill>
                <a:latin typeface="Nohemi"/>
              </a:defRPr>
            </a:pPr>
            <a:r>
              <a:t>02</a:t>
            </a:r>
          </a:p>
        </p:txBody>
      </p:sp>
      <p:sp>
        <p:nvSpPr>
          <p:cNvPr id="13" name="TextBox 12"/>
          <p:cNvSpPr txBox="1"/>
          <p:nvPr/>
        </p:nvSpPr>
        <p:spPr>
          <a:xfrm>
            <a:off x="1463040" y="3127248"/>
            <a:ext cx="3657600" cy="548640"/>
          </a:xfrm>
          <a:prstGeom prst="rect">
            <a:avLst/>
          </a:prstGeom>
          <a:noFill/>
        </p:spPr>
        <p:txBody>
          <a:bodyPr wrap="square">
            <a:spAutoFit/>
          </a:bodyPr>
          <a:lstStyle/>
          <a:p>
            <a:pPr algn="l">
              <a:spcAft>
                <a:spcPts val="600"/>
              </a:spcAft>
              <a:defRPr sz="2200" b="1">
                <a:solidFill>
                  <a:srgbClr val="F7F8F0"/>
                </a:solidFill>
                <a:latin typeface="Nohemi"/>
              </a:defRPr>
            </a:pPr>
            <a:r>
              <a:t>Performance</a:t>
            </a:r>
          </a:p>
        </p:txBody>
      </p:sp>
      <p:sp>
        <p:nvSpPr>
          <p:cNvPr id="14" name="TextBox 13"/>
          <p:cNvSpPr txBox="1"/>
          <p:nvPr/>
        </p:nvSpPr>
        <p:spPr>
          <a:xfrm>
            <a:off x="5486400" y="3172968"/>
            <a:ext cx="5943600" cy="548640"/>
          </a:xfrm>
          <a:prstGeom prst="rect">
            <a:avLst/>
          </a:prstGeom>
          <a:noFill/>
        </p:spPr>
        <p:txBody>
          <a:bodyPr wrap="square">
            <a:spAutoFit/>
          </a:bodyPr>
          <a:lstStyle/>
          <a:p>
            <a:pPr algn="l">
              <a:spcAft>
                <a:spcPts val="600"/>
              </a:spcAft>
              <a:defRPr sz="1800" b="0">
                <a:solidFill>
                  <a:srgbClr val="9AADA3"/>
                </a:solidFill>
                <a:latin typeface="Public Sans"/>
              </a:defRPr>
            </a:pPr>
            <a:r>
              <a:t>Services, citizens, and satisfaction in numbers</a:t>
            </a:r>
          </a:p>
        </p:txBody>
      </p:sp>
      <p:cxnSp>
        <p:nvCxnSpPr>
          <p:cNvPr id="15" name="Connector 14"/>
          <p:cNvCxnSpPr/>
          <p:nvPr/>
        </p:nvCxnSpPr>
        <p:spPr>
          <a:xfrm>
            <a:off x="731520" y="3785615"/>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3877056"/>
            <a:ext cx="640080" cy="548640"/>
          </a:xfrm>
          <a:prstGeom prst="rect">
            <a:avLst/>
          </a:prstGeom>
          <a:noFill/>
        </p:spPr>
        <p:txBody>
          <a:bodyPr wrap="square">
            <a:spAutoFit/>
          </a:bodyPr>
          <a:lstStyle/>
          <a:p>
            <a:pPr algn="l">
              <a:spcAft>
                <a:spcPts val="600"/>
              </a:spcAft>
              <a:defRPr sz="2200" b="1">
                <a:solidFill>
                  <a:srgbClr val="A8E063"/>
                </a:solidFill>
                <a:latin typeface="Nohemi"/>
              </a:defRPr>
            </a:pPr>
            <a:r>
              <a:t>03</a:t>
            </a:r>
          </a:p>
        </p:txBody>
      </p:sp>
      <p:sp>
        <p:nvSpPr>
          <p:cNvPr id="17" name="TextBox 16"/>
          <p:cNvSpPr txBox="1"/>
          <p:nvPr/>
        </p:nvSpPr>
        <p:spPr>
          <a:xfrm>
            <a:off x="1463040" y="3877056"/>
            <a:ext cx="3657600" cy="548640"/>
          </a:xfrm>
          <a:prstGeom prst="rect">
            <a:avLst/>
          </a:prstGeom>
          <a:noFill/>
        </p:spPr>
        <p:txBody>
          <a:bodyPr wrap="square">
            <a:spAutoFit/>
          </a:bodyPr>
          <a:lstStyle/>
          <a:p>
            <a:pPr algn="l">
              <a:spcAft>
                <a:spcPts val="600"/>
              </a:spcAft>
              <a:defRPr sz="2200" b="1">
                <a:solidFill>
                  <a:srgbClr val="F7F8F0"/>
                </a:solidFill>
                <a:latin typeface="Nohemi"/>
              </a:defRPr>
            </a:pPr>
            <a:r>
              <a:t>Deep Dives</a:t>
            </a:r>
          </a:p>
        </p:txBody>
      </p:sp>
      <p:sp>
        <p:nvSpPr>
          <p:cNvPr id="18" name="TextBox 17"/>
          <p:cNvSpPr txBox="1"/>
          <p:nvPr/>
        </p:nvSpPr>
        <p:spPr>
          <a:xfrm>
            <a:off x="5486400" y="3922776"/>
            <a:ext cx="5943600" cy="548640"/>
          </a:xfrm>
          <a:prstGeom prst="rect">
            <a:avLst/>
          </a:prstGeom>
          <a:noFill/>
        </p:spPr>
        <p:txBody>
          <a:bodyPr wrap="square">
            <a:spAutoFit/>
          </a:bodyPr>
          <a:lstStyle/>
          <a:p>
            <a:pPr algn="l">
              <a:spcAft>
                <a:spcPts val="600"/>
              </a:spcAft>
              <a:defRPr sz="1800" b="0">
                <a:solidFill>
                  <a:srgbClr val="9AADA3"/>
                </a:solidFill>
                <a:latin typeface="Public Sans"/>
              </a:defRPr>
            </a:pPr>
            <a:r>
              <a:t>Journey analytics, regional adoption, security</a:t>
            </a:r>
          </a:p>
        </p:txBody>
      </p:sp>
      <p:cxnSp>
        <p:nvCxnSpPr>
          <p:cNvPr id="19" name="Connector 18"/>
          <p:cNvCxnSpPr/>
          <p:nvPr/>
        </p:nvCxnSpPr>
        <p:spPr>
          <a:xfrm>
            <a:off x="731520" y="4535424"/>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4626864"/>
            <a:ext cx="640080" cy="548640"/>
          </a:xfrm>
          <a:prstGeom prst="rect">
            <a:avLst/>
          </a:prstGeom>
          <a:noFill/>
        </p:spPr>
        <p:txBody>
          <a:bodyPr wrap="square">
            <a:spAutoFit/>
          </a:bodyPr>
          <a:lstStyle/>
          <a:p>
            <a:pPr algn="l">
              <a:spcAft>
                <a:spcPts val="600"/>
              </a:spcAft>
              <a:defRPr sz="2200" b="1">
                <a:solidFill>
                  <a:srgbClr val="A8E063"/>
                </a:solidFill>
                <a:latin typeface="Nohemi"/>
              </a:defRPr>
            </a:pPr>
            <a:r>
              <a:t>04</a:t>
            </a:r>
          </a:p>
        </p:txBody>
      </p:sp>
      <p:sp>
        <p:nvSpPr>
          <p:cNvPr id="21" name="TextBox 20"/>
          <p:cNvSpPr txBox="1"/>
          <p:nvPr/>
        </p:nvSpPr>
        <p:spPr>
          <a:xfrm>
            <a:off x="1463040" y="4626864"/>
            <a:ext cx="3657600" cy="548640"/>
          </a:xfrm>
          <a:prstGeom prst="rect">
            <a:avLst/>
          </a:prstGeom>
          <a:noFill/>
        </p:spPr>
        <p:txBody>
          <a:bodyPr wrap="square">
            <a:spAutoFit/>
          </a:bodyPr>
          <a:lstStyle/>
          <a:p>
            <a:pPr algn="l">
              <a:spcAft>
                <a:spcPts val="600"/>
              </a:spcAft>
              <a:defRPr sz="2200" b="1">
                <a:solidFill>
                  <a:srgbClr val="F7F8F0"/>
                </a:solidFill>
                <a:latin typeface="Nohemi"/>
              </a:defRPr>
            </a:pPr>
            <a:r>
              <a:t>Strategy 2027</a:t>
            </a:r>
          </a:p>
        </p:txBody>
      </p:sp>
      <p:sp>
        <p:nvSpPr>
          <p:cNvPr id="22" name="TextBox 21"/>
          <p:cNvSpPr txBox="1"/>
          <p:nvPr/>
        </p:nvSpPr>
        <p:spPr>
          <a:xfrm>
            <a:off x="5486400" y="4672584"/>
            <a:ext cx="5943600" cy="548640"/>
          </a:xfrm>
          <a:prstGeom prst="rect">
            <a:avLst/>
          </a:prstGeom>
          <a:noFill/>
        </p:spPr>
        <p:txBody>
          <a:bodyPr wrap="square">
            <a:spAutoFit/>
          </a:bodyPr>
          <a:lstStyle/>
          <a:p>
            <a:pPr algn="l">
              <a:spcAft>
                <a:spcPts val="600"/>
              </a:spcAft>
              <a:defRPr sz="1800" b="0">
                <a:solidFill>
                  <a:srgbClr val="9AADA3"/>
                </a:solidFill>
                <a:latin typeface="Public Sans"/>
              </a:defRPr>
            </a:pPr>
            <a:r>
              <a:t>Priorities, investment, and roadmap</a:t>
            </a:r>
          </a:p>
        </p:txBody>
      </p:sp>
      <p:cxnSp>
        <p:nvCxnSpPr>
          <p:cNvPr id="23" name="Connector 22"/>
          <p:cNvCxnSpPr/>
          <p:nvPr/>
        </p:nvCxnSpPr>
        <p:spPr>
          <a:xfrm>
            <a:off x="731520" y="5285232"/>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1520" y="5376672"/>
            <a:ext cx="640080" cy="548640"/>
          </a:xfrm>
          <a:prstGeom prst="rect">
            <a:avLst/>
          </a:prstGeom>
          <a:noFill/>
        </p:spPr>
        <p:txBody>
          <a:bodyPr wrap="square">
            <a:spAutoFit/>
          </a:bodyPr>
          <a:lstStyle/>
          <a:p>
            <a:pPr algn="l">
              <a:spcAft>
                <a:spcPts val="600"/>
              </a:spcAft>
              <a:defRPr sz="2200" b="1">
                <a:solidFill>
                  <a:srgbClr val="A8E063"/>
                </a:solidFill>
                <a:latin typeface="Nohemi"/>
              </a:defRPr>
            </a:pPr>
            <a:r>
              <a:t>05</a:t>
            </a:r>
          </a:p>
        </p:txBody>
      </p:sp>
      <p:sp>
        <p:nvSpPr>
          <p:cNvPr id="25" name="TextBox 24"/>
          <p:cNvSpPr txBox="1"/>
          <p:nvPr/>
        </p:nvSpPr>
        <p:spPr>
          <a:xfrm>
            <a:off x="1463040" y="5376672"/>
            <a:ext cx="3657600" cy="548640"/>
          </a:xfrm>
          <a:prstGeom prst="rect">
            <a:avLst/>
          </a:prstGeom>
          <a:noFill/>
        </p:spPr>
        <p:txBody>
          <a:bodyPr wrap="square">
            <a:spAutoFit/>
          </a:bodyPr>
          <a:lstStyle/>
          <a:p>
            <a:pPr algn="l">
              <a:spcAft>
                <a:spcPts val="600"/>
              </a:spcAft>
              <a:defRPr sz="2200" b="1">
                <a:solidFill>
                  <a:srgbClr val="F7F8F0"/>
                </a:solidFill>
                <a:latin typeface="Nohemi"/>
              </a:defRPr>
            </a:pPr>
            <a:r>
              <a:t>Closing</a:t>
            </a:r>
          </a:p>
        </p:txBody>
      </p:sp>
      <p:sp>
        <p:nvSpPr>
          <p:cNvPr id="26" name="TextBox 25"/>
          <p:cNvSpPr txBox="1"/>
          <p:nvPr/>
        </p:nvSpPr>
        <p:spPr>
          <a:xfrm>
            <a:off x="5486400" y="5422392"/>
            <a:ext cx="5943600" cy="548640"/>
          </a:xfrm>
          <a:prstGeom prst="rect">
            <a:avLst/>
          </a:prstGeom>
          <a:noFill/>
        </p:spPr>
        <p:txBody>
          <a:bodyPr wrap="square">
            <a:spAutoFit/>
          </a:bodyPr>
          <a:lstStyle/>
          <a:p>
            <a:pPr algn="l">
              <a:spcAft>
                <a:spcPts val="600"/>
              </a:spcAft>
              <a:defRPr sz="1800" b="0">
                <a:solidFill>
                  <a:srgbClr val="9AADA3"/>
                </a:solidFill>
                <a:latin typeface="Public Sans"/>
              </a:defRPr>
            </a:pPr>
            <a:r>
              <a:t>Call to action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02  EXECUTIVE SUMMARY</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A Landmark Year</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02</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TextBox 7"/>
          <p:cNvSpPr txBox="1"/>
          <p:nvPr/>
        </p:nvSpPr>
        <p:spPr>
          <a:xfrm>
            <a:off x="731520" y="2286000"/>
            <a:ext cx="6583680" cy="3474720"/>
          </a:xfrm>
          <a:prstGeom prst="rect">
            <a:avLst/>
          </a:prstGeom>
          <a:noFill/>
        </p:spPr>
        <p:txBody>
          <a:bodyPr wrap="square">
            <a:spAutoFit/>
          </a:bodyPr>
          <a:lstStyle/>
          <a:p>
            <a:pPr algn="l">
              <a:spcAft>
                <a:spcPts val="600"/>
              </a:spcAft>
              <a:defRPr sz="2000" b="0">
                <a:solidFill>
                  <a:srgbClr val="F7F8F0"/>
                </a:solidFill>
                <a:latin typeface="Public Sans"/>
              </a:defRPr>
            </a:pPr>
            <a:r>
              <a:t>Egypt's digital government services reached a historic milestone in 2026. With 2.4 million citizens onboarded and 68 percent of services fully digitized, the transformation has moved from pilot programs to national-scale delivery.</a:t>
            </a:r>
          </a:p>
          <a:p>
            <a:pPr algn="l">
              <a:spcBef>
                <a:spcPts val="800"/>
              </a:spcBef>
              <a:spcAft>
                <a:spcPts val="600"/>
              </a:spcAft>
              <a:defRPr sz="2000" b="0">
                <a:solidFill>
                  <a:srgbClr val="F7F8F0"/>
                </a:solidFill>
                <a:latin typeface="Public Sans"/>
              </a:defRPr>
            </a:pPr>
            <a:r>
              <a:t>AI-powered document processing cut average service time to 4.2 seconds while citizen satisfaction climbed to 91 percent, the highest ever recorded. Twelve ministries now share data through the national exchange, eliminating redundant paperwork for millions of transactions.</a:t>
            </a:r>
          </a:p>
          <a:p>
            <a:pPr algn="l">
              <a:spcBef>
                <a:spcPts val="800"/>
              </a:spcBef>
              <a:spcAft>
                <a:spcPts val="600"/>
              </a:spcAft>
              <a:defRPr sz="2000" b="0">
                <a:solidFill>
                  <a:srgbClr val="9AADA3"/>
                </a:solidFill>
                <a:latin typeface="Public Sans"/>
              </a:defRPr>
            </a:pPr>
            <a:r>
              <a:t>This report reviews performance across every service category, analyzes the citizen journey in detail, and sets the strategic direction for 2027.</a:t>
            </a:r>
          </a:p>
        </p:txBody>
      </p:sp>
      <p:sp>
        <p:nvSpPr>
          <p:cNvPr id="9" name="Rounded Rectangle 8"/>
          <p:cNvSpPr/>
          <p:nvPr/>
        </p:nvSpPr>
        <p:spPr>
          <a:xfrm>
            <a:off x="7863840" y="2286000"/>
            <a:ext cx="3566160" cy="347472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560320"/>
            <a:ext cx="2834640" cy="457200"/>
          </a:xfrm>
          <a:prstGeom prst="rect">
            <a:avLst/>
          </a:prstGeom>
          <a:noFill/>
        </p:spPr>
        <p:txBody>
          <a:bodyPr wrap="square">
            <a:spAutoFit/>
          </a:bodyPr>
          <a:lstStyle/>
          <a:p>
            <a:pPr algn="ctr">
              <a:spcAft>
                <a:spcPts val="600"/>
              </a:spcAft>
              <a:defRPr sz="1400" b="1">
                <a:solidFill>
                  <a:srgbClr val="A8E063"/>
                </a:solidFill>
                <a:latin typeface="Nohemi"/>
              </a:defRPr>
            </a:pPr>
            <a:r>
              <a:t>2026 IN NUMBERS</a:t>
            </a:r>
          </a:p>
        </p:txBody>
      </p:sp>
      <p:sp>
        <p:nvSpPr>
          <p:cNvPr id="11" name="TextBox 10"/>
          <p:cNvSpPr txBox="1"/>
          <p:nvPr/>
        </p:nvSpPr>
        <p:spPr>
          <a:xfrm>
            <a:off x="8229600" y="3063240"/>
            <a:ext cx="1371600" cy="457200"/>
          </a:xfrm>
          <a:prstGeom prst="rect">
            <a:avLst/>
          </a:prstGeom>
          <a:noFill/>
        </p:spPr>
        <p:txBody>
          <a:bodyPr wrap="square">
            <a:spAutoFit/>
          </a:bodyPr>
          <a:lstStyle/>
          <a:p>
            <a:pPr algn="r">
              <a:spcAft>
                <a:spcPts val="600"/>
              </a:spcAft>
              <a:defRPr sz="2800" b="1">
                <a:solidFill>
                  <a:srgbClr val="F7F8F0"/>
                </a:solidFill>
                <a:latin typeface="Nohemi"/>
              </a:defRPr>
            </a:pPr>
            <a:r>
              <a:t>2.4M</a:t>
            </a:r>
          </a:p>
        </p:txBody>
      </p:sp>
      <p:sp>
        <p:nvSpPr>
          <p:cNvPr id="12" name="TextBox 11"/>
          <p:cNvSpPr txBox="1"/>
          <p:nvPr/>
        </p:nvSpPr>
        <p:spPr>
          <a:xfrm>
            <a:off x="9692640" y="3172968"/>
            <a:ext cx="1280160" cy="457200"/>
          </a:xfrm>
          <a:prstGeom prst="rect">
            <a:avLst/>
          </a:prstGeom>
          <a:noFill/>
        </p:spPr>
        <p:txBody>
          <a:bodyPr wrap="square">
            <a:spAutoFit/>
          </a:bodyPr>
          <a:lstStyle/>
          <a:p>
            <a:pPr algn="l">
              <a:spcAft>
                <a:spcPts val="600"/>
              </a:spcAft>
              <a:defRPr sz="1600" b="0">
                <a:solidFill>
                  <a:srgbClr val="9AADA3"/>
                </a:solidFill>
                <a:latin typeface="Public Sans"/>
              </a:defRPr>
            </a:pPr>
            <a:r>
              <a:t>citizens</a:t>
            </a:r>
          </a:p>
        </p:txBody>
      </p:sp>
      <p:sp>
        <p:nvSpPr>
          <p:cNvPr id="13" name="TextBox 12"/>
          <p:cNvSpPr txBox="1"/>
          <p:nvPr/>
        </p:nvSpPr>
        <p:spPr>
          <a:xfrm>
            <a:off x="8229600" y="3840480"/>
            <a:ext cx="1371600" cy="457200"/>
          </a:xfrm>
          <a:prstGeom prst="rect">
            <a:avLst/>
          </a:prstGeom>
          <a:noFill/>
        </p:spPr>
        <p:txBody>
          <a:bodyPr wrap="square">
            <a:spAutoFit/>
          </a:bodyPr>
          <a:lstStyle/>
          <a:p>
            <a:pPr algn="r">
              <a:spcAft>
                <a:spcPts val="600"/>
              </a:spcAft>
              <a:defRPr sz="2800" b="1">
                <a:solidFill>
                  <a:srgbClr val="F7F8F0"/>
                </a:solidFill>
                <a:latin typeface="Nohemi"/>
              </a:defRPr>
            </a:pPr>
            <a:r>
              <a:t>68%</a:t>
            </a:r>
          </a:p>
        </p:txBody>
      </p:sp>
      <p:sp>
        <p:nvSpPr>
          <p:cNvPr id="14" name="TextBox 13"/>
          <p:cNvSpPr txBox="1"/>
          <p:nvPr/>
        </p:nvSpPr>
        <p:spPr>
          <a:xfrm>
            <a:off x="9692640" y="3950208"/>
            <a:ext cx="1280160" cy="457200"/>
          </a:xfrm>
          <a:prstGeom prst="rect">
            <a:avLst/>
          </a:prstGeom>
          <a:noFill/>
        </p:spPr>
        <p:txBody>
          <a:bodyPr wrap="square">
            <a:spAutoFit/>
          </a:bodyPr>
          <a:lstStyle/>
          <a:p>
            <a:pPr algn="l">
              <a:spcAft>
                <a:spcPts val="600"/>
              </a:spcAft>
              <a:defRPr sz="1600" b="0">
                <a:solidFill>
                  <a:srgbClr val="9AADA3"/>
                </a:solidFill>
                <a:latin typeface="Public Sans"/>
              </a:defRPr>
            </a:pPr>
            <a:r>
              <a:t>digitized</a:t>
            </a:r>
          </a:p>
        </p:txBody>
      </p:sp>
      <p:sp>
        <p:nvSpPr>
          <p:cNvPr id="15" name="TextBox 14"/>
          <p:cNvSpPr txBox="1"/>
          <p:nvPr/>
        </p:nvSpPr>
        <p:spPr>
          <a:xfrm>
            <a:off x="8229600" y="4617720"/>
            <a:ext cx="1371600" cy="457200"/>
          </a:xfrm>
          <a:prstGeom prst="rect">
            <a:avLst/>
          </a:prstGeom>
          <a:noFill/>
        </p:spPr>
        <p:txBody>
          <a:bodyPr wrap="square">
            <a:spAutoFit/>
          </a:bodyPr>
          <a:lstStyle/>
          <a:p>
            <a:pPr algn="r">
              <a:spcAft>
                <a:spcPts val="600"/>
              </a:spcAft>
              <a:defRPr sz="2800" b="1">
                <a:solidFill>
                  <a:srgbClr val="F7F8F0"/>
                </a:solidFill>
                <a:latin typeface="Nohemi"/>
              </a:defRPr>
            </a:pPr>
            <a:r>
              <a:t>91%</a:t>
            </a:r>
          </a:p>
        </p:txBody>
      </p:sp>
      <p:sp>
        <p:nvSpPr>
          <p:cNvPr id="16" name="TextBox 15"/>
          <p:cNvSpPr txBox="1"/>
          <p:nvPr/>
        </p:nvSpPr>
        <p:spPr>
          <a:xfrm>
            <a:off x="9692640" y="4727448"/>
            <a:ext cx="1280160" cy="457200"/>
          </a:xfrm>
          <a:prstGeom prst="rect">
            <a:avLst/>
          </a:prstGeom>
          <a:noFill/>
        </p:spPr>
        <p:txBody>
          <a:bodyPr wrap="square">
            <a:spAutoFit/>
          </a:bodyPr>
          <a:lstStyle/>
          <a:p>
            <a:pPr algn="l">
              <a:spcAft>
                <a:spcPts val="600"/>
              </a:spcAft>
              <a:defRPr sz="1600" b="0">
                <a:solidFill>
                  <a:srgbClr val="9AADA3"/>
                </a:solidFill>
                <a:latin typeface="Public Sans"/>
              </a:defRPr>
            </a:pPr>
            <a:r>
              <a:t>satisfaction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03  KEY METRICS</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Performance at a Glance</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03</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Rounded Rectangle 7"/>
          <p:cNvSpPr/>
          <p:nvPr/>
        </p:nvSpPr>
        <p:spPr>
          <a:xfrm>
            <a:off x="731520" y="2377440"/>
            <a:ext cx="2560320" cy="310896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377440"/>
            <a:ext cx="2560320" cy="73152"/>
          </a:xfrm>
          <a:prstGeom prst="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43200"/>
            <a:ext cx="2103120" cy="822960"/>
          </a:xfrm>
          <a:prstGeom prst="rect">
            <a:avLst/>
          </a:prstGeom>
          <a:noFill/>
        </p:spPr>
        <p:txBody>
          <a:bodyPr wrap="square">
            <a:spAutoFit/>
          </a:bodyPr>
          <a:lstStyle/>
          <a:p>
            <a:pPr algn="ctr">
              <a:spcAft>
                <a:spcPts val="600"/>
              </a:spcAft>
              <a:defRPr sz="5200" b="1">
                <a:solidFill>
                  <a:srgbClr val="F7F8F0"/>
                </a:solidFill>
                <a:latin typeface="Nohemi"/>
              </a:defRPr>
            </a:pPr>
            <a:r>
              <a:t>2.4M</a:t>
            </a:r>
          </a:p>
        </p:txBody>
      </p:sp>
      <p:sp>
        <p:nvSpPr>
          <p:cNvPr id="11" name="TextBox 10"/>
          <p:cNvSpPr txBox="1"/>
          <p:nvPr/>
        </p:nvSpPr>
        <p:spPr>
          <a:xfrm>
            <a:off x="960120" y="3611880"/>
            <a:ext cx="2103120" cy="640080"/>
          </a:xfrm>
          <a:prstGeom prst="rect">
            <a:avLst/>
          </a:prstGeom>
          <a:noFill/>
        </p:spPr>
        <p:txBody>
          <a:bodyPr wrap="square">
            <a:spAutoFit/>
          </a:bodyPr>
          <a:lstStyle/>
          <a:p>
            <a:pPr algn="ctr">
              <a:spcAft>
                <a:spcPts val="600"/>
              </a:spcAft>
              <a:defRPr sz="1800" b="0">
                <a:solidFill>
                  <a:srgbClr val="9AADA3"/>
                </a:solidFill>
                <a:latin typeface="Public Sans"/>
              </a:defRPr>
            </a:pPr>
            <a:r>
              <a:t>Citizens Onboarded</a:t>
            </a:r>
          </a:p>
        </p:txBody>
      </p:sp>
      <p:cxnSp>
        <p:nvCxnSpPr>
          <p:cNvPr id="12" name="Connector 11"/>
          <p:cNvCxnSpPr/>
          <p:nvPr/>
        </p:nvCxnSpPr>
        <p:spPr>
          <a:xfrm>
            <a:off x="1554480" y="4343400"/>
            <a:ext cx="91440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60120" y="4480560"/>
            <a:ext cx="2103120" cy="457200"/>
          </a:xfrm>
          <a:prstGeom prst="rect">
            <a:avLst/>
          </a:prstGeom>
          <a:noFill/>
        </p:spPr>
        <p:txBody>
          <a:bodyPr wrap="square">
            <a:spAutoFit/>
          </a:bodyPr>
          <a:lstStyle/>
          <a:p>
            <a:pPr algn="ctr">
              <a:spcAft>
                <a:spcPts val="600"/>
              </a:spcAft>
              <a:defRPr sz="1500" b="1">
                <a:solidFill>
                  <a:srgbClr val="A8E063"/>
                </a:solidFill>
                <a:latin typeface="Public Sans"/>
              </a:defRPr>
            </a:pPr>
            <a:r>
              <a:t>+60% vs 2025</a:t>
            </a:r>
          </a:p>
        </p:txBody>
      </p:sp>
      <p:sp>
        <p:nvSpPr>
          <p:cNvPr id="14" name="Rounded Rectangle 13"/>
          <p:cNvSpPr/>
          <p:nvPr/>
        </p:nvSpPr>
        <p:spPr>
          <a:xfrm>
            <a:off x="3520439" y="2377440"/>
            <a:ext cx="2560320" cy="310896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520439" y="2377440"/>
            <a:ext cx="2560320" cy="73152"/>
          </a:xfrm>
          <a:prstGeom prst="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49039" y="2743200"/>
            <a:ext cx="2103120" cy="822960"/>
          </a:xfrm>
          <a:prstGeom prst="rect">
            <a:avLst/>
          </a:prstGeom>
          <a:noFill/>
        </p:spPr>
        <p:txBody>
          <a:bodyPr wrap="square">
            <a:spAutoFit/>
          </a:bodyPr>
          <a:lstStyle/>
          <a:p>
            <a:pPr algn="ctr">
              <a:spcAft>
                <a:spcPts val="600"/>
              </a:spcAft>
              <a:defRPr sz="5200" b="1">
                <a:solidFill>
                  <a:srgbClr val="F7F8F0"/>
                </a:solidFill>
                <a:latin typeface="Nohemi"/>
              </a:defRPr>
            </a:pPr>
            <a:r>
              <a:t>68%</a:t>
            </a:r>
          </a:p>
        </p:txBody>
      </p:sp>
      <p:sp>
        <p:nvSpPr>
          <p:cNvPr id="17" name="TextBox 16"/>
          <p:cNvSpPr txBox="1"/>
          <p:nvPr/>
        </p:nvSpPr>
        <p:spPr>
          <a:xfrm>
            <a:off x="3749039" y="3611880"/>
            <a:ext cx="2103120" cy="640080"/>
          </a:xfrm>
          <a:prstGeom prst="rect">
            <a:avLst/>
          </a:prstGeom>
          <a:noFill/>
        </p:spPr>
        <p:txBody>
          <a:bodyPr wrap="square">
            <a:spAutoFit/>
          </a:bodyPr>
          <a:lstStyle/>
          <a:p>
            <a:pPr algn="ctr">
              <a:spcAft>
                <a:spcPts val="600"/>
              </a:spcAft>
              <a:defRPr sz="1800" b="0">
                <a:solidFill>
                  <a:srgbClr val="9AADA3"/>
                </a:solidFill>
                <a:latin typeface="Public Sans"/>
              </a:defRPr>
            </a:pPr>
            <a:r>
              <a:t>Services Digitized</a:t>
            </a:r>
          </a:p>
        </p:txBody>
      </p:sp>
      <p:cxnSp>
        <p:nvCxnSpPr>
          <p:cNvPr id="18" name="Connector 17"/>
          <p:cNvCxnSpPr/>
          <p:nvPr/>
        </p:nvCxnSpPr>
        <p:spPr>
          <a:xfrm>
            <a:off x="4343400" y="4343400"/>
            <a:ext cx="91440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749039" y="4480560"/>
            <a:ext cx="2103120" cy="457200"/>
          </a:xfrm>
          <a:prstGeom prst="rect">
            <a:avLst/>
          </a:prstGeom>
          <a:noFill/>
        </p:spPr>
        <p:txBody>
          <a:bodyPr wrap="square">
            <a:spAutoFit/>
          </a:bodyPr>
          <a:lstStyle/>
          <a:p>
            <a:pPr algn="ctr">
              <a:spcAft>
                <a:spcPts val="600"/>
              </a:spcAft>
              <a:defRPr sz="1500" b="1">
                <a:solidFill>
                  <a:srgbClr val="2D7D6B"/>
                </a:solidFill>
                <a:latin typeface="Public Sans"/>
              </a:defRPr>
            </a:pPr>
            <a:r>
              <a:t>+14 pts vs 2025</a:t>
            </a:r>
          </a:p>
        </p:txBody>
      </p:sp>
      <p:sp>
        <p:nvSpPr>
          <p:cNvPr id="20" name="Rounded Rectangle 19"/>
          <p:cNvSpPr/>
          <p:nvPr/>
        </p:nvSpPr>
        <p:spPr>
          <a:xfrm>
            <a:off x="6309359" y="2377440"/>
            <a:ext cx="2560320" cy="310896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59" y="2377440"/>
            <a:ext cx="2560320" cy="73152"/>
          </a:xfrm>
          <a:prstGeom prst="rect">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37959" y="2743200"/>
            <a:ext cx="2103120" cy="822960"/>
          </a:xfrm>
          <a:prstGeom prst="rect">
            <a:avLst/>
          </a:prstGeom>
          <a:noFill/>
        </p:spPr>
        <p:txBody>
          <a:bodyPr wrap="square">
            <a:spAutoFit/>
          </a:bodyPr>
          <a:lstStyle/>
          <a:p>
            <a:pPr algn="ctr">
              <a:spcAft>
                <a:spcPts val="600"/>
              </a:spcAft>
              <a:defRPr sz="5200" b="1">
                <a:solidFill>
                  <a:srgbClr val="F7F8F0"/>
                </a:solidFill>
                <a:latin typeface="Nohemi"/>
              </a:defRPr>
            </a:pPr>
            <a:r>
              <a:t>4.2s</a:t>
            </a:r>
          </a:p>
        </p:txBody>
      </p:sp>
      <p:sp>
        <p:nvSpPr>
          <p:cNvPr id="23" name="TextBox 22"/>
          <p:cNvSpPr txBox="1"/>
          <p:nvPr/>
        </p:nvSpPr>
        <p:spPr>
          <a:xfrm>
            <a:off x="6537959" y="3611880"/>
            <a:ext cx="2103120" cy="640080"/>
          </a:xfrm>
          <a:prstGeom prst="rect">
            <a:avLst/>
          </a:prstGeom>
          <a:noFill/>
        </p:spPr>
        <p:txBody>
          <a:bodyPr wrap="square">
            <a:spAutoFit/>
          </a:bodyPr>
          <a:lstStyle/>
          <a:p>
            <a:pPr algn="ctr">
              <a:spcAft>
                <a:spcPts val="600"/>
              </a:spcAft>
              <a:defRPr sz="1800" b="0">
                <a:solidFill>
                  <a:srgbClr val="9AADA3"/>
                </a:solidFill>
                <a:latin typeface="Public Sans"/>
              </a:defRPr>
            </a:pPr>
            <a:r>
              <a:t>Average Service Time</a:t>
            </a:r>
          </a:p>
        </p:txBody>
      </p:sp>
      <p:cxnSp>
        <p:nvCxnSpPr>
          <p:cNvPr id="24" name="Connector 23"/>
          <p:cNvCxnSpPr/>
          <p:nvPr/>
        </p:nvCxnSpPr>
        <p:spPr>
          <a:xfrm>
            <a:off x="7132320" y="4343400"/>
            <a:ext cx="91440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537959" y="4480560"/>
            <a:ext cx="2103120" cy="457200"/>
          </a:xfrm>
          <a:prstGeom prst="rect">
            <a:avLst/>
          </a:prstGeom>
          <a:noFill/>
        </p:spPr>
        <p:txBody>
          <a:bodyPr wrap="square">
            <a:spAutoFit/>
          </a:bodyPr>
          <a:lstStyle/>
          <a:p>
            <a:pPr algn="ctr">
              <a:spcAft>
                <a:spcPts val="600"/>
              </a:spcAft>
              <a:defRPr sz="1500" b="1">
                <a:solidFill>
                  <a:srgbClr val="D4A74A"/>
                </a:solidFill>
                <a:latin typeface="Public Sans"/>
              </a:defRPr>
            </a:pPr>
            <a:r>
              <a:t>-78% vs 2024</a:t>
            </a:r>
          </a:p>
        </p:txBody>
      </p:sp>
      <p:sp>
        <p:nvSpPr>
          <p:cNvPr id="26" name="Rounded Rectangle 25"/>
          <p:cNvSpPr/>
          <p:nvPr/>
        </p:nvSpPr>
        <p:spPr>
          <a:xfrm>
            <a:off x="9098280" y="2377440"/>
            <a:ext cx="2560320" cy="310896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98280" y="2377440"/>
            <a:ext cx="2560320" cy="73152"/>
          </a:xfrm>
          <a:prstGeom prst="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2743200"/>
            <a:ext cx="2103120" cy="822960"/>
          </a:xfrm>
          <a:prstGeom prst="rect">
            <a:avLst/>
          </a:prstGeom>
          <a:noFill/>
        </p:spPr>
        <p:txBody>
          <a:bodyPr wrap="square">
            <a:spAutoFit/>
          </a:bodyPr>
          <a:lstStyle/>
          <a:p>
            <a:pPr algn="ctr">
              <a:spcAft>
                <a:spcPts val="600"/>
              </a:spcAft>
              <a:defRPr sz="5200" b="1">
                <a:solidFill>
                  <a:srgbClr val="F7F8F0"/>
                </a:solidFill>
                <a:latin typeface="Nohemi"/>
              </a:defRPr>
            </a:pPr>
            <a:r>
              <a:t>91%</a:t>
            </a:r>
          </a:p>
        </p:txBody>
      </p:sp>
      <p:sp>
        <p:nvSpPr>
          <p:cNvPr id="29" name="TextBox 28"/>
          <p:cNvSpPr txBox="1"/>
          <p:nvPr/>
        </p:nvSpPr>
        <p:spPr>
          <a:xfrm>
            <a:off x="9326880" y="3611880"/>
            <a:ext cx="2103120" cy="640080"/>
          </a:xfrm>
          <a:prstGeom prst="rect">
            <a:avLst/>
          </a:prstGeom>
          <a:noFill/>
        </p:spPr>
        <p:txBody>
          <a:bodyPr wrap="square">
            <a:spAutoFit/>
          </a:bodyPr>
          <a:lstStyle/>
          <a:p>
            <a:pPr algn="ctr">
              <a:spcAft>
                <a:spcPts val="600"/>
              </a:spcAft>
              <a:defRPr sz="1800" b="0">
                <a:solidFill>
                  <a:srgbClr val="9AADA3"/>
                </a:solidFill>
                <a:latin typeface="Public Sans"/>
              </a:defRPr>
            </a:pPr>
            <a:r>
              <a:t>Citizen Satisfaction</a:t>
            </a:r>
          </a:p>
        </p:txBody>
      </p:sp>
      <p:cxnSp>
        <p:nvCxnSpPr>
          <p:cNvPr id="30" name="Connector 29"/>
          <p:cNvCxnSpPr/>
          <p:nvPr/>
        </p:nvCxnSpPr>
        <p:spPr>
          <a:xfrm>
            <a:off x="9921240" y="4343400"/>
            <a:ext cx="91440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326880" y="4480560"/>
            <a:ext cx="2103120" cy="457200"/>
          </a:xfrm>
          <a:prstGeom prst="rect">
            <a:avLst/>
          </a:prstGeom>
          <a:noFill/>
        </p:spPr>
        <p:txBody>
          <a:bodyPr wrap="square">
            <a:spAutoFit/>
          </a:bodyPr>
          <a:lstStyle/>
          <a:p>
            <a:pPr algn="ctr">
              <a:spcAft>
                <a:spcPts val="600"/>
              </a:spcAft>
              <a:defRPr sz="1500" b="1">
                <a:solidFill>
                  <a:srgbClr val="A8E063"/>
                </a:solidFill>
                <a:latin typeface="Public Sans"/>
              </a:defRPr>
            </a:pPr>
            <a:r>
              <a:t>+13 pts vs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04  SERVICES</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Digital Services Volume</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04</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TextBox 7"/>
          <p:cNvSpPr txBox="1"/>
          <p:nvPr/>
        </p:nvSpPr>
        <p:spPr>
          <a:xfrm>
            <a:off x="731520" y="2103120"/>
            <a:ext cx="10698480" cy="457200"/>
          </a:xfrm>
          <a:prstGeom prst="rect">
            <a:avLst/>
          </a:prstGeom>
          <a:noFill/>
        </p:spPr>
        <p:txBody>
          <a:bodyPr wrap="square">
            <a:spAutoFit/>
          </a:bodyPr>
          <a:lstStyle/>
          <a:p>
            <a:pPr algn="l">
              <a:spcAft>
                <a:spcPts val="600"/>
              </a:spcAft>
              <a:defRPr sz="1700" b="0">
                <a:solidFill>
                  <a:srgbClr val="9AADA3"/>
                </a:solidFill>
                <a:latin typeface="Public Sans"/>
              </a:defRPr>
            </a:pPr>
            <a:r>
              <a:t>Transactions by category, thousands of transactions in 2026</a:t>
            </a:r>
          </a:p>
        </p:txBody>
      </p:sp>
      <p:sp>
        <p:nvSpPr>
          <p:cNvPr id="9" name="TextBox 8"/>
          <p:cNvSpPr txBox="1"/>
          <p:nvPr/>
        </p:nvSpPr>
        <p:spPr>
          <a:xfrm>
            <a:off x="731520" y="2834640"/>
            <a:ext cx="2011680" cy="457200"/>
          </a:xfrm>
          <a:prstGeom prst="rect">
            <a:avLst/>
          </a:prstGeom>
          <a:noFill/>
        </p:spPr>
        <p:txBody>
          <a:bodyPr wrap="square">
            <a:spAutoFit/>
          </a:bodyPr>
          <a:lstStyle/>
          <a:p>
            <a:pPr algn="l">
              <a:spcAft>
                <a:spcPts val="600"/>
              </a:spcAft>
              <a:defRPr sz="1900" b="0">
                <a:solidFill>
                  <a:srgbClr val="F7F8F0"/>
                </a:solidFill>
                <a:latin typeface="Public Sans"/>
              </a:defRPr>
            </a:pPr>
            <a:r>
              <a:t>ID Services</a:t>
            </a:r>
          </a:p>
        </p:txBody>
      </p:sp>
      <p:sp>
        <p:nvSpPr>
          <p:cNvPr id="10" name="Rounded Rectangle 9"/>
          <p:cNvSpPr/>
          <p:nvPr/>
        </p:nvSpPr>
        <p:spPr>
          <a:xfrm>
            <a:off x="2926080" y="2880360"/>
            <a:ext cx="6858000" cy="384048"/>
          </a:xfrm>
          <a:prstGeom prst="round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12680" y="2834640"/>
            <a:ext cx="1371600" cy="457200"/>
          </a:xfrm>
          <a:prstGeom prst="rect">
            <a:avLst/>
          </a:prstGeom>
          <a:noFill/>
        </p:spPr>
        <p:txBody>
          <a:bodyPr wrap="square">
            <a:spAutoFit/>
          </a:bodyPr>
          <a:lstStyle/>
          <a:p>
            <a:pPr algn="l">
              <a:spcAft>
                <a:spcPts val="600"/>
              </a:spcAft>
              <a:defRPr sz="1900" b="1">
                <a:solidFill>
                  <a:srgbClr val="F7F8F0"/>
                </a:solidFill>
                <a:latin typeface="Nohemi"/>
              </a:defRPr>
            </a:pPr>
            <a:r>
              <a:t>420</a:t>
            </a:r>
          </a:p>
        </p:txBody>
      </p:sp>
      <p:sp>
        <p:nvSpPr>
          <p:cNvPr id="12" name="TextBox 11"/>
          <p:cNvSpPr txBox="1"/>
          <p:nvPr/>
        </p:nvSpPr>
        <p:spPr>
          <a:xfrm>
            <a:off x="731520" y="3703320"/>
            <a:ext cx="2011680" cy="457200"/>
          </a:xfrm>
          <a:prstGeom prst="rect">
            <a:avLst/>
          </a:prstGeom>
          <a:noFill/>
        </p:spPr>
        <p:txBody>
          <a:bodyPr wrap="square">
            <a:spAutoFit/>
          </a:bodyPr>
          <a:lstStyle/>
          <a:p>
            <a:pPr algn="l">
              <a:spcAft>
                <a:spcPts val="600"/>
              </a:spcAft>
              <a:defRPr sz="1900" b="0">
                <a:solidFill>
                  <a:srgbClr val="F7F8F0"/>
                </a:solidFill>
                <a:latin typeface="Public Sans"/>
              </a:defRPr>
            </a:pPr>
            <a:r>
              <a:t>Licenses</a:t>
            </a:r>
          </a:p>
        </p:txBody>
      </p:sp>
      <p:sp>
        <p:nvSpPr>
          <p:cNvPr id="13" name="Rounded Rectangle 12"/>
          <p:cNvSpPr/>
          <p:nvPr/>
        </p:nvSpPr>
        <p:spPr>
          <a:xfrm>
            <a:off x="2926080" y="3749039"/>
            <a:ext cx="5061857" cy="384048"/>
          </a:xfrm>
          <a:prstGeom prst="round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16537" y="3703320"/>
            <a:ext cx="1371600" cy="457200"/>
          </a:xfrm>
          <a:prstGeom prst="rect">
            <a:avLst/>
          </a:prstGeom>
          <a:noFill/>
        </p:spPr>
        <p:txBody>
          <a:bodyPr wrap="square">
            <a:spAutoFit/>
          </a:bodyPr>
          <a:lstStyle/>
          <a:p>
            <a:pPr algn="l">
              <a:spcAft>
                <a:spcPts val="600"/>
              </a:spcAft>
              <a:defRPr sz="1900" b="1">
                <a:solidFill>
                  <a:srgbClr val="F7F8F0"/>
                </a:solidFill>
                <a:latin typeface="Nohemi"/>
              </a:defRPr>
            </a:pPr>
            <a:r>
              <a:t>310</a:t>
            </a:r>
          </a:p>
        </p:txBody>
      </p:sp>
      <p:sp>
        <p:nvSpPr>
          <p:cNvPr id="15" name="TextBox 14"/>
          <p:cNvSpPr txBox="1"/>
          <p:nvPr/>
        </p:nvSpPr>
        <p:spPr>
          <a:xfrm>
            <a:off x="731520" y="4572000"/>
            <a:ext cx="2011680" cy="457200"/>
          </a:xfrm>
          <a:prstGeom prst="rect">
            <a:avLst/>
          </a:prstGeom>
          <a:noFill/>
        </p:spPr>
        <p:txBody>
          <a:bodyPr wrap="square">
            <a:spAutoFit/>
          </a:bodyPr>
          <a:lstStyle/>
          <a:p>
            <a:pPr algn="l">
              <a:spcAft>
                <a:spcPts val="600"/>
              </a:spcAft>
              <a:defRPr sz="1900" b="0">
                <a:solidFill>
                  <a:srgbClr val="F7F8F0"/>
                </a:solidFill>
                <a:latin typeface="Public Sans"/>
              </a:defRPr>
            </a:pPr>
            <a:r>
              <a:t>Permits</a:t>
            </a:r>
          </a:p>
        </p:txBody>
      </p:sp>
      <p:sp>
        <p:nvSpPr>
          <p:cNvPr id="16" name="Rounded Rectangle 15"/>
          <p:cNvSpPr/>
          <p:nvPr/>
        </p:nvSpPr>
        <p:spPr>
          <a:xfrm>
            <a:off x="2926080" y="4617720"/>
            <a:ext cx="4245428" cy="384048"/>
          </a:xfrm>
          <a:prstGeom prst="roundRect">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0108" y="4572000"/>
            <a:ext cx="1371600" cy="457200"/>
          </a:xfrm>
          <a:prstGeom prst="rect">
            <a:avLst/>
          </a:prstGeom>
          <a:noFill/>
        </p:spPr>
        <p:txBody>
          <a:bodyPr wrap="square">
            <a:spAutoFit/>
          </a:bodyPr>
          <a:lstStyle/>
          <a:p>
            <a:pPr algn="l">
              <a:spcAft>
                <a:spcPts val="600"/>
              </a:spcAft>
              <a:defRPr sz="1900" b="1">
                <a:solidFill>
                  <a:srgbClr val="F7F8F0"/>
                </a:solidFill>
                <a:latin typeface="Nohemi"/>
              </a:defRPr>
            </a:pPr>
            <a:r>
              <a:t>260</a:t>
            </a:r>
          </a:p>
        </p:txBody>
      </p:sp>
      <p:sp>
        <p:nvSpPr>
          <p:cNvPr id="18" name="TextBox 17"/>
          <p:cNvSpPr txBox="1"/>
          <p:nvPr/>
        </p:nvSpPr>
        <p:spPr>
          <a:xfrm>
            <a:off x="731520" y="5440679"/>
            <a:ext cx="2011680" cy="457200"/>
          </a:xfrm>
          <a:prstGeom prst="rect">
            <a:avLst/>
          </a:prstGeom>
          <a:noFill/>
        </p:spPr>
        <p:txBody>
          <a:bodyPr wrap="square">
            <a:spAutoFit/>
          </a:bodyPr>
          <a:lstStyle/>
          <a:p>
            <a:pPr algn="l">
              <a:spcAft>
                <a:spcPts val="600"/>
              </a:spcAft>
              <a:defRPr sz="1900" b="0">
                <a:solidFill>
                  <a:srgbClr val="F7F8F0"/>
                </a:solidFill>
                <a:latin typeface="Public Sans"/>
              </a:defRPr>
            </a:pPr>
            <a:r>
              <a:t>Certificates</a:t>
            </a:r>
          </a:p>
        </p:txBody>
      </p:sp>
      <p:sp>
        <p:nvSpPr>
          <p:cNvPr id="19" name="Rounded Rectangle 18"/>
          <p:cNvSpPr/>
          <p:nvPr/>
        </p:nvSpPr>
        <p:spPr>
          <a:xfrm>
            <a:off x="2926080" y="5486399"/>
            <a:ext cx="3102428" cy="384048"/>
          </a:xfrm>
          <a:prstGeom prst="round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57108" y="5440679"/>
            <a:ext cx="1371600" cy="457200"/>
          </a:xfrm>
          <a:prstGeom prst="rect">
            <a:avLst/>
          </a:prstGeom>
          <a:noFill/>
        </p:spPr>
        <p:txBody>
          <a:bodyPr wrap="square">
            <a:spAutoFit/>
          </a:bodyPr>
          <a:lstStyle/>
          <a:p>
            <a:pPr algn="l">
              <a:spcAft>
                <a:spcPts val="600"/>
              </a:spcAft>
              <a:defRPr sz="1900" b="1">
                <a:solidFill>
                  <a:srgbClr val="F7F8F0"/>
                </a:solidFill>
                <a:latin typeface="Nohemi"/>
              </a:defRPr>
            </a:pPr>
            <a:r>
              <a:t>190</a:t>
            </a:r>
          </a:p>
        </p:txBody>
      </p:sp>
      <p:sp>
        <p:nvSpPr>
          <p:cNvPr id="21" name="TextBox 20"/>
          <p:cNvSpPr txBox="1"/>
          <p:nvPr/>
        </p:nvSpPr>
        <p:spPr>
          <a:xfrm>
            <a:off x="2560320" y="5989320"/>
            <a:ext cx="731520" cy="365760"/>
          </a:xfrm>
          <a:prstGeom prst="rect">
            <a:avLst/>
          </a:prstGeom>
          <a:noFill/>
        </p:spPr>
        <p:txBody>
          <a:bodyPr wrap="square">
            <a:spAutoFit/>
          </a:bodyPr>
          <a:lstStyle/>
          <a:p>
            <a:pPr algn="ctr">
              <a:spcAft>
                <a:spcPts val="600"/>
              </a:spcAft>
              <a:defRPr sz="1300" b="0">
                <a:solidFill>
                  <a:srgbClr val="9AADA3"/>
                </a:solidFill>
                <a:latin typeface="Public Sans"/>
              </a:defRPr>
            </a:pPr>
            <a:r>
              <a:t>0</a:t>
            </a:r>
          </a:p>
        </p:txBody>
      </p:sp>
      <p:sp>
        <p:nvSpPr>
          <p:cNvPr id="22" name="TextBox 21"/>
          <p:cNvSpPr txBox="1"/>
          <p:nvPr/>
        </p:nvSpPr>
        <p:spPr>
          <a:xfrm>
            <a:off x="4193177" y="5989320"/>
            <a:ext cx="731520" cy="365760"/>
          </a:xfrm>
          <a:prstGeom prst="rect">
            <a:avLst/>
          </a:prstGeom>
          <a:noFill/>
        </p:spPr>
        <p:txBody>
          <a:bodyPr wrap="square">
            <a:spAutoFit/>
          </a:bodyPr>
          <a:lstStyle/>
          <a:p>
            <a:pPr algn="ctr">
              <a:spcAft>
                <a:spcPts val="600"/>
              </a:spcAft>
              <a:defRPr sz="1300" b="0">
                <a:solidFill>
                  <a:srgbClr val="9AADA3"/>
                </a:solidFill>
                <a:latin typeface="Public Sans"/>
              </a:defRPr>
            </a:pPr>
            <a:r>
              <a:t>100</a:t>
            </a:r>
          </a:p>
        </p:txBody>
      </p:sp>
      <p:sp>
        <p:nvSpPr>
          <p:cNvPr id="23" name="TextBox 22"/>
          <p:cNvSpPr txBox="1"/>
          <p:nvPr/>
        </p:nvSpPr>
        <p:spPr>
          <a:xfrm>
            <a:off x="5826034" y="5989320"/>
            <a:ext cx="731520" cy="365760"/>
          </a:xfrm>
          <a:prstGeom prst="rect">
            <a:avLst/>
          </a:prstGeom>
          <a:noFill/>
        </p:spPr>
        <p:txBody>
          <a:bodyPr wrap="square">
            <a:spAutoFit/>
          </a:bodyPr>
          <a:lstStyle/>
          <a:p>
            <a:pPr algn="ctr">
              <a:spcAft>
                <a:spcPts val="600"/>
              </a:spcAft>
              <a:defRPr sz="1300" b="0">
                <a:solidFill>
                  <a:srgbClr val="9AADA3"/>
                </a:solidFill>
                <a:latin typeface="Public Sans"/>
              </a:defRPr>
            </a:pPr>
            <a:r>
              <a:t>200</a:t>
            </a:r>
          </a:p>
        </p:txBody>
      </p:sp>
      <p:sp>
        <p:nvSpPr>
          <p:cNvPr id="24" name="TextBox 23"/>
          <p:cNvSpPr txBox="1"/>
          <p:nvPr/>
        </p:nvSpPr>
        <p:spPr>
          <a:xfrm>
            <a:off x="7458891" y="5989320"/>
            <a:ext cx="731520" cy="365760"/>
          </a:xfrm>
          <a:prstGeom prst="rect">
            <a:avLst/>
          </a:prstGeom>
          <a:noFill/>
        </p:spPr>
        <p:txBody>
          <a:bodyPr wrap="square">
            <a:spAutoFit/>
          </a:bodyPr>
          <a:lstStyle/>
          <a:p>
            <a:pPr algn="ctr">
              <a:spcAft>
                <a:spcPts val="600"/>
              </a:spcAft>
              <a:defRPr sz="1300" b="0">
                <a:solidFill>
                  <a:srgbClr val="9AADA3"/>
                </a:solidFill>
                <a:latin typeface="Public Sans"/>
              </a:defRPr>
            </a:pPr>
            <a:r>
              <a:t>300</a:t>
            </a:r>
          </a:p>
        </p:txBody>
      </p:sp>
      <p:sp>
        <p:nvSpPr>
          <p:cNvPr id="25" name="TextBox 24"/>
          <p:cNvSpPr txBox="1"/>
          <p:nvPr/>
        </p:nvSpPr>
        <p:spPr>
          <a:xfrm>
            <a:off x="9091748" y="5989320"/>
            <a:ext cx="731520" cy="365760"/>
          </a:xfrm>
          <a:prstGeom prst="rect">
            <a:avLst/>
          </a:prstGeom>
          <a:noFill/>
        </p:spPr>
        <p:txBody>
          <a:bodyPr wrap="square">
            <a:spAutoFit/>
          </a:bodyPr>
          <a:lstStyle/>
          <a:p>
            <a:pPr algn="ctr">
              <a:spcAft>
                <a:spcPts val="600"/>
              </a:spcAft>
              <a:defRPr sz="1300" b="0">
                <a:solidFill>
                  <a:srgbClr val="9AADA3"/>
                </a:solidFill>
                <a:latin typeface="Public Sans"/>
              </a:defRPr>
            </a:pPr>
            <a:r>
              <a:t>400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05  CITIZEN JOURNEY</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From Visit to Completion</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05</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Rounded Rectangle 7"/>
          <p:cNvSpPr/>
          <p:nvPr/>
        </p:nvSpPr>
        <p:spPr>
          <a:xfrm>
            <a:off x="1066647" y="2468880"/>
            <a:ext cx="10058400" cy="713232"/>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66647" y="2468880"/>
            <a:ext cx="109728" cy="713232"/>
          </a:xfrm>
          <a:prstGeom prst="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32407" y="2542032"/>
            <a:ext cx="3200400" cy="365760"/>
          </a:xfrm>
          <a:prstGeom prst="rect">
            <a:avLst/>
          </a:prstGeom>
          <a:noFill/>
        </p:spPr>
        <p:txBody>
          <a:bodyPr wrap="square">
            <a:spAutoFit/>
          </a:bodyPr>
          <a:lstStyle/>
          <a:p>
            <a:pPr algn="l">
              <a:spcAft>
                <a:spcPts val="600"/>
              </a:spcAft>
              <a:defRPr sz="1900" b="1">
                <a:solidFill>
                  <a:srgbClr val="F7F8F0"/>
                </a:solidFill>
                <a:latin typeface="Nohemi"/>
              </a:defRPr>
            </a:pPr>
            <a:r>
              <a:t>Portal Visits</a:t>
            </a:r>
          </a:p>
        </p:txBody>
      </p:sp>
      <p:sp>
        <p:nvSpPr>
          <p:cNvPr id="11" name="TextBox 10"/>
          <p:cNvSpPr txBox="1"/>
          <p:nvPr/>
        </p:nvSpPr>
        <p:spPr>
          <a:xfrm>
            <a:off x="9113367" y="2578608"/>
            <a:ext cx="1737360" cy="365760"/>
          </a:xfrm>
          <a:prstGeom prst="rect">
            <a:avLst/>
          </a:prstGeom>
          <a:noFill/>
        </p:spPr>
        <p:txBody>
          <a:bodyPr wrap="square">
            <a:spAutoFit/>
          </a:bodyPr>
          <a:lstStyle/>
          <a:p>
            <a:pPr algn="r">
              <a:spcAft>
                <a:spcPts val="600"/>
              </a:spcAft>
              <a:defRPr sz="2000" b="1">
                <a:solidFill>
                  <a:srgbClr val="A8E063"/>
                </a:solidFill>
                <a:latin typeface="Nohemi"/>
              </a:defRPr>
            </a:pPr>
            <a:r>
              <a:t>5,200K</a:t>
            </a:r>
          </a:p>
        </p:txBody>
      </p:sp>
      <p:sp>
        <p:nvSpPr>
          <p:cNvPr id="12" name="TextBox 11"/>
          <p:cNvSpPr txBox="1"/>
          <p:nvPr/>
        </p:nvSpPr>
        <p:spPr>
          <a:xfrm>
            <a:off x="5852160" y="3218688"/>
            <a:ext cx="457200" cy="274320"/>
          </a:xfrm>
          <a:prstGeom prst="rect">
            <a:avLst/>
          </a:prstGeom>
          <a:noFill/>
        </p:spPr>
        <p:txBody>
          <a:bodyPr wrap="square">
            <a:spAutoFit/>
          </a:bodyPr>
          <a:lstStyle/>
          <a:p>
            <a:pPr algn="ctr">
              <a:spcAft>
                <a:spcPts val="600"/>
              </a:spcAft>
              <a:defRPr sz="1400" b="0">
                <a:solidFill>
                  <a:srgbClr val="9AADA3"/>
                </a:solidFill>
                <a:latin typeface="Public Sans"/>
              </a:defRPr>
            </a:pPr>
            <a:r>
              <a:t>▼</a:t>
            </a:r>
          </a:p>
        </p:txBody>
      </p:sp>
      <p:sp>
        <p:nvSpPr>
          <p:cNvPr id="13" name="Rounded Rectangle 12"/>
          <p:cNvSpPr/>
          <p:nvPr/>
        </p:nvSpPr>
        <p:spPr>
          <a:xfrm>
            <a:off x="2346807" y="3401568"/>
            <a:ext cx="7498079" cy="713232"/>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346807" y="3401568"/>
            <a:ext cx="109728" cy="713232"/>
          </a:xfrm>
          <a:prstGeom prst="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12567" y="3474720"/>
            <a:ext cx="3200400" cy="365760"/>
          </a:xfrm>
          <a:prstGeom prst="rect">
            <a:avLst/>
          </a:prstGeom>
          <a:noFill/>
        </p:spPr>
        <p:txBody>
          <a:bodyPr wrap="square">
            <a:spAutoFit/>
          </a:bodyPr>
          <a:lstStyle/>
          <a:p>
            <a:pPr algn="l">
              <a:spcAft>
                <a:spcPts val="600"/>
              </a:spcAft>
              <a:defRPr sz="1900" b="1">
                <a:solidFill>
                  <a:srgbClr val="F7F8F0"/>
                </a:solidFill>
                <a:latin typeface="Nohemi"/>
              </a:defRPr>
            </a:pPr>
            <a:r>
              <a:t>Applications</a:t>
            </a:r>
          </a:p>
        </p:txBody>
      </p:sp>
      <p:sp>
        <p:nvSpPr>
          <p:cNvPr id="16" name="TextBox 15"/>
          <p:cNvSpPr txBox="1"/>
          <p:nvPr/>
        </p:nvSpPr>
        <p:spPr>
          <a:xfrm>
            <a:off x="7833207" y="3511296"/>
            <a:ext cx="1737360" cy="365760"/>
          </a:xfrm>
          <a:prstGeom prst="rect">
            <a:avLst/>
          </a:prstGeom>
          <a:noFill/>
        </p:spPr>
        <p:txBody>
          <a:bodyPr wrap="square">
            <a:spAutoFit/>
          </a:bodyPr>
          <a:lstStyle/>
          <a:p>
            <a:pPr algn="r">
              <a:spcAft>
                <a:spcPts val="600"/>
              </a:spcAft>
              <a:defRPr sz="2000" b="1">
                <a:solidFill>
                  <a:srgbClr val="2D7D6B"/>
                </a:solidFill>
                <a:latin typeface="Nohemi"/>
              </a:defRPr>
            </a:pPr>
            <a:r>
              <a:t>3,100K</a:t>
            </a:r>
          </a:p>
        </p:txBody>
      </p:sp>
      <p:sp>
        <p:nvSpPr>
          <p:cNvPr id="17" name="TextBox 16"/>
          <p:cNvSpPr txBox="1"/>
          <p:nvPr/>
        </p:nvSpPr>
        <p:spPr>
          <a:xfrm>
            <a:off x="5852160" y="4151376"/>
            <a:ext cx="457200" cy="274320"/>
          </a:xfrm>
          <a:prstGeom prst="rect">
            <a:avLst/>
          </a:prstGeom>
          <a:noFill/>
        </p:spPr>
        <p:txBody>
          <a:bodyPr wrap="square">
            <a:spAutoFit/>
          </a:bodyPr>
          <a:lstStyle/>
          <a:p>
            <a:pPr algn="ctr">
              <a:spcAft>
                <a:spcPts val="600"/>
              </a:spcAft>
              <a:defRPr sz="1400" b="0">
                <a:solidFill>
                  <a:srgbClr val="9AADA3"/>
                </a:solidFill>
                <a:latin typeface="Public Sans"/>
              </a:defRPr>
            </a:pPr>
            <a:r>
              <a:t>▼</a:t>
            </a:r>
          </a:p>
        </p:txBody>
      </p:sp>
      <p:sp>
        <p:nvSpPr>
          <p:cNvPr id="18" name="Rounded Rectangle 17"/>
          <p:cNvSpPr/>
          <p:nvPr/>
        </p:nvSpPr>
        <p:spPr>
          <a:xfrm>
            <a:off x="3352647" y="4334256"/>
            <a:ext cx="5486400" cy="713232"/>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52647" y="4334256"/>
            <a:ext cx="109728" cy="713232"/>
          </a:xfrm>
          <a:prstGeom prst="rect">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18407" y="4407408"/>
            <a:ext cx="3200400" cy="365760"/>
          </a:xfrm>
          <a:prstGeom prst="rect">
            <a:avLst/>
          </a:prstGeom>
          <a:noFill/>
        </p:spPr>
        <p:txBody>
          <a:bodyPr wrap="square">
            <a:spAutoFit/>
          </a:bodyPr>
          <a:lstStyle/>
          <a:p>
            <a:pPr algn="l">
              <a:spcAft>
                <a:spcPts val="600"/>
              </a:spcAft>
              <a:defRPr sz="1900" b="1">
                <a:solidFill>
                  <a:srgbClr val="F7F8F0"/>
                </a:solidFill>
                <a:latin typeface="Nohemi"/>
              </a:defRPr>
            </a:pPr>
            <a:r>
              <a:t>Verified</a:t>
            </a:r>
          </a:p>
        </p:txBody>
      </p:sp>
      <p:sp>
        <p:nvSpPr>
          <p:cNvPr id="21" name="TextBox 20"/>
          <p:cNvSpPr txBox="1"/>
          <p:nvPr/>
        </p:nvSpPr>
        <p:spPr>
          <a:xfrm>
            <a:off x="6827367" y="4443984"/>
            <a:ext cx="1737360" cy="365760"/>
          </a:xfrm>
          <a:prstGeom prst="rect">
            <a:avLst/>
          </a:prstGeom>
          <a:noFill/>
        </p:spPr>
        <p:txBody>
          <a:bodyPr wrap="square">
            <a:spAutoFit/>
          </a:bodyPr>
          <a:lstStyle/>
          <a:p>
            <a:pPr algn="r">
              <a:spcAft>
                <a:spcPts val="600"/>
              </a:spcAft>
              <a:defRPr sz="2000" b="1">
                <a:solidFill>
                  <a:srgbClr val="D4A74A"/>
                </a:solidFill>
                <a:latin typeface="Nohemi"/>
              </a:defRPr>
            </a:pPr>
            <a:r>
              <a:t>2,400K</a:t>
            </a:r>
          </a:p>
        </p:txBody>
      </p:sp>
      <p:sp>
        <p:nvSpPr>
          <p:cNvPr id="22" name="TextBox 21"/>
          <p:cNvSpPr txBox="1"/>
          <p:nvPr/>
        </p:nvSpPr>
        <p:spPr>
          <a:xfrm>
            <a:off x="5852160" y="5084064"/>
            <a:ext cx="457200" cy="274320"/>
          </a:xfrm>
          <a:prstGeom prst="rect">
            <a:avLst/>
          </a:prstGeom>
          <a:noFill/>
        </p:spPr>
        <p:txBody>
          <a:bodyPr wrap="square">
            <a:spAutoFit/>
          </a:bodyPr>
          <a:lstStyle/>
          <a:p>
            <a:pPr algn="ctr">
              <a:spcAft>
                <a:spcPts val="600"/>
              </a:spcAft>
              <a:defRPr sz="1400" b="0">
                <a:solidFill>
                  <a:srgbClr val="9AADA3"/>
                </a:solidFill>
                <a:latin typeface="Public Sans"/>
              </a:defRPr>
            </a:pPr>
            <a:r>
              <a:t>▼</a:t>
            </a:r>
          </a:p>
        </p:txBody>
      </p:sp>
      <p:sp>
        <p:nvSpPr>
          <p:cNvPr id="23" name="Rounded Rectangle 22"/>
          <p:cNvSpPr/>
          <p:nvPr/>
        </p:nvSpPr>
        <p:spPr>
          <a:xfrm>
            <a:off x="3901287" y="5266944"/>
            <a:ext cx="4389120" cy="713232"/>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901287" y="5266944"/>
            <a:ext cx="109728" cy="713232"/>
          </a:xfrm>
          <a:prstGeom prst="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67047" y="5340096"/>
            <a:ext cx="3200400" cy="365760"/>
          </a:xfrm>
          <a:prstGeom prst="rect">
            <a:avLst/>
          </a:prstGeom>
          <a:noFill/>
        </p:spPr>
        <p:txBody>
          <a:bodyPr wrap="square">
            <a:spAutoFit/>
          </a:bodyPr>
          <a:lstStyle/>
          <a:p>
            <a:pPr algn="l">
              <a:spcAft>
                <a:spcPts val="600"/>
              </a:spcAft>
              <a:defRPr sz="1900" b="1">
                <a:solidFill>
                  <a:srgbClr val="F7F8F0"/>
                </a:solidFill>
                <a:latin typeface="Nohemi"/>
              </a:defRPr>
            </a:pPr>
            <a:r>
              <a:t>Completed</a:t>
            </a:r>
          </a:p>
        </p:txBody>
      </p:sp>
      <p:sp>
        <p:nvSpPr>
          <p:cNvPr id="26" name="TextBox 25"/>
          <p:cNvSpPr txBox="1"/>
          <p:nvPr/>
        </p:nvSpPr>
        <p:spPr>
          <a:xfrm>
            <a:off x="6278727" y="5376672"/>
            <a:ext cx="1737360" cy="365760"/>
          </a:xfrm>
          <a:prstGeom prst="rect">
            <a:avLst/>
          </a:prstGeom>
          <a:noFill/>
        </p:spPr>
        <p:txBody>
          <a:bodyPr wrap="square">
            <a:spAutoFit/>
          </a:bodyPr>
          <a:lstStyle/>
          <a:p>
            <a:pPr algn="r">
              <a:spcAft>
                <a:spcPts val="600"/>
              </a:spcAft>
              <a:defRPr sz="2000" b="1">
                <a:solidFill>
                  <a:srgbClr val="5E6B7A"/>
                </a:solidFill>
                <a:latin typeface="Nohemi"/>
              </a:defRPr>
            </a:pPr>
            <a:r>
              <a:t>2,100K</a:t>
            </a:r>
          </a:p>
        </p:txBody>
      </p:sp>
      <p:sp>
        <p:nvSpPr>
          <p:cNvPr id="27" name="TextBox 26"/>
          <p:cNvSpPr txBox="1"/>
          <p:nvPr/>
        </p:nvSpPr>
        <p:spPr>
          <a:xfrm>
            <a:off x="731520" y="5897880"/>
            <a:ext cx="10698480" cy="365760"/>
          </a:xfrm>
          <a:prstGeom prst="rect">
            <a:avLst/>
          </a:prstGeom>
          <a:noFill/>
        </p:spPr>
        <p:txBody>
          <a:bodyPr wrap="square">
            <a:spAutoFit/>
          </a:bodyPr>
          <a:lstStyle/>
          <a:p>
            <a:pPr algn="ctr">
              <a:spcAft>
                <a:spcPts val="600"/>
              </a:spcAft>
              <a:defRPr sz="1500" b="0">
                <a:solidFill>
                  <a:srgbClr val="9AADA3"/>
                </a:solidFill>
                <a:latin typeface="Public Sans"/>
              </a:defRPr>
            </a:pPr>
            <a:r>
              <a:t>40% end-to-end conversion  |  Verification is the tightest stage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06  GROWTH</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Citizen Onboarding Trend</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06</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Rounded Rectangle 7"/>
          <p:cNvSpPr/>
          <p:nvPr/>
        </p:nvSpPr>
        <p:spPr>
          <a:xfrm>
            <a:off x="731520" y="2286000"/>
            <a:ext cx="10698480" cy="3566160"/>
          </a:xfrm>
          <a:prstGeom prst="roundRect">
            <a:avLst/>
          </a:prstGeom>
          <a:solidFill>
            <a:srgbClr val="F4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645920" y="5394960"/>
            <a:ext cx="88696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14400" y="5230368"/>
            <a:ext cx="640080" cy="329184"/>
          </a:xfrm>
          <a:prstGeom prst="rect">
            <a:avLst/>
          </a:prstGeom>
          <a:noFill/>
        </p:spPr>
        <p:txBody>
          <a:bodyPr wrap="square">
            <a:spAutoFit/>
          </a:bodyPr>
          <a:lstStyle/>
          <a:p>
            <a:pPr algn="r">
              <a:spcAft>
                <a:spcPts val="600"/>
              </a:spcAft>
              <a:defRPr sz="1300" b="0">
                <a:solidFill>
                  <a:srgbClr val="5E6B7A"/>
                </a:solidFill>
                <a:latin typeface="Public Sans"/>
              </a:defRPr>
            </a:pPr>
            <a:r>
              <a:t>0</a:t>
            </a:r>
          </a:p>
        </p:txBody>
      </p:sp>
      <p:cxnSp>
        <p:nvCxnSpPr>
          <p:cNvPr id="11" name="Connector 10"/>
          <p:cNvCxnSpPr/>
          <p:nvPr/>
        </p:nvCxnSpPr>
        <p:spPr>
          <a:xfrm>
            <a:off x="1645920" y="4579033"/>
            <a:ext cx="88696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14400" y="4414441"/>
            <a:ext cx="640080" cy="329184"/>
          </a:xfrm>
          <a:prstGeom prst="rect">
            <a:avLst/>
          </a:prstGeom>
          <a:noFill/>
        </p:spPr>
        <p:txBody>
          <a:bodyPr wrap="square">
            <a:spAutoFit/>
          </a:bodyPr>
          <a:lstStyle/>
          <a:p>
            <a:pPr algn="r">
              <a:spcAft>
                <a:spcPts val="600"/>
              </a:spcAft>
              <a:defRPr sz="1300" b="0">
                <a:solidFill>
                  <a:srgbClr val="5E6B7A"/>
                </a:solidFill>
                <a:latin typeface="Public Sans"/>
              </a:defRPr>
            </a:pPr>
            <a:r>
              <a:t>800</a:t>
            </a:r>
          </a:p>
        </p:txBody>
      </p:sp>
      <p:cxnSp>
        <p:nvCxnSpPr>
          <p:cNvPr id="13" name="Connector 12"/>
          <p:cNvCxnSpPr/>
          <p:nvPr/>
        </p:nvCxnSpPr>
        <p:spPr>
          <a:xfrm>
            <a:off x="1645920" y="3763107"/>
            <a:ext cx="88696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914400" y="3598515"/>
            <a:ext cx="640080" cy="329184"/>
          </a:xfrm>
          <a:prstGeom prst="rect">
            <a:avLst/>
          </a:prstGeom>
          <a:noFill/>
        </p:spPr>
        <p:txBody>
          <a:bodyPr wrap="square">
            <a:spAutoFit/>
          </a:bodyPr>
          <a:lstStyle/>
          <a:p>
            <a:pPr algn="r">
              <a:spcAft>
                <a:spcPts val="600"/>
              </a:spcAft>
              <a:defRPr sz="1300" b="0">
                <a:solidFill>
                  <a:srgbClr val="5E6B7A"/>
                </a:solidFill>
                <a:latin typeface="Public Sans"/>
              </a:defRPr>
            </a:pPr>
            <a:r>
              <a:t>1600</a:t>
            </a:r>
          </a:p>
        </p:txBody>
      </p:sp>
      <p:cxnSp>
        <p:nvCxnSpPr>
          <p:cNvPr id="15" name="Connector 14"/>
          <p:cNvCxnSpPr/>
          <p:nvPr/>
        </p:nvCxnSpPr>
        <p:spPr>
          <a:xfrm>
            <a:off x="1645920" y="2947181"/>
            <a:ext cx="8869680"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14400" y="2782589"/>
            <a:ext cx="640080" cy="329184"/>
          </a:xfrm>
          <a:prstGeom prst="rect">
            <a:avLst/>
          </a:prstGeom>
          <a:noFill/>
        </p:spPr>
        <p:txBody>
          <a:bodyPr wrap="square">
            <a:spAutoFit/>
          </a:bodyPr>
          <a:lstStyle/>
          <a:p>
            <a:pPr algn="r">
              <a:spcAft>
                <a:spcPts val="600"/>
              </a:spcAft>
              <a:defRPr sz="1300" b="0">
                <a:solidFill>
                  <a:srgbClr val="5E6B7A"/>
                </a:solidFill>
                <a:latin typeface="Public Sans"/>
              </a:defRPr>
            </a:pPr>
            <a:r>
              <a:t>2400</a:t>
            </a:r>
          </a:p>
        </p:txBody>
      </p:sp>
      <p:sp>
        <p:nvSpPr>
          <p:cNvPr id="17" name="Rectangle 16"/>
          <p:cNvSpPr/>
          <p:nvPr/>
        </p:nvSpPr>
        <p:spPr>
          <a:xfrm>
            <a:off x="1645920" y="4556085"/>
            <a:ext cx="240030" cy="838874"/>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67662" y="4510190"/>
            <a:ext cx="240030" cy="884769"/>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089404" y="4464294"/>
            <a:ext cx="240030" cy="930665"/>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311146" y="4418398"/>
            <a:ext cx="240030" cy="976561"/>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32888" y="4372502"/>
            <a:ext cx="240030" cy="1022457"/>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754630" y="4326606"/>
            <a:ext cx="240030" cy="1068353"/>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76372" y="4280710"/>
            <a:ext cx="240030" cy="1114249"/>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198113" y="4234815"/>
            <a:ext cx="240030" cy="1160145"/>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419856" y="4188919"/>
            <a:ext cx="240030" cy="1206040"/>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41598" y="4143023"/>
            <a:ext cx="240030" cy="1251936"/>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863339" y="4097127"/>
            <a:ext cx="240030" cy="1297832"/>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085082" y="4051231"/>
            <a:ext cx="240030" cy="1343728"/>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06824" y="4005335"/>
            <a:ext cx="240030" cy="1389624"/>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28566" y="3960714"/>
            <a:ext cx="240030" cy="1434245"/>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50307" y="3922468"/>
            <a:ext cx="240030" cy="1472491"/>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72050" y="3884221"/>
            <a:ext cx="240030" cy="1510738"/>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193792" y="3845975"/>
            <a:ext cx="240030" cy="1548984"/>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15533" y="3807728"/>
            <a:ext cx="240030" cy="1587231"/>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37276" y="3769482"/>
            <a:ext cx="240030" cy="1625477"/>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9017" y="3731235"/>
            <a:ext cx="240030" cy="1663724"/>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080759" y="3692989"/>
            <a:ext cx="240030" cy="1701970"/>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302502" y="3654742"/>
            <a:ext cx="240030" cy="1740217"/>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524244" y="3616495"/>
            <a:ext cx="240030" cy="1778464"/>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745985" y="3578249"/>
            <a:ext cx="240030" cy="1816710"/>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67727" y="3540002"/>
            <a:ext cx="240030" cy="1854957"/>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189470" y="3501756"/>
            <a:ext cx="240030" cy="1893203"/>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411212" y="3463509"/>
            <a:ext cx="240030" cy="1931450"/>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32954" y="3425263"/>
            <a:ext cx="240030" cy="1969696"/>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854696" y="3387016"/>
            <a:ext cx="240030" cy="2007943"/>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076438" y="3348770"/>
            <a:ext cx="240030" cy="2046189"/>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298179" y="3310523"/>
            <a:ext cx="240030" cy="2084436"/>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519922" y="3272277"/>
            <a:ext cx="240030" cy="2122682"/>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741664" y="3234030"/>
            <a:ext cx="240030" cy="2160929"/>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963406" y="3195784"/>
            <a:ext cx="240030" cy="2199175"/>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185148" y="3157537"/>
            <a:ext cx="240030" cy="2237422"/>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406890" y="3119290"/>
            <a:ext cx="240030" cy="2275669"/>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628632" y="3081044"/>
            <a:ext cx="240030" cy="2313915"/>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850374" y="3042797"/>
            <a:ext cx="240030" cy="2352162"/>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10072115" y="3004551"/>
            <a:ext cx="240030" cy="2390408"/>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10293858" y="2966304"/>
            <a:ext cx="240030" cy="2428655"/>
          </a:xfrm>
          <a:prstGeom prst="rect">
            <a:avLst/>
          </a:prstGeom>
          <a:solidFill>
            <a:srgbClr val="D6EC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Connector 56"/>
          <p:cNvCxnSpPr/>
          <p:nvPr/>
        </p:nvCxnSpPr>
        <p:spPr>
          <a:xfrm flipV="1">
            <a:off x="1645920" y="3967089"/>
            <a:ext cx="2956560" cy="611944"/>
          </a:xfrm>
          <a:prstGeom prst="line">
            <a:avLst/>
          </a:prstGeom>
          <a:ln w="44450">
            <a:solidFill>
              <a:srgbClr val="2D7D6B"/>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4602480" y="3457135"/>
            <a:ext cx="2956559" cy="509954"/>
          </a:xfrm>
          <a:prstGeom prst="line">
            <a:avLst/>
          </a:prstGeom>
          <a:ln w="44450">
            <a:solidFill>
              <a:srgbClr val="2D7D6B"/>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559039" y="2947181"/>
            <a:ext cx="2956561" cy="509954"/>
          </a:xfrm>
          <a:prstGeom prst="line">
            <a:avLst/>
          </a:prstGeom>
          <a:ln w="44450">
            <a:solidFill>
              <a:srgbClr val="2D7D6B"/>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563624" y="4496737"/>
            <a:ext cx="164592" cy="164592"/>
          </a:xfrm>
          <a:prstGeom prst="ellipse">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188720" y="4076113"/>
            <a:ext cx="914400" cy="365760"/>
          </a:xfrm>
          <a:prstGeom prst="rect">
            <a:avLst/>
          </a:prstGeom>
          <a:noFill/>
        </p:spPr>
        <p:txBody>
          <a:bodyPr wrap="square">
            <a:spAutoFit/>
          </a:bodyPr>
          <a:lstStyle/>
          <a:p>
            <a:pPr algn="ctr">
              <a:spcAft>
                <a:spcPts val="600"/>
              </a:spcAft>
              <a:defRPr sz="1500" b="1">
                <a:solidFill>
                  <a:srgbClr val="141F1A"/>
                </a:solidFill>
                <a:latin typeface="Nohemi"/>
              </a:defRPr>
            </a:pPr>
            <a:r>
              <a:t>800</a:t>
            </a:r>
          </a:p>
        </p:txBody>
      </p:sp>
      <p:sp>
        <p:nvSpPr>
          <p:cNvPr id="62" name="TextBox 61"/>
          <p:cNvSpPr txBox="1"/>
          <p:nvPr/>
        </p:nvSpPr>
        <p:spPr>
          <a:xfrm>
            <a:off x="1188720" y="5468112"/>
            <a:ext cx="914400" cy="365760"/>
          </a:xfrm>
          <a:prstGeom prst="rect">
            <a:avLst/>
          </a:prstGeom>
          <a:noFill/>
        </p:spPr>
        <p:txBody>
          <a:bodyPr wrap="square">
            <a:spAutoFit/>
          </a:bodyPr>
          <a:lstStyle/>
          <a:p>
            <a:pPr algn="ctr">
              <a:spcAft>
                <a:spcPts val="600"/>
              </a:spcAft>
              <a:defRPr sz="1500" b="0">
                <a:solidFill>
                  <a:srgbClr val="5E6B7A"/>
                </a:solidFill>
                <a:latin typeface="Public Sans"/>
              </a:defRPr>
            </a:pPr>
            <a:r>
              <a:t>Q1</a:t>
            </a:r>
          </a:p>
        </p:txBody>
      </p:sp>
      <p:sp>
        <p:nvSpPr>
          <p:cNvPr id="63" name="Oval 62"/>
          <p:cNvSpPr/>
          <p:nvPr/>
        </p:nvSpPr>
        <p:spPr>
          <a:xfrm>
            <a:off x="4520184" y="3884793"/>
            <a:ext cx="164592" cy="164592"/>
          </a:xfrm>
          <a:prstGeom prst="ellipse">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145280" y="3464169"/>
            <a:ext cx="914400" cy="365760"/>
          </a:xfrm>
          <a:prstGeom prst="rect">
            <a:avLst/>
          </a:prstGeom>
          <a:noFill/>
        </p:spPr>
        <p:txBody>
          <a:bodyPr wrap="square">
            <a:spAutoFit/>
          </a:bodyPr>
          <a:lstStyle/>
          <a:p>
            <a:pPr algn="ctr">
              <a:spcAft>
                <a:spcPts val="600"/>
              </a:spcAft>
              <a:defRPr sz="1500" b="1">
                <a:solidFill>
                  <a:srgbClr val="141F1A"/>
                </a:solidFill>
                <a:latin typeface="Nohemi"/>
              </a:defRPr>
            </a:pPr>
            <a:r>
              <a:t>1400</a:t>
            </a:r>
          </a:p>
        </p:txBody>
      </p:sp>
      <p:sp>
        <p:nvSpPr>
          <p:cNvPr id="65" name="TextBox 64"/>
          <p:cNvSpPr txBox="1"/>
          <p:nvPr/>
        </p:nvSpPr>
        <p:spPr>
          <a:xfrm>
            <a:off x="4145280" y="5468112"/>
            <a:ext cx="914400" cy="365760"/>
          </a:xfrm>
          <a:prstGeom prst="rect">
            <a:avLst/>
          </a:prstGeom>
          <a:noFill/>
        </p:spPr>
        <p:txBody>
          <a:bodyPr wrap="square">
            <a:spAutoFit/>
          </a:bodyPr>
          <a:lstStyle/>
          <a:p>
            <a:pPr algn="ctr">
              <a:spcAft>
                <a:spcPts val="600"/>
              </a:spcAft>
              <a:defRPr sz="1500" b="0">
                <a:solidFill>
                  <a:srgbClr val="5E6B7A"/>
                </a:solidFill>
                <a:latin typeface="Public Sans"/>
              </a:defRPr>
            </a:pPr>
            <a:r>
              <a:t>Q2</a:t>
            </a:r>
          </a:p>
        </p:txBody>
      </p:sp>
      <p:sp>
        <p:nvSpPr>
          <p:cNvPr id="66" name="Oval 65"/>
          <p:cNvSpPr/>
          <p:nvPr/>
        </p:nvSpPr>
        <p:spPr>
          <a:xfrm>
            <a:off x="7476743" y="3374839"/>
            <a:ext cx="164592" cy="164592"/>
          </a:xfrm>
          <a:prstGeom prst="ellipse">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101839" y="2954215"/>
            <a:ext cx="914400" cy="365760"/>
          </a:xfrm>
          <a:prstGeom prst="rect">
            <a:avLst/>
          </a:prstGeom>
          <a:noFill/>
        </p:spPr>
        <p:txBody>
          <a:bodyPr wrap="square">
            <a:spAutoFit/>
          </a:bodyPr>
          <a:lstStyle/>
          <a:p>
            <a:pPr algn="ctr">
              <a:spcAft>
                <a:spcPts val="600"/>
              </a:spcAft>
              <a:defRPr sz="1500" b="1">
                <a:solidFill>
                  <a:srgbClr val="141F1A"/>
                </a:solidFill>
                <a:latin typeface="Nohemi"/>
              </a:defRPr>
            </a:pPr>
            <a:r>
              <a:t>1900</a:t>
            </a:r>
          </a:p>
        </p:txBody>
      </p:sp>
      <p:sp>
        <p:nvSpPr>
          <p:cNvPr id="68" name="TextBox 67"/>
          <p:cNvSpPr txBox="1"/>
          <p:nvPr/>
        </p:nvSpPr>
        <p:spPr>
          <a:xfrm>
            <a:off x="7101839" y="5468112"/>
            <a:ext cx="914400" cy="365760"/>
          </a:xfrm>
          <a:prstGeom prst="rect">
            <a:avLst/>
          </a:prstGeom>
          <a:noFill/>
        </p:spPr>
        <p:txBody>
          <a:bodyPr wrap="square">
            <a:spAutoFit/>
          </a:bodyPr>
          <a:lstStyle/>
          <a:p>
            <a:pPr algn="ctr">
              <a:spcAft>
                <a:spcPts val="600"/>
              </a:spcAft>
              <a:defRPr sz="1500" b="0">
                <a:solidFill>
                  <a:srgbClr val="5E6B7A"/>
                </a:solidFill>
                <a:latin typeface="Public Sans"/>
              </a:defRPr>
            </a:pPr>
            <a:r>
              <a:t>Q3</a:t>
            </a:r>
          </a:p>
        </p:txBody>
      </p:sp>
      <p:sp>
        <p:nvSpPr>
          <p:cNvPr id="69" name="Oval 68"/>
          <p:cNvSpPr/>
          <p:nvPr/>
        </p:nvSpPr>
        <p:spPr>
          <a:xfrm>
            <a:off x="10433304" y="2864885"/>
            <a:ext cx="164592" cy="164592"/>
          </a:xfrm>
          <a:prstGeom prst="ellipse">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058400" y="2444261"/>
            <a:ext cx="914400" cy="365760"/>
          </a:xfrm>
          <a:prstGeom prst="rect">
            <a:avLst/>
          </a:prstGeom>
          <a:noFill/>
        </p:spPr>
        <p:txBody>
          <a:bodyPr wrap="square">
            <a:spAutoFit/>
          </a:bodyPr>
          <a:lstStyle/>
          <a:p>
            <a:pPr algn="ctr">
              <a:spcAft>
                <a:spcPts val="600"/>
              </a:spcAft>
              <a:defRPr sz="1500" b="1">
                <a:solidFill>
                  <a:srgbClr val="141F1A"/>
                </a:solidFill>
                <a:latin typeface="Nohemi"/>
              </a:defRPr>
            </a:pPr>
            <a:r>
              <a:t>2400</a:t>
            </a:r>
          </a:p>
        </p:txBody>
      </p:sp>
      <p:sp>
        <p:nvSpPr>
          <p:cNvPr id="71" name="TextBox 70"/>
          <p:cNvSpPr txBox="1"/>
          <p:nvPr/>
        </p:nvSpPr>
        <p:spPr>
          <a:xfrm>
            <a:off x="10058400" y="5468112"/>
            <a:ext cx="914400" cy="365760"/>
          </a:xfrm>
          <a:prstGeom prst="rect">
            <a:avLst/>
          </a:prstGeom>
          <a:noFill/>
        </p:spPr>
        <p:txBody>
          <a:bodyPr wrap="square">
            <a:spAutoFit/>
          </a:bodyPr>
          <a:lstStyle/>
          <a:p>
            <a:pPr algn="ctr">
              <a:spcAft>
                <a:spcPts val="600"/>
              </a:spcAft>
              <a:defRPr sz="1500" b="0">
                <a:solidFill>
                  <a:srgbClr val="5E6B7A"/>
                </a:solidFill>
                <a:latin typeface="Public Sans"/>
              </a:defRPr>
            </a:pPr>
            <a:r>
              <a:t>Q4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07  REGIONS</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Adoption Across Egypt</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07</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TextBox 7"/>
          <p:cNvSpPr txBox="1"/>
          <p:nvPr/>
        </p:nvSpPr>
        <p:spPr>
          <a:xfrm>
            <a:off x="731520" y="2377440"/>
            <a:ext cx="1828800" cy="457200"/>
          </a:xfrm>
          <a:prstGeom prst="rect">
            <a:avLst/>
          </a:prstGeom>
          <a:noFill/>
        </p:spPr>
        <p:txBody>
          <a:bodyPr wrap="square">
            <a:spAutoFit/>
          </a:bodyPr>
          <a:lstStyle/>
          <a:p>
            <a:pPr algn="l">
              <a:spcAft>
                <a:spcPts val="600"/>
              </a:spcAft>
              <a:defRPr sz="1900" b="1">
                <a:solidFill>
                  <a:srgbClr val="F7F8F0"/>
                </a:solidFill>
                <a:latin typeface="Nohemi"/>
              </a:defRPr>
            </a:pPr>
            <a:r>
              <a:t>Cairo</a:t>
            </a:r>
          </a:p>
        </p:txBody>
      </p:sp>
      <p:sp>
        <p:nvSpPr>
          <p:cNvPr id="9" name="Rounded Rectangle 8"/>
          <p:cNvSpPr/>
          <p:nvPr/>
        </p:nvSpPr>
        <p:spPr>
          <a:xfrm>
            <a:off x="2743200" y="2450592"/>
            <a:ext cx="5029200" cy="347472"/>
          </a:xfrm>
          <a:prstGeom prst="round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2395728"/>
            <a:ext cx="1097280" cy="457200"/>
          </a:xfrm>
          <a:prstGeom prst="rect">
            <a:avLst/>
          </a:prstGeom>
          <a:noFill/>
        </p:spPr>
        <p:txBody>
          <a:bodyPr wrap="square">
            <a:spAutoFit/>
          </a:bodyPr>
          <a:lstStyle/>
          <a:p>
            <a:pPr algn="l">
              <a:spcAft>
                <a:spcPts val="600"/>
              </a:spcAft>
              <a:defRPr sz="1800" b="1">
                <a:solidFill>
                  <a:srgbClr val="F7F8F0"/>
                </a:solidFill>
                <a:latin typeface="Nohemi"/>
              </a:defRPr>
            </a:pPr>
            <a:r>
              <a:t>890K</a:t>
            </a:r>
          </a:p>
        </p:txBody>
      </p:sp>
      <p:sp>
        <p:nvSpPr>
          <p:cNvPr id="11" name="TextBox 10"/>
          <p:cNvSpPr txBox="1"/>
          <p:nvPr/>
        </p:nvSpPr>
        <p:spPr>
          <a:xfrm>
            <a:off x="8961120" y="2377440"/>
            <a:ext cx="2468880" cy="457200"/>
          </a:xfrm>
          <a:prstGeom prst="rect">
            <a:avLst/>
          </a:prstGeom>
          <a:noFill/>
        </p:spPr>
        <p:txBody>
          <a:bodyPr wrap="square">
            <a:spAutoFit/>
          </a:bodyPr>
          <a:lstStyle/>
          <a:p>
            <a:pPr algn="l">
              <a:spcAft>
                <a:spcPts val="600"/>
              </a:spcAft>
              <a:defRPr sz="1500" b="0">
                <a:solidFill>
                  <a:srgbClr val="9AADA3"/>
                </a:solidFill>
                <a:latin typeface="Public Sans"/>
              </a:defRPr>
            </a:pPr>
            <a:r>
              <a:t>Capital region leads in absolute numbers</a:t>
            </a:r>
          </a:p>
        </p:txBody>
      </p:sp>
      <p:sp>
        <p:nvSpPr>
          <p:cNvPr id="12" name="TextBox 11"/>
          <p:cNvSpPr txBox="1"/>
          <p:nvPr/>
        </p:nvSpPr>
        <p:spPr>
          <a:xfrm>
            <a:off x="731520" y="3182112"/>
            <a:ext cx="1828800" cy="457200"/>
          </a:xfrm>
          <a:prstGeom prst="rect">
            <a:avLst/>
          </a:prstGeom>
          <a:noFill/>
        </p:spPr>
        <p:txBody>
          <a:bodyPr wrap="square">
            <a:spAutoFit/>
          </a:bodyPr>
          <a:lstStyle/>
          <a:p>
            <a:pPr algn="l">
              <a:spcAft>
                <a:spcPts val="600"/>
              </a:spcAft>
              <a:defRPr sz="1900" b="1">
                <a:solidFill>
                  <a:srgbClr val="F7F8F0"/>
                </a:solidFill>
                <a:latin typeface="Nohemi"/>
              </a:defRPr>
            </a:pPr>
            <a:r>
              <a:t>Delta</a:t>
            </a:r>
          </a:p>
        </p:txBody>
      </p:sp>
      <p:sp>
        <p:nvSpPr>
          <p:cNvPr id="13" name="Rounded Rectangle 12"/>
          <p:cNvSpPr/>
          <p:nvPr/>
        </p:nvSpPr>
        <p:spPr>
          <a:xfrm>
            <a:off x="2743200" y="3255264"/>
            <a:ext cx="2881901" cy="347472"/>
          </a:xfrm>
          <a:prstGeom prst="round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53701" y="3200400"/>
            <a:ext cx="1097280" cy="457200"/>
          </a:xfrm>
          <a:prstGeom prst="rect">
            <a:avLst/>
          </a:prstGeom>
          <a:noFill/>
        </p:spPr>
        <p:txBody>
          <a:bodyPr wrap="square">
            <a:spAutoFit/>
          </a:bodyPr>
          <a:lstStyle/>
          <a:p>
            <a:pPr algn="l">
              <a:spcAft>
                <a:spcPts val="600"/>
              </a:spcAft>
              <a:defRPr sz="1800" b="1">
                <a:solidFill>
                  <a:srgbClr val="F7F8F0"/>
                </a:solidFill>
                <a:latin typeface="Nohemi"/>
              </a:defRPr>
            </a:pPr>
            <a:r>
              <a:t>510K</a:t>
            </a:r>
          </a:p>
        </p:txBody>
      </p:sp>
      <p:sp>
        <p:nvSpPr>
          <p:cNvPr id="15" name="TextBox 14"/>
          <p:cNvSpPr txBox="1"/>
          <p:nvPr/>
        </p:nvSpPr>
        <p:spPr>
          <a:xfrm>
            <a:off x="8961120" y="3182112"/>
            <a:ext cx="2468880" cy="457200"/>
          </a:xfrm>
          <a:prstGeom prst="rect">
            <a:avLst/>
          </a:prstGeom>
          <a:noFill/>
        </p:spPr>
        <p:txBody>
          <a:bodyPr wrap="square">
            <a:spAutoFit/>
          </a:bodyPr>
          <a:lstStyle/>
          <a:p>
            <a:pPr algn="l">
              <a:spcAft>
                <a:spcPts val="600"/>
              </a:spcAft>
              <a:defRPr sz="1500" b="0">
                <a:solidFill>
                  <a:srgbClr val="9AADA3"/>
                </a:solidFill>
                <a:latin typeface="Public Sans"/>
              </a:defRPr>
            </a:pPr>
            <a:r>
              <a:t>Fastest growth at 52% year over year</a:t>
            </a:r>
          </a:p>
        </p:txBody>
      </p:sp>
      <p:sp>
        <p:nvSpPr>
          <p:cNvPr id="16" name="TextBox 15"/>
          <p:cNvSpPr txBox="1"/>
          <p:nvPr/>
        </p:nvSpPr>
        <p:spPr>
          <a:xfrm>
            <a:off x="731520" y="3986784"/>
            <a:ext cx="1828800" cy="457200"/>
          </a:xfrm>
          <a:prstGeom prst="rect">
            <a:avLst/>
          </a:prstGeom>
          <a:noFill/>
        </p:spPr>
        <p:txBody>
          <a:bodyPr wrap="square">
            <a:spAutoFit/>
          </a:bodyPr>
          <a:lstStyle/>
          <a:p>
            <a:pPr algn="l">
              <a:spcAft>
                <a:spcPts val="600"/>
              </a:spcAft>
              <a:defRPr sz="1900" b="1">
                <a:solidFill>
                  <a:srgbClr val="F7F8F0"/>
                </a:solidFill>
                <a:latin typeface="Nohemi"/>
              </a:defRPr>
            </a:pPr>
            <a:r>
              <a:t>Alexandria</a:t>
            </a:r>
          </a:p>
        </p:txBody>
      </p:sp>
      <p:sp>
        <p:nvSpPr>
          <p:cNvPr id="17" name="Rounded Rectangle 16"/>
          <p:cNvSpPr/>
          <p:nvPr/>
        </p:nvSpPr>
        <p:spPr>
          <a:xfrm>
            <a:off x="2743200" y="4059936"/>
            <a:ext cx="2373330" cy="347472"/>
          </a:xfrm>
          <a:prstGeom prst="round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45130" y="4005072"/>
            <a:ext cx="1097280" cy="457200"/>
          </a:xfrm>
          <a:prstGeom prst="rect">
            <a:avLst/>
          </a:prstGeom>
          <a:noFill/>
        </p:spPr>
        <p:txBody>
          <a:bodyPr wrap="square">
            <a:spAutoFit/>
          </a:bodyPr>
          <a:lstStyle/>
          <a:p>
            <a:pPr algn="l">
              <a:spcAft>
                <a:spcPts val="600"/>
              </a:spcAft>
              <a:defRPr sz="1800" b="1">
                <a:solidFill>
                  <a:srgbClr val="F7F8F0"/>
                </a:solidFill>
                <a:latin typeface="Nohemi"/>
              </a:defRPr>
            </a:pPr>
            <a:r>
              <a:t>420K</a:t>
            </a:r>
          </a:p>
        </p:txBody>
      </p:sp>
      <p:sp>
        <p:nvSpPr>
          <p:cNvPr id="19" name="TextBox 18"/>
          <p:cNvSpPr txBox="1"/>
          <p:nvPr/>
        </p:nvSpPr>
        <p:spPr>
          <a:xfrm>
            <a:off x="8961120" y="3986784"/>
            <a:ext cx="2468880" cy="457200"/>
          </a:xfrm>
          <a:prstGeom prst="rect">
            <a:avLst/>
          </a:prstGeom>
          <a:noFill/>
        </p:spPr>
        <p:txBody>
          <a:bodyPr wrap="square">
            <a:spAutoFit/>
          </a:bodyPr>
          <a:lstStyle/>
          <a:p>
            <a:pPr algn="l">
              <a:spcAft>
                <a:spcPts val="600"/>
              </a:spcAft>
              <a:defRPr sz="1500" b="0">
                <a:solidFill>
                  <a:srgbClr val="9AADA3"/>
                </a:solidFill>
                <a:latin typeface="Public Sans"/>
              </a:defRPr>
            </a:pPr>
            <a:r>
              <a:t>Leads in business service adoption</a:t>
            </a:r>
          </a:p>
        </p:txBody>
      </p:sp>
      <p:sp>
        <p:nvSpPr>
          <p:cNvPr id="20" name="TextBox 19"/>
          <p:cNvSpPr txBox="1"/>
          <p:nvPr/>
        </p:nvSpPr>
        <p:spPr>
          <a:xfrm>
            <a:off x="731520" y="4791456"/>
            <a:ext cx="1828800" cy="457200"/>
          </a:xfrm>
          <a:prstGeom prst="rect">
            <a:avLst/>
          </a:prstGeom>
          <a:noFill/>
        </p:spPr>
        <p:txBody>
          <a:bodyPr wrap="square">
            <a:spAutoFit/>
          </a:bodyPr>
          <a:lstStyle/>
          <a:p>
            <a:pPr algn="l">
              <a:spcAft>
                <a:spcPts val="600"/>
              </a:spcAft>
              <a:defRPr sz="1900" b="1">
                <a:solidFill>
                  <a:srgbClr val="F7F8F0"/>
                </a:solidFill>
                <a:latin typeface="Nohemi"/>
              </a:defRPr>
            </a:pPr>
            <a:r>
              <a:t>Giza</a:t>
            </a:r>
          </a:p>
        </p:txBody>
      </p:sp>
      <p:sp>
        <p:nvSpPr>
          <p:cNvPr id="21" name="Rounded Rectangle 20"/>
          <p:cNvSpPr/>
          <p:nvPr/>
        </p:nvSpPr>
        <p:spPr>
          <a:xfrm>
            <a:off x="2743200" y="4864608"/>
            <a:ext cx="2147298" cy="347472"/>
          </a:xfrm>
          <a:prstGeom prst="round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119098" y="4809744"/>
            <a:ext cx="1097280" cy="457200"/>
          </a:xfrm>
          <a:prstGeom prst="rect">
            <a:avLst/>
          </a:prstGeom>
          <a:noFill/>
        </p:spPr>
        <p:txBody>
          <a:bodyPr wrap="square">
            <a:spAutoFit/>
          </a:bodyPr>
          <a:lstStyle/>
          <a:p>
            <a:pPr algn="l">
              <a:spcAft>
                <a:spcPts val="600"/>
              </a:spcAft>
              <a:defRPr sz="1800" b="1">
                <a:solidFill>
                  <a:srgbClr val="F7F8F0"/>
                </a:solidFill>
                <a:latin typeface="Nohemi"/>
              </a:defRPr>
            </a:pPr>
            <a:r>
              <a:t>380K</a:t>
            </a:r>
          </a:p>
        </p:txBody>
      </p:sp>
      <p:sp>
        <p:nvSpPr>
          <p:cNvPr id="23" name="TextBox 22"/>
          <p:cNvSpPr txBox="1"/>
          <p:nvPr/>
        </p:nvSpPr>
        <p:spPr>
          <a:xfrm>
            <a:off x="8961120" y="4791456"/>
            <a:ext cx="2468880" cy="457200"/>
          </a:xfrm>
          <a:prstGeom prst="rect">
            <a:avLst/>
          </a:prstGeom>
          <a:noFill/>
        </p:spPr>
        <p:txBody>
          <a:bodyPr wrap="square">
            <a:spAutoFit/>
          </a:bodyPr>
          <a:lstStyle/>
          <a:p>
            <a:pPr algn="l">
              <a:spcAft>
                <a:spcPts val="600"/>
              </a:spcAft>
              <a:defRPr sz="1500" b="0">
                <a:solidFill>
                  <a:srgbClr val="9AADA3"/>
                </a:solidFill>
                <a:latin typeface="Public Sans"/>
              </a:defRPr>
            </a:pPr>
            <a:r>
              <a:t>Strong urban corridor performance</a:t>
            </a:r>
          </a:p>
        </p:txBody>
      </p:sp>
      <p:sp>
        <p:nvSpPr>
          <p:cNvPr id="24" name="TextBox 23"/>
          <p:cNvSpPr txBox="1"/>
          <p:nvPr/>
        </p:nvSpPr>
        <p:spPr>
          <a:xfrm>
            <a:off x="731520" y="5596128"/>
            <a:ext cx="1828800" cy="457200"/>
          </a:xfrm>
          <a:prstGeom prst="rect">
            <a:avLst/>
          </a:prstGeom>
          <a:noFill/>
        </p:spPr>
        <p:txBody>
          <a:bodyPr wrap="square">
            <a:spAutoFit/>
          </a:bodyPr>
          <a:lstStyle/>
          <a:p>
            <a:pPr algn="l">
              <a:spcAft>
                <a:spcPts val="600"/>
              </a:spcAft>
              <a:defRPr sz="1900" b="1">
                <a:solidFill>
                  <a:srgbClr val="F7F8F0"/>
                </a:solidFill>
                <a:latin typeface="Nohemi"/>
              </a:defRPr>
            </a:pPr>
            <a:r>
              <a:t>Upper Egypt</a:t>
            </a:r>
          </a:p>
        </p:txBody>
      </p:sp>
      <p:sp>
        <p:nvSpPr>
          <p:cNvPr id="25" name="Rounded Rectangle 24"/>
          <p:cNvSpPr/>
          <p:nvPr/>
        </p:nvSpPr>
        <p:spPr>
          <a:xfrm>
            <a:off x="2743200" y="5669280"/>
            <a:ext cx="1638728" cy="347472"/>
          </a:xfrm>
          <a:prstGeom prst="roundRect">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610528" y="5614416"/>
            <a:ext cx="1097280" cy="457200"/>
          </a:xfrm>
          <a:prstGeom prst="rect">
            <a:avLst/>
          </a:prstGeom>
          <a:noFill/>
        </p:spPr>
        <p:txBody>
          <a:bodyPr wrap="square">
            <a:spAutoFit/>
          </a:bodyPr>
          <a:lstStyle/>
          <a:p>
            <a:pPr algn="l">
              <a:spcAft>
                <a:spcPts val="600"/>
              </a:spcAft>
              <a:defRPr sz="1800" b="1">
                <a:solidFill>
                  <a:srgbClr val="F7F8F0"/>
                </a:solidFill>
                <a:latin typeface="Nohemi"/>
              </a:defRPr>
            </a:pPr>
            <a:r>
              <a:t>290K</a:t>
            </a:r>
          </a:p>
        </p:txBody>
      </p:sp>
      <p:sp>
        <p:nvSpPr>
          <p:cNvPr id="27" name="TextBox 26"/>
          <p:cNvSpPr txBox="1"/>
          <p:nvPr/>
        </p:nvSpPr>
        <p:spPr>
          <a:xfrm>
            <a:off x="8961120" y="5596128"/>
            <a:ext cx="2468880" cy="457200"/>
          </a:xfrm>
          <a:prstGeom prst="rect">
            <a:avLst/>
          </a:prstGeom>
          <a:noFill/>
        </p:spPr>
        <p:txBody>
          <a:bodyPr wrap="square">
            <a:spAutoFit/>
          </a:bodyPr>
          <a:lstStyle/>
          <a:p>
            <a:pPr algn="l">
              <a:spcAft>
                <a:spcPts val="600"/>
              </a:spcAft>
              <a:defRPr sz="1500" b="0">
                <a:solidFill>
                  <a:srgbClr val="9AADA3"/>
                </a:solidFill>
                <a:latin typeface="Public Sans"/>
              </a:defRPr>
            </a:pPr>
            <a:r>
              <a:t>Largest opportunity, assisted model working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08  SATISFACTION</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Citizen Satisfaction by Quarter</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08</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Rounded Rectangle 7"/>
          <p:cNvSpPr/>
          <p:nvPr/>
        </p:nvSpPr>
        <p:spPr>
          <a:xfrm>
            <a:off x="731520" y="2377440"/>
            <a:ext cx="2560320" cy="329184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606040"/>
            <a:ext cx="2103120" cy="457200"/>
          </a:xfrm>
          <a:prstGeom prst="rect">
            <a:avLst/>
          </a:prstGeom>
          <a:noFill/>
        </p:spPr>
        <p:txBody>
          <a:bodyPr wrap="square">
            <a:spAutoFit/>
          </a:bodyPr>
          <a:lstStyle/>
          <a:p>
            <a:pPr algn="ctr">
              <a:spcAft>
                <a:spcPts val="600"/>
              </a:spcAft>
              <a:defRPr sz="1800" b="1">
                <a:solidFill>
                  <a:srgbClr val="9AADA3"/>
                </a:solidFill>
                <a:latin typeface="Nohemi"/>
              </a:defRPr>
            </a:pPr>
            <a:r>
              <a:t>Q1</a:t>
            </a:r>
          </a:p>
        </p:txBody>
      </p:sp>
      <p:sp>
        <p:nvSpPr>
          <p:cNvPr id="10" name="TextBox 9"/>
          <p:cNvSpPr txBox="1"/>
          <p:nvPr/>
        </p:nvSpPr>
        <p:spPr>
          <a:xfrm>
            <a:off x="960120" y="2971800"/>
            <a:ext cx="2103120" cy="731520"/>
          </a:xfrm>
          <a:prstGeom prst="rect">
            <a:avLst/>
          </a:prstGeom>
          <a:noFill/>
        </p:spPr>
        <p:txBody>
          <a:bodyPr wrap="square">
            <a:spAutoFit/>
          </a:bodyPr>
          <a:lstStyle/>
          <a:p>
            <a:pPr algn="ctr">
              <a:spcAft>
                <a:spcPts val="600"/>
              </a:spcAft>
              <a:defRPr sz="4400" b="1">
                <a:solidFill>
                  <a:srgbClr val="F7F8F0"/>
                </a:solidFill>
                <a:latin typeface="Nohemi"/>
              </a:defRPr>
            </a:pPr>
            <a:r>
              <a:t>72%</a:t>
            </a:r>
          </a:p>
        </p:txBody>
      </p:sp>
      <p:sp>
        <p:nvSpPr>
          <p:cNvPr id="11" name="Rounded Rectangle 10"/>
          <p:cNvSpPr/>
          <p:nvPr/>
        </p:nvSpPr>
        <p:spPr>
          <a:xfrm>
            <a:off x="1097280" y="4114800"/>
            <a:ext cx="1828800" cy="256032"/>
          </a:xfrm>
          <a:prstGeom prst="roundRect">
            <a:avLst/>
          </a:prstGeom>
          <a:solidFill>
            <a:srgbClr val="122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97280" y="4114800"/>
            <a:ext cx="1316736" cy="256032"/>
          </a:xfrm>
          <a:prstGeom prst="round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234440"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581912"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929384"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276856"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624328" y="4709160"/>
            <a:ext cx="201168" cy="201168"/>
          </a:xfrm>
          <a:prstGeom prst="ellipse">
            <a:avLst/>
          </a:prstGeom>
          <a:solidFill>
            <a:srgbClr val="2A4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20439" y="2377440"/>
            <a:ext cx="2560320" cy="329184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39" y="2606040"/>
            <a:ext cx="2103120" cy="457200"/>
          </a:xfrm>
          <a:prstGeom prst="rect">
            <a:avLst/>
          </a:prstGeom>
          <a:noFill/>
        </p:spPr>
        <p:txBody>
          <a:bodyPr wrap="square">
            <a:spAutoFit/>
          </a:bodyPr>
          <a:lstStyle/>
          <a:p>
            <a:pPr algn="ctr">
              <a:spcAft>
                <a:spcPts val="600"/>
              </a:spcAft>
              <a:defRPr sz="1800" b="1">
                <a:solidFill>
                  <a:srgbClr val="9AADA3"/>
                </a:solidFill>
                <a:latin typeface="Nohemi"/>
              </a:defRPr>
            </a:pPr>
            <a:r>
              <a:t>Q2</a:t>
            </a:r>
          </a:p>
        </p:txBody>
      </p:sp>
      <p:sp>
        <p:nvSpPr>
          <p:cNvPr id="20" name="TextBox 19"/>
          <p:cNvSpPr txBox="1"/>
          <p:nvPr/>
        </p:nvSpPr>
        <p:spPr>
          <a:xfrm>
            <a:off x="3749039" y="2971800"/>
            <a:ext cx="2103120" cy="731520"/>
          </a:xfrm>
          <a:prstGeom prst="rect">
            <a:avLst/>
          </a:prstGeom>
          <a:noFill/>
        </p:spPr>
        <p:txBody>
          <a:bodyPr wrap="square">
            <a:spAutoFit/>
          </a:bodyPr>
          <a:lstStyle/>
          <a:p>
            <a:pPr algn="ctr">
              <a:spcAft>
                <a:spcPts val="600"/>
              </a:spcAft>
              <a:defRPr sz="4400" b="1">
                <a:solidFill>
                  <a:srgbClr val="F7F8F0"/>
                </a:solidFill>
                <a:latin typeface="Nohemi"/>
              </a:defRPr>
            </a:pPr>
            <a:r>
              <a:t>78%</a:t>
            </a:r>
          </a:p>
        </p:txBody>
      </p:sp>
      <p:sp>
        <p:nvSpPr>
          <p:cNvPr id="21" name="Rounded Rectangle 20"/>
          <p:cNvSpPr/>
          <p:nvPr/>
        </p:nvSpPr>
        <p:spPr>
          <a:xfrm>
            <a:off x="3886200" y="4114800"/>
            <a:ext cx="1828800" cy="256032"/>
          </a:xfrm>
          <a:prstGeom prst="roundRect">
            <a:avLst/>
          </a:prstGeom>
          <a:solidFill>
            <a:srgbClr val="122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886200" y="4114800"/>
            <a:ext cx="1426464" cy="256032"/>
          </a:xfrm>
          <a:prstGeom prst="round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023359"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370831"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718303"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5065775"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5413248" y="4709160"/>
            <a:ext cx="201168" cy="201168"/>
          </a:xfrm>
          <a:prstGeom prst="ellipse">
            <a:avLst/>
          </a:prstGeom>
          <a:solidFill>
            <a:srgbClr val="2A4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09359" y="2377440"/>
            <a:ext cx="2560320" cy="329184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37959" y="2606040"/>
            <a:ext cx="2103120" cy="457200"/>
          </a:xfrm>
          <a:prstGeom prst="rect">
            <a:avLst/>
          </a:prstGeom>
          <a:noFill/>
        </p:spPr>
        <p:txBody>
          <a:bodyPr wrap="square">
            <a:spAutoFit/>
          </a:bodyPr>
          <a:lstStyle/>
          <a:p>
            <a:pPr algn="ctr">
              <a:spcAft>
                <a:spcPts val="600"/>
              </a:spcAft>
              <a:defRPr sz="1800" b="1">
                <a:solidFill>
                  <a:srgbClr val="9AADA3"/>
                </a:solidFill>
                <a:latin typeface="Nohemi"/>
              </a:defRPr>
            </a:pPr>
            <a:r>
              <a:t>Q3</a:t>
            </a:r>
          </a:p>
        </p:txBody>
      </p:sp>
      <p:sp>
        <p:nvSpPr>
          <p:cNvPr id="30" name="TextBox 29"/>
          <p:cNvSpPr txBox="1"/>
          <p:nvPr/>
        </p:nvSpPr>
        <p:spPr>
          <a:xfrm>
            <a:off x="6537959" y="2971800"/>
            <a:ext cx="2103120" cy="731520"/>
          </a:xfrm>
          <a:prstGeom prst="rect">
            <a:avLst/>
          </a:prstGeom>
          <a:noFill/>
        </p:spPr>
        <p:txBody>
          <a:bodyPr wrap="square">
            <a:spAutoFit/>
          </a:bodyPr>
          <a:lstStyle/>
          <a:p>
            <a:pPr algn="ctr">
              <a:spcAft>
                <a:spcPts val="600"/>
              </a:spcAft>
              <a:defRPr sz="4400" b="1">
                <a:solidFill>
                  <a:srgbClr val="A8E063"/>
                </a:solidFill>
                <a:latin typeface="Nohemi"/>
              </a:defRPr>
            </a:pPr>
            <a:r>
              <a:t>85%</a:t>
            </a:r>
          </a:p>
        </p:txBody>
      </p:sp>
      <p:sp>
        <p:nvSpPr>
          <p:cNvPr id="31" name="Rounded Rectangle 30"/>
          <p:cNvSpPr/>
          <p:nvPr/>
        </p:nvSpPr>
        <p:spPr>
          <a:xfrm>
            <a:off x="6675120" y="4114800"/>
            <a:ext cx="1828800" cy="256032"/>
          </a:xfrm>
          <a:prstGeom prst="roundRect">
            <a:avLst/>
          </a:prstGeom>
          <a:solidFill>
            <a:srgbClr val="122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675120" y="4114800"/>
            <a:ext cx="1554480" cy="256032"/>
          </a:xfrm>
          <a:prstGeom prst="round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812279"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159751"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507223"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854696"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02167" y="4709160"/>
            <a:ext cx="201168" cy="201168"/>
          </a:xfrm>
          <a:prstGeom prst="ellipse">
            <a:avLst/>
          </a:prstGeom>
          <a:solidFill>
            <a:srgbClr val="2A4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9098280" y="2377440"/>
            <a:ext cx="2560320" cy="329184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0" y="2606040"/>
            <a:ext cx="2103120" cy="457200"/>
          </a:xfrm>
          <a:prstGeom prst="rect">
            <a:avLst/>
          </a:prstGeom>
          <a:noFill/>
        </p:spPr>
        <p:txBody>
          <a:bodyPr wrap="square">
            <a:spAutoFit/>
          </a:bodyPr>
          <a:lstStyle/>
          <a:p>
            <a:pPr algn="ctr">
              <a:spcAft>
                <a:spcPts val="600"/>
              </a:spcAft>
              <a:defRPr sz="1800" b="1">
                <a:solidFill>
                  <a:srgbClr val="9AADA3"/>
                </a:solidFill>
                <a:latin typeface="Nohemi"/>
              </a:defRPr>
            </a:pPr>
            <a:r>
              <a:t>Q4</a:t>
            </a:r>
          </a:p>
        </p:txBody>
      </p:sp>
      <p:sp>
        <p:nvSpPr>
          <p:cNvPr id="40" name="TextBox 39"/>
          <p:cNvSpPr txBox="1"/>
          <p:nvPr/>
        </p:nvSpPr>
        <p:spPr>
          <a:xfrm>
            <a:off x="9326880" y="2971800"/>
            <a:ext cx="2103120" cy="731520"/>
          </a:xfrm>
          <a:prstGeom prst="rect">
            <a:avLst/>
          </a:prstGeom>
          <a:noFill/>
        </p:spPr>
        <p:txBody>
          <a:bodyPr wrap="square">
            <a:spAutoFit/>
          </a:bodyPr>
          <a:lstStyle/>
          <a:p>
            <a:pPr algn="ctr">
              <a:spcAft>
                <a:spcPts val="600"/>
              </a:spcAft>
              <a:defRPr sz="4400" b="1">
                <a:solidFill>
                  <a:srgbClr val="A8E063"/>
                </a:solidFill>
                <a:latin typeface="Nohemi"/>
              </a:defRPr>
            </a:pPr>
            <a:r>
              <a:t>91%</a:t>
            </a:r>
          </a:p>
        </p:txBody>
      </p:sp>
      <p:sp>
        <p:nvSpPr>
          <p:cNvPr id="41" name="Rounded Rectangle 40"/>
          <p:cNvSpPr/>
          <p:nvPr/>
        </p:nvSpPr>
        <p:spPr>
          <a:xfrm>
            <a:off x="9464040" y="4114800"/>
            <a:ext cx="1828800" cy="256032"/>
          </a:xfrm>
          <a:prstGeom prst="roundRect">
            <a:avLst/>
          </a:prstGeom>
          <a:solidFill>
            <a:srgbClr val="122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464040" y="4114800"/>
            <a:ext cx="1664208" cy="256032"/>
          </a:xfrm>
          <a:prstGeom prst="round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601200"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9948672"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10296144"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10643616"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991088" y="4709160"/>
            <a:ext cx="201168" cy="201168"/>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09  ACHIEVEMENTS</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2026 Milestones</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09</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cxnSp>
        <p:nvCxnSpPr>
          <p:cNvPr id="8" name="Connector 7"/>
          <p:cNvCxnSpPr/>
          <p:nvPr/>
        </p:nvCxnSpPr>
        <p:spPr>
          <a:xfrm>
            <a:off x="731520" y="4023360"/>
            <a:ext cx="10698480" cy="0"/>
          </a:xfrm>
          <a:prstGeom prst="line">
            <a:avLst/>
          </a:prstGeom>
          <a:ln w="25400">
            <a:solidFill>
              <a:srgbClr val="2A4A3E"/>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600200" y="3913632"/>
            <a:ext cx="228600" cy="228600"/>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017520"/>
            <a:ext cx="1234440" cy="457200"/>
          </a:xfrm>
          <a:prstGeom prst="rect">
            <a:avLst/>
          </a:prstGeom>
          <a:noFill/>
        </p:spPr>
        <p:txBody>
          <a:bodyPr wrap="square">
            <a:spAutoFit/>
          </a:bodyPr>
          <a:lstStyle/>
          <a:p>
            <a:pPr algn="ctr">
              <a:spcAft>
                <a:spcPts val="600"/>
              </a:spcAft>
              <a:defRPr sz="1800" b="1">
                <a:solidFill>
                  <a:srgbClr val="A8E063"/>
                </a:solidFill>
                <a:latin typeface="Nohemi"/>
              </a:defRPr>
            </a:pPr>
            <a:r>
              <a:t>Jan</a:t>
            </a:r>
          </a:p>
        </p:txBody>
      </p:sp>
      <p:sp>
        <p:nvSpPr>
          <p:cNvPr id="11" name="TextBox 10"/>
          <p:cNvSpPr txBox="1"/>
          <p:nvPr/>
        </p:nvSpPr>
        <p:spPr>
          <a:xfrm>
            <a:off x="822959" y="4251960"/>
            <a:ext cx="1783080" cy="822960"/>
          </a:xfrm>
          <a:prstGeom prst="rect">
            <a:avLst/>
          </a:prstGeom>
          <a:noFill/>
        </p:spPr>
        <p:txBody>
          <a:bodyPr wrap="square">
            <a:spAutoFit/>
          </a:bodyPr>
          <a:lstStyle/>
          <a:p>
            <a:pPr algn="ctr">
              <a:spcAft>
                <a:spcPts val="600"/>
              </a:spcAft>
              <a:defRPr sz="1700" b="0">
                <a:solidFill>
                  <a:srgbClr val="F7F8F0"/>
                </a:solidFill>
                <a:latin typeface="Public Sans"/>
              </a:defRPr>
            </a:pPr>
            <a:r>
              <a:t>Digital identity</a:t>
            </a:r>
            <a:br/>
            <a:r>
              <a:t>launch</a:t>
            </a:r>
          </a:p>
        </p:txBody>
      </p:sp>
      <p:sp>
        <p:nvSpPr>
          <p:cNvPr id="12" name="Oval 11"/>
          <p:cNvSpPr/>
          <p:nvPr/>
        </p:nvSpPr>
        <p:spPr>
          <a:xfrm>
            <a:off x="4343400" y="3913632"/>
            <a:ext cx="228600" cy="228600"/>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840480" y="3017520"/>
            <a:ext cx="1234440" cy="457200"/>
          </a:xfrm>
          <a:prstGeom prst="rect">
            <a:avLst/>
          </a:prstGeom>
          <a:noFill/>
        </p:spPr>
        <p:txBody>
          <a:bodyPr wrap="square">
            <a:spAutoFit/>
          </a:bodyPr>
          <a:lstStyle/>
          <a:p>
            <a:pPr algn="ctr">
              <a:spcAft>
                <a:spcPts val="600"/>
              </a:spcAft>
              <a:defRPr sz="1800" b="1">
                <a:solidFill>
                  <a:srgbClr val="A8E063"/>
                </a:solidFill>
                <a:latin typeface="Nohemi"/>
              </a:defRPr>
            </a:pPr>
            <a:r>
              <a:t>Apr</a:t>
            </a:r>
          </a:p>
        </p:txBody>
      </p:sp>
      <p:sp>
        <p:nvSpPr>
          <p:cNvPr id="14" name="TextBox 13"/>
          <p:cNvSpPr txBox="1"/>
          <p:nvPr/>
        </p:nvSpPr>
        <p:spPr>
          <a:xfrm>
            <a:off x="3566160" y="4251960"/>
            <a:ext cx="1783080" cy="822960"/>
          </a:xfrm>
          <a:prstGeom prst="rect">
            <a:avLst/>
          </a:prstGeom>
          <a:noFill/>
        </p:spPr>
        <p:txBody>
          <a:bodyPr wrap="square">
            <a:spAutoFit/>
          </a:bodyPr>
          <a:lstStyle/>
          <a:p>
            <a:pPr algn="ctr">
              <a:spcAft>
                <a:spcPts val="600"/>
              </a:spcAft>
              <a:defRPr sz="1700" b="0">
                <a:solidFill>
                  <a:srgbClr val="F7F8F0"/>
                </a:solidFill>
                <a:latin typeface="Public Sans"/>
              </a:defRPr>
            </a:pPr>
            <a:r>
              <a:t>AI processing</a:t>
            </a:r>
            <a:br/>
            <a:r>
              <a:t>live</a:t>
            </a:r>
          </a:p>
        </p:txBody>
      </p:sp>
      <p:sp>
        <p:nvSpPr>
          <p:cNvPr id="15" name="Oval 14"/>
          <p:cNvSpPr/>
          <p:nvPr/>
        </p:nvSpPr>
        <p:spPr>
          <a:xfrm>
            <a:off x="7086600" y="3913632"/>
            <a:ext cx="228600" cy="228600"/>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3017520"/>
            <a:ext cx="1234440" cy="457200"/>
          </a:xfrm>
          <a:prstGeom prst="rect">
            <a:avLst/>
          </a:prstGeom>
          <a:noFill/>
        </p:spPr>
        <p:txBody>
          <a:bodyPr wrap="square">
            <a:spAutoFit/>
          </a:bodyPr>
          <a:lstStyle/>
          <a:p>
            <a:pPr algn="ctr">
              <a:spcAft>
                <a:spcPts val="600"/>
              </a:spcAft>
              <a:defRPr sz="1800" b="1">
                <a:solidFill>
                  <a:srgbClr val="A8E063"/>
                </a:solidFill>
                <a:latin typeface="Nohemi"/>
              </a:defRPr>
            </a:pPr>
            <a:r>
              <a:t>Jul</a:t>
            </a:r>
          </a:p>
        </p:txBody>
      </p:sp>
      <p:sp>
        <p:nvSpPr>
          <p:cNvPr id="17" name="TextBox 16"/>
          <p:cNvSpPr txBox="1"/>
          <p:nvPr/>
        </p:nvSpPr>
        <p:spPr>
          <a:xfrm>
            <a:off x="6309360" y="4251960"/>
            <a:ext cx="1783080" cy="822960"/>
          </a:xfrm>
          <a:prstGeom prst="rect">
            <a:avLst/>
          </a:prstGeom>
          <a:noFill/>
        </p:spPr>
        <p:txBody>
          <a:bodyPr wrap="square">
            <a:spAutoFit/>
          </a:bodyPr>
          <a:lstStyle/>
          <a:p>
            <a:pPr algn="ctr">
              <a:spcAft>
                <a:spcPts val="600"/>
              </a:spcAft>
              <a:defRPr sz="1700" b="0">
                <a:solidFill>
                  <a:srgbClr val="F7F8F0"/>
                </a:solidFill>
                <a:latin typeface="Public Sans"/>
              </a:defRPr>
            </a:pPr>
            <a:r>
              <a:t>12 ministries</a:t>
            </a:r>
            <a:br/>
            <a:r>
              <a:t>connected</a:t>
            </a:r>
          </a:p>
        </p:txBody>
      </p:sp>
      <p:sp>
        <p:nvSpPr>
          <p:cNvPr id="18" name="Oval 17"/>
          <p:cNvSpPr/>
          <p:nvPr/>
        </p:nvSpPr>
        <p:spPr>
          <a:xfrm>
            <a:off x="9829800" y="3913632"/>
            <a:ext cx="228600" cy="228600"/>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0" y="3017520"/>
            <a:ext cx="1234440" cy="457200"/>
          </a:xfrm>
          <a:prstGeom prst="rect">
            <a:avLst/>
          </a:prstGeom>
          <a:noFill/>
        </p:spPr>
        <p:txBody>
          <a:bodyPr wrap="square">
            <a:spAutoFit/>
          </a:bodyPr>
          <a:lstStyle/>
          <a:p>
            <a:pPr algn="ctr">
              <a:spcAft>
                <a:spcPts val="600"/>
              </a:spcAft>
              <a:defRPr sz="1800" b="1">
                <a:solidFill>
                  <a:srgbClr val="A8E063"/>
                </a:solidFill>
                <a:latin typeface="Nohemi"/>
              </a:defRPr>
            </a:pPr>
            <a:r>
              <a:t>Oct</a:t>
            </a:r>
          </a:p>
        </p:txBody>
      </p:sp>
      <p:sp>
        <p:nvSpPr>
          <p:cNvPr id="20" name="TextBox 19"/>
          <p:cNvSpPr txBox="1"/>
          <p:nvPr/>
        </p:nvSpPr>
        <p:spPr>
          <a:xfrm>
            <a:off x="9052559" y="4251960"/>
            <a:ext cx="1783080" cy="822960"/>
          </a:xfrm>
          <a:prstGeom prst="rect">
            <a:avLst/>
          </a:prstGeom>
          <a:noFill/>
        </p:spPr>
        <p:txBody>
          <a:bodyPr wrap="square">
            <a:spAutoFit/>
          </a:bodyPr>
          <a:lstStyle/>
          <a:p>
            <a:pPr algn="ctr">
              <a:spcAft>
                <a:spcPts val="600"/>
              </a:spcAft>
              <a:defRPr sz="1700" b="0">
                <a:solidFill>
                  <a:srgbClr val="F7F8F0"/>
                </a:solidFill>
                <a:latin typeface="Public Sans"/>
              </a:defRPr>
            </a:pPr>
            <a:r>
              <a:t>2.4M citizens</a:t>
            </a:r>
            <a:br/>
            <a:r>
              <a:t>onboarded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10  TECHNOLOGY</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AI-Powered Processing</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10</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TextBox 7"/>
          <p:cNvSpPr txBox="1"/>
          <p:nvPr/>
        </p:nvSpPr>
        <p:spPr>
          <a:xfrm>
            <a:off x="731520" y="2286000"/>
            <a:ext cx="6400800" cy="3200400"/>
          </a:xfrm>
          <a:prstGeom prst="rect">
            <a:avLst/>
          </a:prstGeom>
          <a:noFill/>
        </p:spPr>
        <p:txBody>
          <a:bodyPr wrap="square">
            <a:spAutoFit/>
          </a:bodyPr>
          <a:lstStyle/>
          <a:p>
            <a:pPr algn="l">
              <a:spcAft>
                <a:spcPts val="600"/>
              </a:spcAft>
              <a:defRPr sz="2000" b="0">
                <a:solidFill>
                  <a:srgbClr val="F7F8F0"/>
                </a:solidFill>
                <a:latin typeface="Public Sans"/>
              </a:defRPr>
            </a:pPr>
            <a:r>
              <a:t>Artificial intelligence now handles document verification, data extraction, and eligibility checks across 40 government services. Models trained on millions of applications achieve 99.2 percent accuracy in document classification.</a:t>
            </a:r>
          </a:p>
          <a:p>
            <a:pPr algn="l">
              <a:spcBef>
                <a:spcPts val="800"/>
              </a:spcBef>
              <a:spcAft>
                <a:spcPts val="600"/>
              </a:spcAft>
              <a:defRPr sz="2000" b="0">
                <a:solidFill>
                  <a:srgbClr val="F7F8F0"/>
                </a:solidFill>
                <a:latin typeface="Public Sans"/>
              </a:defRPr>
            </a:pPr>
            <a:r>
              <a:t>Natural language processing lets citizens interact in Arabic and English through conversational interfaces. The AI layer cut manual review workload by 65 percent, freeing staff for complex cases that need human judgment.</a:t>
            </a:r>
          </a:p>
        </p:txBody>
      </p:sp>
      <p:sp>
        <p:nvSpPr>
          <p:cNvPr id="9" name="Rounded Rectangle 8"/>
          <p:cNvSpPr/>
          <p:nvPr/>
        </p:nvSpPr>
        <p:spPr>
          <a:xfrm>
            <a:off x="7863840" y="2286000"/>
            <a:ext cx="3566160" cy="320040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560320"/>
            <a:ext cx="2834640" cy="457200"/>
          </a:xfrm>
          <a:prstGeom prst="rect">
            <a:avLst/>
          </a:prstGeom>
          <a:noFill/>
        </p:spPr>
        <p:txBody>
          <a:bodyPr wrap="square">
            <a:spAutoFit/>
          </a:bodyPr>
          <a:lstStyle/>
          <a:p>
            <a:pPr algn="ctr">
              <a:spcAft>
                <a:spcPts val="600"/>
              </a:spcAft>
              <a:defRPr sz="1400" b="1">
                <a:solidFill>
                  <a:srgbClr val="A8E063"/>
                </a:solidFill>
                <a:latin typeface="Nohemi"/>
              </a:defRPr>
            </a:pPr>
            <a:r>
              <a:t>MODEL ACCURACY</a:t>
            </a:r>
          </a:p>
        </p:txBody>
      </p:sp>
      <p:sp>
        <p:nvSpPr>
          <p:cNvPr id="11" name="TextBox 10"/>
          <p:cNvSpPr txBox="1"/>
          <p:nvPr/>
        </p:nvSpPr>
        <p:spPr>
          <a:xfrm>
            <a:off x="8229600" y="3017520"/>
            <a:ext cx="2834640" cy="914400"/>
          </a:xfrm>
          <a:prstGeom prst="rect">
            <a:avLst/>
          </a:prstGeom>
          <a:noFill/>
        </p:spPr>
        <p:txBody>
          <a:bodyPr wrap="square">
            <a:spAutoFit/>
          </a:bodyPr>
          <a:lstStyle/>
          <a:p>
            <a:pPr algn="ctr">
              <a:spcAft>
                <a:spcPts val="600"/>
              </a:spcAft>
              <a:defRPr sz="5400" b="1">
                <a:solidFill>
                  <a:srgbClr val="F7F8F0"/>
                </a:solidFill>
                <a:latin typeface="Nohemi"/>
              </a:defRPr>
            </a:pPr>
            <a:r>
              <a:t>99.2%</a:t>
            </a:r>
          </a:p>
        </p:txBody>
      </p:sp>
      <p:sp>
        <p:nvSpPr>
          <p:cNvPr id="12" name="TextBox 11"/>
          <p:cNvSpPr txBox="1"/>
          <p:nvPr/>
        </p:nvSpPr>
        <p:spPr>
          <a:xfrm>
            <a:off x="8229600" y="3931920"/>
            <a:ext cx="2834640" cy="457200"/>
          </a:xfrm>
          <a:prstGeom prst="rect">
            <a:avLst/>
          </a:prstGeom>
          <a:noFill/>
        </p:spPr>
        <p:txBody>
          <a:bodyPr wrap="square">
            <a:spAutoFit/>
          </a:bodyPr>
          <a:lstStyle/>
          <a:p>
            <a:pPr algn="ctr">
              <a:spcAft>
                <a:spcPts val="600"/>
              </a:spcAft>
              <a:defRPr sz="1600" b="0">
                <a:solidFill>
                  <a:srgbClr val="9AADA3"/>
                </a:solidFill>
                <a:latin typeface="Public Sans"/>
              </a:defRPr>
            </a:pPr>
            <a:r>
              <a:t>document classification</a:t>
            </a:r>
          </a:p>
        </p:txBody>
      </p:sp>
      <p:sp>
        <p:nvSpPr>
          <p:cNvPr id="13" name="Rounded Rectangle 12"/>
          <p:cNvSpPr/>
          <p:nvPr/>
        </p:nvSpPr>
        <p:spPr>
          <a:xfrm>
            <a:off x="8595360" y="4572000"/>
            <a:ext cx="2103120" cy="274320"/>
          </a:xfrm>
          <a:prstGeom prst="roundRect">
            <a:avLst/>
          </a:prstGeom>
          <a:solidFill>
            <a:srgbClr val="122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595360" y="4572000"/>
            <a:ext cx="2086295" cy="274320"/>
          </a:xfrm>
          <a:prstGeom prst="round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11  SECURITY</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Security and Trust</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11</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TextBox 7"/>
          <p:cNvSpPr txBox="1"/>
          <p:nvPr/>
        </p:nvSpPr>
        <p:spPr>
          <a:xfrm>
            <a:off x="731520" y="2286000"/>
            <a:ext cx="6400800" cy="3200400"/>
          </a:xfrm>
          <a:prstGeom prst="rect">
            <a:avLst/>
          </a:prstGeom>
          <a:noFill/>
        </p:spPr>
        <p:txBody>
          <a:bodyPr wrap="square">
            <a:spAutoFit/>
          </a:bodyPr>
          <a:lstStyle/>
          <a:p>
            <a:pPr algn="l">
              <a:spcAft>
                <a:spcPts val="600"/>
              </a:spcAft>
              <a:defRPr sz="2000" b="0">
                <a:solidFill>
                  <a:srgbClr val="F7F8F0"/>
                </a:solidFill>
                <a:latin typeface="Public Sans"/>
              </a:defRPr>
            </a:pPr>
            <a:r>
              <a:t>A zero-trust architecture protects all citizen data with end-to-end encryption, multi-factor authentication, and continuous monitoring. The national operations center neutralized 14,000 intrusion attempts in 2026 with zero successful breaches of citizen records.</a:t>
            </a:r>
          </a:p>
          <a:p>
            <a:pPr algn="l">
              <a:spcBef>
                <a:spcPts val="800"/>
              </a:spcBef>
              <a:spcAft>
                <a:spcPts val="600"/>
              </a:spcAft>
              <a:defRPr sz="2000" b="0">
                <a:solidFill>
                  <a:srgbClr val="F7F8F0"/>
                </a:solidFill>
                <a:latin typeface="Public Sans"/>
              </a:defRPr>
            </a:pPr>
            <a:r>
              <a:t>Biometric verification reduced identity fraud by 83 percent. Independent audits confirmed full compliance with Egypt's data protection regulations in Q3 2026.</a:t>
            </a:r>
          </a:p>
        </p:txBody>
      </p:sp>
      <p:sp>
        <p:nvSpPr>
          <p:cNvPr id="9" name="Rounded Rectangle 8"/>
          <p:cNvSpPr/>
          <p:nvPr/>
        </p:nvSpPr>
        <p:spPr>
          <a:xfrm>
            <a:off x="7863840" y="2286000"/>
            <a:ext cx="3566160" cy="320040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2560320"/>
            <a:ext cx="2834640" cy="457200"/>
          </a:xfrm>
          <a:prstGeom prst="rect">
            <a:avLst/>
          </a:prstGeom>
          <a:noFill/>
        </p:spPr>
        <p:txBody>
          <a:bodyPr wrap="square">
            <a:spAutoFit/>
          </a:bodyPr>
          <a:lstStyle/>
          <a:p>
            <a:pPr algn="ctr">
              <a:spcAft>
                <a:spcPts val="600"/>
              </a:spcAft>
              <a:defRPr sz="1400" b="1">
                <a:solidFill>
                  <a:srgbClr val="A8E063"/>
                </a:solidFill>
                <a:latin typeface="Nohemi"/>
              </a:defRPr>
            </a:pPr>
            <a:r>
              <a:t>THREATS BLOCKED</a:t>
            </a:r>
          </a:p>
        </p:txBody>
      </p:sp>
      <p:sp>
        <p:nvSpPr>
          <p:cNvPr id="11" name="TextBox 10"/>
          <p:cNvSpPr txBox="1"/>
          <p:nvPr/>
        </p:nvSpPr>
        <p:spPr>
          <a:xfrm>
            <a:off x="8229600" y="3017520"/>
            <a:ext cx="2834640" cy="914400"/>
          </a:xfrm>
          <a:prstGeom prst="rect">
            <a:avLst/>
          </a:prstGeom>
          <a:noFill/>
        </p:spPr>
        <p:txBody>
          <a:bodyPr wrap="square">
            <a:spAutoFit/>
          </a:bodyPr>
          <a:lstStyle/>
          <a:p>
            <a:pPr algn="ctr">
              <a:spcAft>
                <a:spcPts val="600"/>
              </a:spcAft>
              <a:defRPr sz="5400" b="1">
                <a:solidFill>
                  <a:srgbClr val="F7F8F0"/>
                </a:solidFill>
                <a:latin typeface="Nohemi"/>
              </a:defRPr>
            </a:pPr>
            <a:r>
              <a:t>14,000</a:t>
            </a:r>
          </a:p>
        </p:txBody>
      </p:sp>
      <p:sp>
        <p:nvSpPr>
          <p:cNvPr id="12" name="TextBox 11"/>
          <p:cNvSpPr txBox="1"/>
          <p:nvPr/>
        </p:nvSpPr>
        <p:spPr>
          <a:xfrm>
            <a:off x="8229600" y="3931920"/>
            <a:ext cx="2834640" cy="457200"/>
          </a:xfrm>
          <a:prstGeom prst="rect">
            <a:avLst/>
          </a:prstGeom>
          <a:noFill/>
        </p:spPr>
        <p:txBody>
          <a:bodyPr wrap="square">
            <a:spAutoFit/>
          </a:bodyPr>
          <a:lstStyle/>
          <a:p>
            <a:pPr algn="ctr">
              <a:spcAft>
                <a:spcPts val="600"/>
              </a:spcAft>
              <a:defRPr sz="1600" b="0">
                <a:solidFill>
                  <a:srgbClr val="9AADA3"/>
                </a:solidFill>
                <a:latin typeface="Public Sans"/>
              </a:defRPr>
            </a:pPr>
            <a:r>
              <a:t>zero breaches</a:t>
            </a:r>
          </a:p>
        </p:txBody>
      </p:sp>
      <p:sp>
        <p:nvSpPr>
          <p:cNvPr id="13" name="TextBox 12"/>
          <p:cNvSpPr txBox="1"/>
          <p:nvPr/>
        </p:nvSpPr>
        <p:spPr>
          <a:xfrm>
            <a:off x="8229600" y="4480560"/>
            <a:ext cx="2834640" cy="457200"/>
          </a:xfrm>
          <a:prstGeom prst="rect">
            <a:avLst/>
          </a:prstGeom>
          <a:noFill/>
        </p:spPr>
        <p:txBody>
          <a:bodyPr wrap="square">
            <a:spAutoFit/>
          </a:bodyPr>
          <a:lstStyle/>
          <a:p>
            <a:pPr algn="ctr">
              <a:spcAft>
                <a:spcPts val="600"/>
              </a:spcAft>
              <a:defRPr sz="1600" b="1">
                <a:solidFill>
                  <a:srgbClr val="A8E063"/>
                </a:solidFill>
                <a:latin typeface="Public Sans"/>
              </a:defRPr>
            </a:pPr>
            <a:r>
              <a:t>83% less identity fraud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12  QUALITY</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Service Quality Dimensions</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12</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TextBox 7"/>
          <p:cNvSpPr txBox="1"/>
          <p:nvPr/>
        </p:nvSpPr>
        <p:spPr>
          <a:xfrm>
            <a:off x="731520" y="2377440"/>
            <a:ext cx="2286000" cy="457200"/>
          </a:xfrm>
          <a:prstGeom prst="rect">
            <a:avLst/>
          </a:prstGeom>
          <a:noFill/>
        </p:spPr>
        <p:txBody>
          <a:bodyPr wrap="square">
            <a:spAutoFit/>
          </a:bodyPr>
          <a:lstStyle/>
          <a:p>
            <a:pPr algn="l">
              <a:spcAft>
                <a:spcPts val="600"/>
              </a:spcAft>
              <a:defRPr sz="2000" b="1">
                <a:solidFill>
                  <a:srgbClr val="F7F8F0"/>
                </a:solidFill>
                <a:latin typeface="Nohemi"/>
              </a:defRPr>
            </a:pPr>
            <a:r>
              <a:t>Speed</a:t>
            </a:r>
          </a:p>
        </p:txBody>
      </p:sp>
      <p:sp>
        <p:nvSpPr>
          <p:cNvPr id="9" name="TextBox 8"/>
          <p:cNvSpPr txBox="1"/>
          <p:nvPr/>
        </p:nvSpPr>
        <p:spPr>
          <a:xfrm>
            <a:off x="3017520" y="2377440"/>
            <a:ext cx="1828800" cy="457200"/>
          </a:xfrm>
          <a:prstGeom prst="rect">
            <a:avLst/>
          </a:prstGeom>
          <a:noFill/>
        </p:spPr>
        <p:txBody>
          <a:bodyPr wrap="square">
            <a:spAutoFit/>
          </a:bodyPr>
          <a:lstStyle/>
          <a:p>
            <a:pPr algn="l">
              <a:spcAft>
                <a:spcPts val="600"/>
              </a:spcAft>
              <a:defRPr sz="2000" b="0">
                <a:solidFill>
                  <a:srgbClr val="A8E063"/>
                </a:solidFill>
                <a:latin typeface="Nohemi"/>
              </a:defRPr>
            </a:pPr>
            <a:r>
              <a:t>4.2s avg</a:t>
            </a:r>
          </a:p>
        </p:txBody>
      </p:sp>
      <p:sp>
        <p:nvSpPr>
          <p:cNvPr id="10" name="Rounded Rectangle 9"/>
          <p:cNvSpPr/>
          <p:nvPr/>
        </p:nvSpPr>
        <p:spPr>
          <a:xfrm>
            <a:off x="5303520" y="2487168"/>
            <a:ext cx="5029200" cy="292608"/>
          </a:xfrm>
          <a:prstGeom prst="roundRect">
            <a:avLst/>
          </a:prstGeom>
          <a:solidFill>
            <a:srgbClr val="122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303520" y="2487168"/>
            <a:ext cx="4777740" cy="292608"/>
          </a:xfrm>
          <a:prstGeom prst="round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0" y="2377440"/>
            <a:ext cx="914400" cy="457200"/>
          </a:xfrm>
          <a:prstGeom prst="rect">
            <a:avLst/>
          </a:prstGeom>
          <a:noFill/>
        </p:spPr>
        <p:txBody>
          <a:bodyPr wrap="square">
            <a:spAutoFit/>
          </a:bodyPr>
          <a:lstStyle/>
          <a:p>
            <a:pPr algn="r">
              <a:spcAft>
                <a:spcPts val="600"/>
              </a:spcAft>
              <a:defRPr sz="1600" b="0">
                <a:solidFill>
                  <a:srgbClr val="9AADA3"/>
                </a:solidFill>
                <a:latin typeface="Public Sans"/>
              </a:defRPr>
            </a:pPr>
            <a:r>
              <a:t>95%</a:t>
            </a:r>
          </a:p>
        </p:txBody>
      </p:sp>
      <p:sp>
        <p:nvSpPr>
          <p:cNvPr id="13" name="TextBox 12"/>
          <p:cNvSpPr txBox="1"/>
          <p:nvPr/>
        </p:nvSpPr>
        <p:spPr>
          <a:xfrm>
            <a:off x="731520" y="3337560"/>
            <a:ext cx="2286000" cy="457200"/>
          </a:xfrm>
          <a:prstGeom prst="rect">
            <a:avLst/>
          </a:prstGeom>
          <a:noFill/>
        </p:spPr>
        <p:txBody>
          <a:bodyPr wrap="square">
            <a:spAutoFit/>
          </a:bodyPr>
          <a:lstStyle/>
          <a:p>
            <a:pPr algn="l">
              <a:spcAft>
                <a:spcPts val="600"/>
              </a:spcAft>
              <a:defRPr sz="2000" b="1">
                <a:solidFill>
                  <a:srgbClr val="F7F8F0"/>
                </a:solidFill>
                <a:latin typeface="Nohemi"/>
              </a:defRPr>
            </a:pPr>
            <a:r>
              <a:t>Accuracy</a:t>
            </a:r>
          </a:p>
        </p:txBody>
      </p:sp>
      <p:sp>
        <p:nvSpPr>
          <p:cNvPr id="14" name="TextBox 13"/>
          <p:cNvSpPr txBox="1"/>
          <p:nvPr/>
        </p:nvSpPr>
        <p:spPr>
          <a:xfrm>
            <a:off x="3017520" y="3337560"/>
            <a:ext cx="1828800" cy="457200"/>
          </a:xfrm>
          <a:prstGeom prst="rect">
            <a:avLst/>
          </a:prstGeom>
          <a:noFill/>
        </p:spPr>
        <p:txBody>
          <a:bodyPr wrap="square">
            <a:spAutoFit/>
          </a:bodyPr>
          <a:lstStyle/>
          <a:p>
            <a:pPr algn="l">
              <a:spcAft>
                <a:spcPts val="600"/>
              </a:spcAft>
              <a:defRPr sz="2000" b="0">
                <a:solidFill>
                  <a:srgbClr val="A8E063"/>
                </a:solidFill>
                <a:latin typeface="Nohemi"/>
              </a:defRPr>
            </a:pPr>
            <a:r>
              <a:t>99.7%</a:t>
            </a:r>
          </a:p>
        </p:txBody>
      </p:sp>
      <p:sp>
        <p:nvSpPr>
          <p:cNvPr id="15" name="Rounded Rectangle 14"/>
          <p:cNvSpPr/>
          <p:nvPr/>
        </p:nvSpPr>
        <p:spPr>
          <a:xfrm>
            <a:off x="5303520" y="3447288"/>
            <a:ext cx="5029200" cy="292608"/>
          </a:xfrm>
          <a:prstGeom prst="roundRect">
            <a:avLst/>
          </a:prstGeom>
          <a:solidFill>
            <a:srgbClr val="122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303520" y="3447288"/>
            <a:ext cx="4978908" cy="292608"/>
          </a:xfrm>
          <a:prstGeom prst="round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0" y="3337560"/>
            <a:ext cx="914400" cy="457200"/>
          </a:xfrm>
          <a:prstGeom prst="rect">
            <a:avLst/>
          </a:prstGeom>
          <a:noFill/>
        </p:spPr>
        <p:txBody>
          <a:bodyPr wrap="square">
            <a:spAutoFit/>
          </a:bodyPr>
          <a:lstStyle/>
          <a:p>
            <a:pPr algn="r">
              <a:spcAft>
                <a:spcPts val="600"/>
              </a:spcAft>
              <a:defRPr sz="1600" b="0">
                <a:solidFill>
                  <a:srgbClr val="9AADA3"/>
                </a:solidFill>
                <a:latin typeface="Public Sans"/>
              </a:defRPr>
            </a:pPr>
            <a:r>
              <a:t>99%</a:t>
            </a:r>
          </a:p>
        </p:txBody>
      </p:sp>
      <p:sp>
        <p:nvSpPr>
          <p:cNvPr id="18" name="TextBox 17"/>
          <p:cNvSpPr txBox="1"/>
          <p:nvPr/>
        </p:nvSpPr>
        <p:spPr>
          <a:xfrm>
            <a:off x="731520" y="4297680"/>
            <a:ext cx="2286000" cy="457200"/>
          </a:xfrm>
          <a:prstGeom prst="rect">
            <a:avLst/>
          </a:prstGeom>
          <a:noFill/>
        </p:spPr>
        <p:txBody>
          <a:bodyPr wrap="square">
            <a:spAutoFit/>
          </a:bodyPr>
          <a:lstStyle/>
          <a:p>
            <a:pPr algn="l">
              <a:spcAft>
                <a:spcPts val="600"/>
              </a:spcAft>
              <a:defRPr sz="2000" b="1">
                <a:solidFill>
                  <a:srgbClr val="F7F8F0"/>
                </a:solidFill>
                <a:latin typeface="Nohemi"/>
              </a:defRPr>
            </a:pPr>
            <a:r>
              <a:t>Uptime</a:t>
            </a:r>
          </a:p>
        </p:txBody>
      </p:sp>
      <p:sp>
        <p:nvSpPr>
          <p:cNvPr id="19" name="TextBox 18"/>
          <p:cNvSpPr txBox="1"/>
          <p:nvPr/>
        </p:nvSpPr>
        <p:spPr>
          <a:xfrm>
            <a:off x="3017520" y="4297680"/>
            <a:ext cx="1828800" cy="457200"/>
          </a:xfrm>
          <a:prstGeom prst="rect">
            <a:avLst/>
          </a:prstGeom>
          <a:noFill/>
        </p:spPr>
        <p:txBody>
          <a:bodyPr wrap="square">
            <a:spAutoFit/>
          </a:bodyPr>
          <a:lstStyle/>
          <a:p>
            <a:pPr algn="l">
              <a:spcAft>
                <a:spcPts val="600"/>
              </a:spcAft>
              <a:defRPr sz="2000" b="0">
                <a:solidFill>
                  <a:srgbClr val="A8E063"/>
                </a:solidFill>
                <a:latin typeface="Nohemi"/>
              </a:defRPr>
            </a:pPr>
            <a:r>
              <a:t>99.9%</a:t>
            </a:r>
          </a:p>
        </p:txBody>
      </p:sp>
      <p:sp>
        <p:nvSpPr>
          <p:cNvPr id="20" name="Rounded Rectangle 19"/>
          <p:cNvSpPr/>
          <p:nvPr/>
        </p:nvSpPr>
        <p:spPr>
          <a:xfrm>
            <a:off x="5303520" y="4407408"/>
            <a:ext cx="5029200" cy="292608"/>
          </a:xfrm>
          <a:prstGeom prst="roundRect">
            <a:avLst/>
          </a:prstGeom>
          <a:solidFill>
            <a:srgbClr val="122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5303520" y="4407408"/>
            <a:ext cx="4978908" cy="292608"/>
          </a:xfrm>
          <a:prstGeom prst="round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515600" y="4297680"/>
            <a:ext cx="914400" cy="457200"/>
          </a:xfrm>
          <a:prstGeom prst="rect">
            <a:avLst/>
          </a:prstGeom>
          <a:noFill/>
        </p:spPr>
        <p:txBody>
          <a:bodyPr wrap="square">
            <a:spAutoFit/>
          </a:bodyPr>
          <a:lstStyle/>
          <a:p>
            <a:pPr algn="r">
              <a:spcAft>
                <a:spcPts val="600"/>
              </a:spcAft>
              <a:defRPr sz="1600" b="0">
                <a:solidFill>
                  <a:srgbClr val="9AADA3"/>
                </a:solidFill>
                <a:latin typeface="Public Sans"/>
              </a:defRPr>
            </a:pPr>
            <a:r>
              <a:t>99%</a:t>
            </a:r>
          </a:p>
        </p:txBody>
      </p:sp>
      <p:sp>
        <p:nvSpPr>
          <p:cNvPr id="23" name="TextBox 22"/>
          <p:cNvSpPr txBox="1"/>
          <p:nvPr/>
        </p:nvSpPr>
        <p:spPr>
          <a:xfrm>
            <a:off x="731520" y="5257800"/>
            <a:ext cx="2286000" cy="457200"/>
          </a:xfrm>
          <a:prstGeom prst="rect">
            <a:avLst/>
          </a:prstGeom>
          <a:noFill/>
        </p:spPr>
        <p:txBody>
          <a:bodyPr wrap="square">
            <a:spAutoFit/>
          </a:bodyPr>
          <a:lstStyle/>
          <a:p>
            <a:pPr algn="l">
              <a:spcAft>
                <a:spcPts val="600"/>
              </a:spcAft>
              <a:defRPr sz="2000" b="1">
                <a:solidFill>
                  <a:srgbClr val="F7F8F0"/>
                </a:solidFill>
                <a:latin typeface="Nohemi"/>
              </a:defRPr>
            </a:pPr>
            <a:r>
              <a:t>Accessibility</a:t>
            </a:r>
          </a:p>
        </p:txBody>
      </p:sp>
      <p:sp>
        <p:nvSpPr>
          <p:cNvPr id="24" name="TextBox 23"/>
          <p:cNvSpPr txBox="1"/>
          <p:nvPr/>
        </p:nvSpPr>
        <p:spPr>
          <a:xfrm>
            <a:off x="3017520" y="5257800"/>
            <a:ext cx="1828800" cy="457200"/>
          </a:xfrm>
          <a:prstGeom prst="rect">
            <a:avLst/>
          </a:prstGeom>
          <a:noFill/>
        </p:spPr>
        <p:txBody>
          <a:bodyPr wrap="square">
            <a:spAutoFit/>
          </a:bodyPr>
          <a:lstStyle/>
          <a:p>
            <a:pPr algn="l">
              <a:spcAft>
                <a:spcPts val="600"/>
              </a:spcAft>
              <a:defRPr sz="2000" b="0">
                <a:solidFill>
                  <a:srgbClr val="A8E063"/>
                </a:solidFill>
                <a:latin typeface="Nohemi"/>
              </a:defRPr>
            </a:pPr>
            <a:r>
              <a:t>WCAG AA</a:t>
            </a:r>
          </a:p>
        </p:txBody>
      </p:sp>
      <p:sp>
        <p:nvSpPr>
          <p:cNvPr id="25" name="Rounded Rectangle 24"/>
          <p:cNvSpPr/>
          <p:nvPr/>
        </p:nvSpPr>
        <p:spPr>
          <a:xfrm>
            <a:off x="5303520" y="5367528"/>
            <a:ext cx="5029200" cy="292608"/>
          </a:xfrm>
          <a:prstGeom prst="roundRect">
            <a:avLst/>
          </a:prstGeom>
          <a:solidFill>
            <a:srgbClr val="12241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5303520" y="5367528"/>
            <a:ext cx="4526280" cy="292608"/>
          </a:xfrm>
          <a:prstGeom prst="round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515600" y="5257800"/>
            <a:ext cx="914400" cy="457200"/>
          </a:xfrm>
          <a:prstGeom prst="rect">
            <a:avLst/>
          </a:prstGeom>
          <a:noFill/>
        </p:spPr>
        <p:txBody>
          <a:bodyPr wrap="square">
            <a:spAutoFit/>
          </a:bodyPr>
          <a:lstStyle/>
          <a:p>
            <a:pPr algn="r">
              <a:spcAft>
                <a:spcPts val="600"/>
              </a:spcAft>
              <a:defRPr sz="1600" b="0">
                <a:solidFill>
                  <a:srgbClr val="9AADA3"/>
                </a:solidFill>
                <a:latin typeface="Public Sans"/>
              </a:defRPr>
            </a:pPr>
            <a:r>
              <a:t>90%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13  REALITY CHECK</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Challenges</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13</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Rounded Rectangle 7"/>
          <p:cNvSpPr/>
          <p:nvPr/>
        </p:nvSpPr>
        <p:spPr>
          <a:xfrm>
            <a:off x="731520" y="2377440"/>
            <a:ext cx="10698480" cy="82296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2377440"/>
            <a:ext cx="91440" cy="822960"/>
          </a:xfrm>
          <a:prstGeom prst="rect">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50592"/>
            <a:ext cx="2011680" cy="457200"/>
          </a:xfrm>
          <a:prstGeom prst="rect">
            <a:avLst/>
          </a:prstGeom>
          <a:noFill/>
        </p:spPr>
        <p:txBody>
          <a:bodyPr wrap="square">
            <a:spAutoFit/>
          </a:bodyPr>
          <a:lstStyle/>
          <a:p>
            <a:pPr algn="l">
              <a:spcAft>
                <a:spcPts val="600"/>
              </a:spcAft>
              <a:defRPr sz="1900" b="1">
                <a:solidFill>
                  <a:srgbClr val="D4A74A"/>
                </a:solidFill>
                <a:latin typeface="Nohemi"/>
              </a:defRPr>
            </a:pPr>
            <a:r>
              <a:t>Connectivity</a:t>
            </a:r>
          </a:p>
        </p:txBody>
      </p:sp>
      <p:sp>
        <p:nvSpPr>
          <p:cNvPr id="11" name="TextBox 10"/>
          <p:cNvSpPr txBox="1"/>
          <p:nvPr/>
        </p:nvSpPr>
        <p:spPr>
          <a:xfrm>
            <a:off x="3291840" y="2468880"/>
            <a:ext cx="7680960" cy="640080"/>
          </a:xfrm>
          <a:prstGeom prst="rect">
            <a:avLst/>
          </a:prstGeom>
          <a:noFill/>
        </p:spPr>
        <p:txBody>
          <a:bodyPr wrap="square">
            <a:spAutoFit/>
          </a:bodyPr>
          <a:lstStyle/>
          <a:p>
            <a:pPr algn="l">
              <a:spcAft>
                <a:spcPts val="600"/>
              </a:spcAft>
              <a:defRPr sz="1700" b="0">
                <a:solidFill>
                  <a:srgbClr val="F7F8F0"/>
                </a:solidFill>
                <a:latin typeface="Public Sans"/>
              </a:defRPr>
            </a:pPr>
            <a:r>
              <a:t>Rural gaps limit access in remote governorates. Mobile units cover 40 percent of underserved areas today.</a:t>
            </a:r>
          </a:p>
        </p:txBody>
      </p:sp>
      <p:sp>
        <p:nvSpPr>
          <p:cNvPr id="12" name="Rounded Rectangle 11"/>
          <p:cNvSpPr/>
          <p:nvPr/>
        </p:nvSpPr>
        <p:spPr>
          <a:xfrm>
            <a:off x="731520" y="3337560"/>
            <a:ext cx="10698480" cy="82296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337560"/>
            <a:ext cx="91440" cy="822960"/>
          </a:xfrm>
          <a:prstGeom prst="rect">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3410712"/>
            <a:ext cx="2011680" cy="457200"/>
          </a:xfrm>
          <a:prstGeom prst="rect">
            <a:avLst/>
          </a:prstGeom>
          <a:noFill/>
        </p:spPr>
        <p:txBody>
          <a:bodyPr wrap="square">
            <a:spAutoFit/>
          </a:bodyPr>
          <a:lstStyle/>
          <a:p>
            <a:pPr algn="l">
              <a:spcAft>
                <a:spcPts val="600"/>
              </a:spcAft>
              <a:defRPr sz="1900" b="1">
                <a:solidFill>
                  <a:srgbClr val="D4A74A"/>
                </a:solidFill>
                <a:latin typeface="Nohemi"/>
              </a:defRPr>
            </a:pPr>
            <a:r>
              <a:t>Literacy</a:t>
            </a:r>
          </a:p>
        </p:txBody>
      </p:sp>
      <p:sp>
        <p:nvSpPr>
          <p:cNvPr id="15" name="TextBox 14"/>
          <p:cNvSpPr txBox="1"/>
          <p:nvPr/>
        </p:nvSpPr>
        <p:spPr>
          <a:xfrm>
            <a:off x="3291840" y="3429000"/>
            <a:ext cx="7680960" cy="640080"/>
          </a:xfrm>
          <a:prstGeom prst="rect">
            <a:avLst/>
          </a:prstGeom>
          <a:noFill/>
        </p:spPr>
        <p:txBody>
          <a:bodyPr wrap="square">
            <a:spAutoFit/>
          </a:bodyPr>
          <a:lstStyle/>
          <a:p>
            <a:pPr algn="l">
              <a:spcAft>
                <a:spcPts val="600"/>
              </a:spcAft>
              <a:defRPr sz="1700" b="0">
                <a:solidFill>
                  <a:srgbClr val="F7F8F0"/>
                </a:solidFill>
                <a:latin typeface="Public Sans"/>
              </a:defRPr>
            </a:pPr>
            <a:r>
              <a:t>Digital literacy programs need wider reach, especially among elderly citizens in Upper Egypt.</a:t>
            </a:r>
          </a:p>
        </p:txBody>
      </p:sp>
      <p:sp>
        <p:nvSpPr>
          <p:cNvPr id="16" name="Rounded Rectangle 15"/>
          <p:cNvSpPr/>
          <p:nvPr/>
        </p:nvSpPr>
        <p:spPr>
          <a:xfrm>
            <a:off x="731520" y="4297680"/>
            <a:ext cx="10698480" cy="82296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297680"/>
            <a:ext cx="91440" cy="822960"/>
          </a:xfrm>
          <a:prstGeom prst="rect">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370832"/>
            <a:ext cx="2011680" cy="457200"/>
          </a:xfrm>
          <a:prstGeom prst="rect">
            <a:avLst/>
          </a:prstGeom>
          <a:noFill/>
        </p:spPr>
        <p:txBody>
          <a:bodyPr wrap="square">
            <a:spAutoFit/>
          </a:bodyPr>
          <a:lstStyle/>
          <a:p>
            <a:pPr algn="l">
              <a:spcAft>
                <a:spcPts val="600"/>
              </a:spcAft>
              <a:defRPr sz="1900" b="1">
                <a:solidFill>
                  <a:srgbClr val="D4A74A"/>
                </a:solidFill>
                <a:latin typeface="Nohemi"/>
              </a:defRPr>
            </a:pPr>
            <a:r>
              <a:t>Legacy systems</a:t>
            </a:r>
          </a:p>
        </p:txBody>
      </p:sp>
      <p:sp>
        <p:nvSpPr>
          <p:cNvPr id="19" name="TextBox 18"/>
          <p:cNvSpPr txBox="1"/>
          <p:nvPr/>
        </p:nvSpPr>
        <p:spPr>
          <a:xfrm>
            <a:off x="3291840" y="4389120"/>
            <a:ext cx="7680960" cy="640080"/>
          </a:xfrm>
          <a:prstGeom prst="rect">
            <a:avLst/>
          </a:prstGeom>
          <a:noFill/>
        </p:spPr>
        <p:txBody>
          <a:bodyPr wrap="square">
            <a:spAutoFit/>
          </a:bodyPr>
          <a:lstStyle/>
          <a:p>
            <a:pPr algn="l">
              <a:spcAft>
                <a:spcPts val="600"/>
              </a:spcAft>
              <a:defRPr sz="1700" b="0">
                <a:solidFill>
                  <a:srgbClr val="F7F8F0"/>
                </a:solidFill>
                <a:latin typeface="Public Sans"/>
              </a:defRPr>
            </a:pPr>
            <a:r>
              <a:t>Integration remains complex for 3 ministries running decades-old infrastructure.</a:t>
            </a:r>
          </a:p>
        </p:txBody>
      </p:sp>
      <p:sp>
        <p:nvSpPr>
          <p:cNvPr id="20" name="Rounded Rectangle 19"/>
          <p:cNvSpPr/>
          <p:nvPr/>
        </p:nvSpPr>
        <p:spPr>
          <a:xfrm>
            <a:off x="731520" y="5257800"/>
            <a:ext cx="10698480" cy="82296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31520" y="5257800"/>
            <a:ext cx="91440" cy="822960"/>
          </a:xfrm>
          <a:prstGeom prst="rect">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97280" y="5330952"/>
            <a:ext cx="2011680" cy="457200"/>
          </a:xfrm>
          <a:prstGeom prst="rect">
            <a:avLst/>
          </a:prstGeom>
          <a:noFill/>
        </p:spPr>
        <p:txBody>
          <a:bodyPr wrap="square">
            <a:spAutoFit/>
          </a:bodyPr>
          <a:lstStyle/>
          <a:p>
            <a:pPr algn="l">
              <a:spcAft>
                <a:spcPts val="600"/>
              </a:spcAft>
              <a:defRPr sz="1900" b="1">
                <a:solidFill>
                  <a:srgbClr val="D4A74A"/>
                </a:solidFill>
                <a:latin typeface="Nohemi"/>
              </a:defRPr>
            </a:pPr>
            <a:r>
              <a:t>Peak load</a:t>
            </a:r>
          </a:p>
        </p:txBody>
      </p:sp>
      <p:sp>
        <p:nvSpPr>
          <p:cNvPr id="23" name="TextBox 22"/>
          <p:cNvSpPr txBox="1"/>
          <p:nvPr/>
        </p:nvSpPr>
        <p:spPr>
          <a:xfrm>
            <a:off x="3291840" y="5349240"/>
            <a:ext cx="7680960" cy="640080"/>
          </a:xfrm>
          <a:prstGeom prst="rect">
            <a:avLst/>
          </a:prstGeom>
          <a:noFill/>
        </p:spPr>
        <p:txBody>
          <a:bodyPr wrap="square">
            <a:spAutoFit/>
          </a:bodyPr>
          <a:lstStyle/>
          <a:p>
            <a:pPr algn="l">
              <a:spcAft>
                <a:spcPts val="600"/>
              </a:spcAft>
              <a:defRPr sz="1700" b="0">
                <a:solidFill>
                  <a:srgbClr val="F7F8F0"/>
                </a:solidFill>
                <a:latin typeface="Public Sans"/>
              </a:defRPr>
            </a:pPr>
            <a:r>
              <a:t>Tax season caused brief slowdowns. Auto-scaling upgrades are scheduled for Q1 2027.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14  STRATEGY</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2027 Strategic Priorities</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14</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TextBox 7"/>
          <p:cNvSpPr txBox="1"/>
          <p:nvPr/>
        </p:nvSpPr>
        <p:spPr>
          <a:xfrm>
            <a:off x="731520" y="2331720"/>
            <a:ext cx="914400" cy="548640"/>
          </a:xfrm>
          <a:prstGeom prst="rect">
            <a:avLst/>
          </a:prstGeom>
          <a:noFill/>
        </p:spPr>
        <p:txBody>
          <a:bodyPr wrap="square">
            <a:spAutoFit/>
          </a:bodyPr>
          <a:lstStyle/>
          <a:p>
            <a:pPr algn="l">
              <a:spcAft>
                <a:spcPts val="600"/>
              </a:spcAft>
              <a:defRPr sz="3000" b="1">
                <a:solidFill>
                  <a:srgbClr val="A8E063"/>
                </a:solidFill>
                <a:latin typeface="Nohemi"/>
              </a:defRPr>
            </a:pPr>
            <a:r>
              <a:t>01</a:t>
            </a:r>
          </a:p>
        </p:txBody>
      </p:sp>
      <p:sp>
        <p:nvSpPr>
          <p:cNvPr id="9" name="TextBox 8"/>
          <p:cNvSpPr txBox="1"/>
          <p:nvPr/>
        </p:nvSpPr>
        <p:spPr>
          <a:xfrm>
            <a:off x="1737360" y="2331720"/>
            <a:ext cx="5029200" cy="548640"/>
          </a:xfrm>
          <a:prstGeom prst="rect">
            <a:avLst/>
          </a:prstGeom>
          <a:noFill/>
        </p:spPr>
        <p:txBody>
          <a:bodyPr wrap="square">
            <a:spAutoFit/>
          </a:bodyPr>
          <a:lstStyle/>
          <a:p>
            <a:pPr algn="l">
              <a:spcAft>
                <a:spcPts val="600"/>
              </a:spcAft>
              <a:defRPr sz="2100" b="1">
                <a:solidFill>
                  <a:srgbClr val="F7F8F0"/>
                </a:solidFill>
                <a:latin typeface="Nohemi"/>
              </a:defRPr>
            </a:pPr>
            <a:r>
              <a:t>Reach 5 million onboarded citizens</a:t>
            </a:r>
          </a:p>
        </p:txBody>
      </p:sp>
      <p:sp>
        <p:nvSpPr>
          <p:cNvPr id="10" name="TextBox 9"/>
          <p:cNvSpPr txBox="1"/>
          <p:nvPr/>
        </p:nvSpPr>
        <p:spPr>
          <a:xfrm>
            <a:off x="1737360" y="2834639"/>
            <a:ext cx="9601200" cy="457200"/>
          </a:xfrm>
          <a:prstGeom prst="rect">
            <a:avLst/>
          </a:prstGeom>
          <a:noFill/>
        </p:spPr>
        <p:txBody>
          <a:bodyPr wrap="square">
            <a:spAutoFit/>
          </a:bodyPr>
          <a:lstStyle/>
          <a:p>
            <a:pPr algn="l">
              <a:spcAft>
                <a:spcPts val="600"/>
              </a:spcAft>
              <a:defRPr sz="1700" b="0">
                <a:solidFill>
                  <a:srgbClr val="9AADA3"/>
                </a:solidFill>
                <a:latin typeface="Public Sans"/>
              </a:defRPr>
            </a:pPr>
            <a:r>
              <a:t>Double the citizen base through rural expansion and assisted onboarding</a:t>
            </a:r>
          </a:p>
        </p:txBody>
      </p:sp>
      <p:sp>
        <p:nvSpPr>
          <p:cNvPr id="11" name="TextBox 10"/>
          <p:cNvSpPr txBox="1"/>
          <p:nvPr/>
        </p:nvSpPr>
        <p:spPr>
          <a:xfrm>
            <a:off x="731520" y="3319272"/>
            <a:ext cx="914400" cy="548640"/>
          </a:xfrm>
          <a:prstGeom prst="rect">
            <a:avLst/>
          </a:prstGeom>
          <a:noFill/>
        </p:spPr>
        <p:txBody>
          <a:bodyPr wrap="square">
            <a:spAutoFit/>
          </a:bodyPr>
          <a:lstStyle/>
          <a:p>
            <a:pPr algn="l">
              <a:spcAft>
                <a:spcPts val="600"/>
              </a:spcAft>
              <a:defRPr sz="3000" b="1">
                <a:solidFill>
                  <a:srgbClr val="A8E063"/>
                </a:solidFill>
                <a:latin typeface="Nohemi"/>
              </a:defRPr>
            </a:pPr>
            <a:r>
              <a:t>02</a:t>
            </a:r>
          </a:p>
        </p:txBody>
      </p:sp>
      <p:sp>
        <p:nvSpPr>
          <p:cNvPr id="12" name="TextBox 11"/>
          <p:cNvSpPr txBox="1"/>
          <p:nvPr/>
        </p:nvSpPr>
        <p:spPr>
          <a:xfrm>
            <a:off x="1737360" y="3319272"/>
            <a:ext cx="5029200" cy="548640"/>
          </a:xfrm>
          <a:prstGeom prst="rect">
            <a:avLst/>
          </a:prstGeom>
          <a:noFill/>
        </p:spPr>
        <p:txBody>
          <a:bodyPr wrap="square">
            <a:spAutoFit/>
          </a:bodyPr>
          <a:lstStyle/>
          <a:p>
            <a:pPr algn="l">
              <a:spcAft>
                <a:spcPts val="600"/>
              </a:spcAft>
              <a:defRPr sz="2100" b="1">
                <a:solidFill>
                  <a:srgbClr val="F7F8F0"/>
                </a:solidFill>
                <a:latin typeface="Nohemi"/>
              </a:defRPr>
            </a:pPr>
            <a:r>
              <a:t>Digitize 90 percent of services</a:t>
            </a:r>
          </a:p>
        </p:txBody>
      </p:sp>
      <p:sp>
        <p:nvSpPr>
          <p:cNvPr id="13" name="TextBox 12"/>
          <p:cNvSpPr txBox="1"/>
          <p:nvPr/>
        </p:nvSpPr>
        <p:spPr>
          <a:xfrm>
            <a:off x="1737360" y="3822191"/>
            <a:ext cx="9601200" cy="457200"/>
          </a:xfrm>
          <a:prstGeom prst="rect">
            <a:avLst/>
          </a:prstGeom>
          <a:noFill/>
        </p:spPr>
        <p:txBody>
          <a:bodyPr wrap="square">
            <a:spAutoFit/>
          </a:bodyPr>
          <a:lstStyle/>
          <a:p>
            <a:pPr algn="l">
              <a:spcAft>
                <a:spcPts val="600"/>
              </a:spcAft>
              <a:defRPr sz="1700" b="0">
                <a:solidFill>
                  <a:srgbClr val="9AADA3"/>
                </a:solidFill>
                <a:latin typeface="Public Sans"/>
              </a:defRPr>
            </a:pPr>
            <a:r>
              <a:t>Complete the long tail of specialized ministry workflows</a:t>
            </a:r>
          </a:p>
        </p:txBody>
      </p:sp>
      <p:sp>
        <p:nvSpPr>
          <p:cNvPr id="14" name="TextBox 13"/>
          <p:cNvSpPr txBox="1"/>
          <p:nvPr/>
        </p:nvSpPr>
        <p:spPr>
          <a:xfrm>
            <a:off x="731520" y="4306824"/>
            <a:ext cx="914400" cy="548640"/>
          </a:xfrm>
          <a:prstGeom prst="rect">
            <a:avLst/>
          </a:prstGeom>
          <a:noFill/>
        </p:spPr>
        <p:txBody>
          <a:bodyPr wrap="square">
            <a:spAutoFit/>
          </a:bodyPr>
          <a:lstStyle/>
          <a:p>
            <a:pPr algn="l">
              <a:spcAft>
                <a:spcPts val="600"/>
              </a:spcAft>
              <a:defRPr sz="3000" b="1">
                <a:solidFill>
                  <a:srgbClr val="A8E063"/>
                </a:solidFill>
                <a:latin typeface="Nohemi"/>
              </a:defRPr>
            </a:pPr>
            <a:r>
              <a:t>03</a:t>
            </a:r>
          </a:p>
        </p:txBody>
      </p:sp>
      <p:sp>
        <p:nvSpPr>
          <p:cNvPr id="15" name="TextBox 14"/>
          <p:cNvSpPr txBox="1"/>
          <p:nvPr/>
        </p:nvSpPr>
        <p:spPr>
          <a:xfrm>
            <a:off x="1737360" y="4306824"/>
            <a:ext cx="5029200" cy="548640"/>
          </a:xfrm>
          <a:prstGeom prst="rect">
            <a:avLst/>
          </a:prstGeom>
          <a:noFill/>
        </p:spPr>
        <p:txBody>
          <a:bodyPr wrap="square">
            <a:spAutoFit/>
          </a:bodyPr>
          <a:lstStyle/>
          <a:p>
            <a:pPr algn="l">
              <a:spcAft>
                <a:spcPts val="600"/>
              </a:spcAft>
              <a:defRPr sz="2100" b="1">
                <a:solidFill>
                  <a:srgbClr val="F7F8F0"/>
                </a:solidFill>
                <a:latin typeface="Nohemi"/>
              </a:defRPr>
            </a:pPr>
            <a:r>
              <a:t>Launch predictive services</a:t>
            </a:r>
          </a:p>
        </p:txBody>
      </p:sp>
      <p:sp>
        <p:nvSpPr>
          <p:cNvPr id="16" name="TextBox 15"/>
          <p:cNvSpPr txBox="1"/>
          <p:nvPr/>
        </p:nvSpPr>
        <p:spPr>
          <a:xfrm>
            <a:off x="1737360" y="4809744"/>
            <a:ext cx="9601200" cy="457200"/>
          </a:xfrm>
          <a:prstGeom prst="rect">
            <a:avLst/>
          </a:prstGeom>
          <a:noFill/>
        </p:spPr>
        <p:txBody>
          <a:bodyPr wrap="square">
            <a:spAutoFit/>
          </a:bodyPr>
          <a:lstStyle/>
          <a:p>
            <a:pPr algn="l">
              <a:spcAft>
                <a:spcPts val="600"/>
              </a:spcAft>
              <a:defRPr sz="1700" b="0">
                <a:solidFill>
                  <a:srgbClr val="9AADA3"/>
                </a:solidFill>
                <a:latin typeface="Public Sans"/>
              </a:defRPr>
            </a:pPr>
            <a:r>
              <a:t>AI anticipates citizen needs before they apply</a:t>
            </a:r>
          </a:p>
        </p:txBody>
      </p:sp>
      <p:sp>
        <p:nvSpPr>
          <p:cNvPr id="17" name="TextBox 16"/>
          <p:cNvSpPr txBox="1"/>
          <p:nvPr/>
        </p:nvSpPr>
        <p:spPr>
          <a:xfrm>
            <a:off x="731520" y="5294376"/>
            <a:ext cx="914400" cy="548640"/>
          </a:xfrm>
          <a:prstGeom prst="rect">
            <a:avLst/>
          </a:prstGeom>
          <a:noFill/>
        </p:spPr>
        <p:txBody>
          <a:bodyPr wrap="square">
            <a:spAutoFit/>
          </a:bodyPr>
          <a:lstStyle/>
          <a:p>
            <a:pPr algn="l">
              <a:spcAft>
                <a:spcPts val="600"/>
              </a:spcAft>
              <a:defRPr sz="3000" b="1">
                <a:solidFill>
                  <a:srgbClr val="A8E063"/>
                </a:solidFill>
                <a:latin typeface="Nohemi"/>
              </a:defRPr>
            </a:pPr>
            <a:r>
              <a:t>04</a:t>
            </a:r>
          </a:p>
        </p:txBody>
      </p:sp>
      <p:sp>
        <p:nvSpPr>
          <p:cNvPr id="18" name="TextBox 17"/>
          <p:cNvSpPr txBox="1"/>
          <p:nvPr/>
        </p:nvSpPr>
        <p:spPr>
          <a:xfrm>
            <a:off x="1737360" y="5294376"/>
            <a:ext cx="5029200" cy="548640"/>
          </a:xfrm>
          <a:prstGeom prst="rect">
            <a:avLst/>
          </a:prstGeom>
          <a:noFill/>
        </p:spPr>
        <p:txBody>
          <a:bodyPr wrap="square">
            <a:spAutoFit/>
          </a:bodyPr>
          <a:lstStyle/>
          <a:p>
            <a:pPr algn="l">
              <a:spcAft>
                <a:spcPts val="600"/>
              </a:spcAft>
              <a:defRPr sz="2100" b="1">
                <a:solidFill>
                  <a:srgbClr val="F7F8F0"/>
                </a:solidFill>
                <a:latin typeface="Nohemi"/>
              </a:defRPr>
            </a:pPr>
            <a:r>
              <a:t>Lead the region</a:t>
            </a:r>
          </a:p>
        </p:txBody>
      </p:sp>
      <p:sp>
        <p:nvSpPr>
          <p:cNvPr id="19" name="TextBox 18"/>
          <p:cNvSpPr txBox="1"/>
          <p:nvPr/>
        </p:nvSpPr>
        <p:spPr>
          <a:xfrm>
            <a:off x="1737360" y="5797296"/>
            <a:ext cx="9601200" cy="457200"/>
          </a:xfrm>
          <a:prstGeom prst="rect">
            <a:avLst/>
          </a:prstGeom>
          <a:noFill/>
        </p:spPr>
        <p:txBody>
          <a:bodyPr wrap="square">
            <a:spAutoFit/>
          </a:bodyPr>
          <a:lstStyle/>
          <a:p>
            <a:pPr algn="l">
              <a:spcAft>
                <a:spcPts val="600"/>
              </a:spcAft>
              <a:defRPr sz="1700" b="0">
                <a:solidFill>
                  <a:srgbClr val="9AADA3"/>
                </a:solidFill>
                <a:latin typeface="Public Sans"/>
              </a:defRPr>
            </a:pPr>
            <a:r>
              <a:t>Export platform expertise and set the Arab digital government standard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15  INVESTMENT</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2027 Budget Allocation</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15</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Freeform 7"/>
          <p:cNvSpPr/>
          <p:nvPr/>
        </p:nvSpPr>
        <p:spPr>
          <a:xfrm>
            <a:off x="2926080" y="2697480"/>
            <a:ext cx="1416620" cy="2250399"/>
          </a:xfrm>
          <a:custGeom>
            <a:avLst/>
            <a:gdLst/>
            <a:ahLst/>
            <a:cxnLst/>
            <a:rect l="l" t="t" r="r" b="b"/>
            <a:pathLst>
              <a:path w="1416620" h="2250399">
                <a:moveTo>
                  <a:pt x="0" y="0"/>
                </a:moveTo>
                <a:lnTo>
                  <a:pt x="155528" y="8559"/>
                </a:lnTo>
                <a:lnTo>
                  <a:pt x="309178" y="34133"/>
                </a:lnTo>
                <a:lnTo>
                  <a:pt x="459094" y="76414"/>
                </a:lnTo>
                <a:lnTo>
                  <a:pt x="603465" y="134890"/>
                </a:lnTo>
                <a:lnTo>
                  <a:pt x="740547" y="208856"/>
                </a:lnTo>
                <a:lnTo>
                  <a:pt x="868685" y="297417"/>
                </a:lnTo>
                <a:lnTo>
                  <a:pt x="986331" y="399505"/>
                </a:lnTo>
                <a:lnTo>
                  <a:pt x="1092063" y="513886"/>
                </a:lnTo>
                <a:lnTo>
                  <a:pt x="1184606" y="639178"/>
                </a:lnTo>
                <a:lnTo>
                  <a:pt x="1262841" y="773870"/>
                </a:lnTo>
                <a:lnTo>
                  <a:pt x="1325823" y="916333"/>
                </a:lnTo>
                <a:lnTo>
                  <a:pt x="1372792" y="1064846"/>
                </a:lnTo>
                <a:lnTo>
                  <a:pt x="1403180" y="1217617"/>
                </a:lnTo>
                <a:lnTo>
                  <a:pt x="1416620" y="1372800"/>
                </a:lnTo>
                <a:lnTo>
                  <a:pt x="1412950" y="1528521"/>
                </a:lnTo>
                <a:lnTo>
                  <a:pt x="1392215" y="1682899"/>
                </a:lnTo>
                <a:lnTo>
                  <a:pt x="1354664" y="1834069"/>
                </a:lnTo>
                <a:lnTo>
                  <a:pt x="1300751" y="1980205"/>
                </a:lnTo>
                <a:lnTo>
                  <a:pt x="1231128" y="2119543"/>
                </a:lnTo>
                <a:lnTo>
                  <a:pt x="1146635" y="2250399"/>
                </a:lnTo>
                <a:lnTo>
                  <a:pt x="628800" y="1874170"/>
                </a:lnTo>
                <a:lnTo>
                  <a:pt x="675135" y="1802410"/>
                </a:lnTo>
                <a:lnTo>
                  <a:pt x="713315" y="1725999"/>
                </a:lnTo>
                <a:lnTo>
                  <a:pt x="742880" y="1645859"/>
                </a:lnTo>
                <a:lnTo>
                  <a:pt x="763472" y="1562960"/>
                </a:lnTo>
                <a:lnTo>
                  <a:pt x="774844" y="1478301"/>
                </a:lnTo>
                <a:lnTo>
                  <a:pt x="776856" y="1392906"/>
                </a:lnTo>
                <a:lnTo>
                  <a:pt x="769485" y="1307805"/>
                </a:lnTo>
                <a:lnTo>
                  <a:pt x="752821" y="1224028"/>
                </a:lnTo>
                <a:lnTo>
                  <a:pt x="727064" y="1142585"/>
                </a:lnTo>
                <a:lnTo>
                  <a:pt x="692525" y="1064460"/>
                </a:lnTo>
                <a:lnTo>
                  <a:pt x="649622" y="990597"/>
                </a:lnTo>
                <a:lnTo>
                  <a:pt x="598873" y="921888"/>
                </a:lnTo>
                <a:lnTo>
                  <a:pt x="540891" y="859163"/>
                </a:lnTo>
                <a:lnTo>
                  <a:pt x="476375" y="803179"/>
                </a:lnTo>
                <a:lnTo>
                  <a:pt x="406106" y="754613"/>
                </a:lnTo>
                <a:lnTo>
                  <a:pt x="330932" y="714052"/>
                </a:lnTo>
                <a:lnTo>
                  <a:pt x="251761" y="681984"/>
                </a:lnTo>
                <a:lnTo>
                  <a:pt x="169549" y="658798"/>
                </a:lnTo>
                <a:lnTo>
                  <a:pt x="85289" y="644773"/>
                </a:lnTo>
                <a:lnTo>
                  <a:pt x="0" y="640080"/>
                </a:lnTo>
                <a:close/>
              </a:path>
            </a:pathLst>
          </a:custGeom>
          <a:solidFill>
            <a:srgbClr val="2D7D6B"/>
          </a:solidFill>
          <a:ln w="25400">
            <a:solidFill>
              <a:srgbClr val="0E1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Freeform 8"/>
          <p:cNvSpPr/>
          <p:nvPr/>
        </p:nvSpPr>
        <p:spPr>
          <a:xfrm>
            <a:off x="2093000" y="4571650"/>
            <a:ext cx="1979715" cy="960470"/>
          </a:xfrm>
          <a:custGeom>
            <a:avLst/>
            <a:gdLst/>
            <a:ahLst/>
            <a:cxnLst/>
            <a:rect l="l" t="t" r="r" b="b"/>
            <a:pathLst>
              <a:path w="1979715" h="960470">
                <a:moveTo>
                  <a:pt x="1979715" y="376229"/>
                </a:moveTo>
                <a:lnTo>
                  <a:pt x="1886354" y="491522"/>
                </a:lnTo>
                <a:lnTo>
                  <a:pt x="1781452" y="596424"/>
                </a:lnTo>
                <a:lnTo>
                  <a:pt x="1666159" y="689785"/>
                </a:lnTo>
                <a:lnTo>
                  <a:pt x="1541740" y="770585"/>
                </a:lnTo>
                <a:lnTo>
                  <a:pt x="1409555" y="837936"/>
                </a:lnTo>
                <a:lnTo>
                  <a:pt x="1271055" y="891101"/>
                </a:lnTo>
                <a:lnTo>
                  <a:pt x="1127757" y="929498"/>
                </a:lnTo>
                <a:lnTo>
                  <a:pt x="981230" y="952705"/>
                </a:lnTo>
                <a:lnTo>
                  <a:pt x="833080" y="960470"/>
                </a:lnTo>
                <a:lnTo>
                  <a:pt x="684929" y="952705"/>
                </a:lnTo>
                <a:lnTo>
                  <a:pt x="538402" y="929498"/>
                </a:lnTo>
                <a:lnTo>
                  <a:pt x="395104" y="891101"/>
                </a:lnTo>
                <a:lnTo>
                  <a:pt x="256604" y="837936"/>
                </a:lnTo>
                <a:lnTo>
                  <a:pt x="124420" y="770585"/>
                </a:lnTo>
                <a:lnTo>
                  <a:pt x="0" y="689785"/>
                </a:lnTo>
                <a:lnTo>
                  <a:pt x="376229" y="171950"/>
                </a:lnTo>
                <a:lnTo>
                  <a:pt x="444460" y="216259"/>
                </a:lnTo>
                <a:lnTo>
                  <a:pt x="516948" y="253194"/>
                </a:lnTo>
                <a:lnTo>
                  <a:pt x="592899" y="282349"/>
                </a:lnTo>
                <a:lnTo>
                  <a:pt x="671482" y="303405"/>
                </a:lnTo>
                <a:lnTo>
                  <a:pt x="751836" y="316132"/>
                </a:lnTo>
                <a:lnTo>
                  <a:pt x="833080" y="320390"/>
                </a:lnTo>
                <a:lnTo>
                  <a:pt x="914323" y="316132"/>
                </a:lnTo>
                <a:lnTo>
                  <a:pt x="994677" y="303405"/>
                </a:lnTo>
                <a:lnTo>
                  <a:pt x="1073260" y="282349"/>
                </a:lnTo>
                <a:lnTo>
                  <a:pt x="1149211" y="253194"/>
                </a:lnTo>
                <a:lnTo>
                  <a:pt x="1221700" y="216259"/>
                </a:lnTo>
                <a:lnTo>
                  <a:pt x="1289930" y="171950"/>
                </a:lnTo>
                <a:lnTo>
                  <a:pt x="1353155" y="120751"/>
                </a:lnTo>
                <a:lnTo>
                  <a:pt x="1410681" y="63225"/>
                </a:lnTo>
                <a:lnTo>
                  <a:pt x="1461880" y="0"/>
                </a:lnTo>
                <a:close/>
              </a:path>
            </a:pathLst>
          </a:custGeom>
          <a:solidFill>
            <a:srgbClr val="A8E063"/>
          </a:solidFill>
          <a:ln w="25400">
            <a:solidFill>
              <a:srgbClr val="0E1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Freeform 9"/>
          <p:cNvSpPr/>
          <p:nvPr/>
        </p:nvSpPr>
        <p:spPr>
          <a:xfrm>
            <a:off x="1508760" y="4114800"/>
            <a:ext cx="960469" cy="1146635"/>
          </a:xfrm>
          <a:custGeom>
            <a:avLst/>
            <a:gdLst/>
            <a:ahLst/>
            <a:cxnLst/>
            <a:rect l="l" t="t" r="r" b="b"/>
            <a:pathLst>
              <a:path w="960469" h="1146635">
                <a:moveTo>
                  <a:pt x="584240" y="1146635"/>
                </a:moveTo>
                <a:lnTo>
                  <a:pt x="468947" y="1053274"/>
                </a:lnTo>
                <a:lnTo>
                  <a:pt x="364045" y="948372"/>
                </a:lnTo>
                <a:lnTo>
                  <a:pt x="270684" y="833079"/>
                </a:lnTo>
                <a:lnTo>
                  <a:pt x="189884" y="708660"/>
                </a:lnTo>
                <a:lnTo>
                  <a:pt x="122533" y="576475"/>
                </a:lnTo>
                <a:lnTo>
                  <a:pt x="69368" y="437975"/>
                </a:lnTo>
                <a:lnTo>
                  <a:pt x="30971" y="294677"/>
                </a:lnTo>
                <a:lnTo>
                  <a:pt x="7764" y="148150"/>
                </a:lnTo>
                <a:lnTo>
                  <a:pt x="0" y="0"/>
                </a:lnTo>
                <a:lnTo>
                  <a:pt x="640080" y="0"/>
                </a:lnTo>
                <a:lnTo>
                  <a:pt x="644337" y="81243"/>
                </a:lnTo>
                <a:lnTo>
                  <a:pt x="657064" y="161597"/>
                </a:lnTo>
                <a:lnTo>
                  <a:pt x="678120" y="240180"/>
                </a:lnTo>
                <a:lnTo>
                  <a:pt x="707275" y="316131"/>
                </a:lnTo>
                <a:lnTo>
                  <a:pt x="744210" y="388620"/>
                </a:lnTo>
                <a:lnTo>
                  <a:pt x="788519" y="456850"/>
                </a:lnTo>
                <a:lnTo>
                  <a:pt x="839718" y="520075"/>
                </a:lnTo>
                <a:lnTo>
                  <a:pt x="897244" y="577601"/>
                </a:lnTo>
                <a:lnTo>
                  <a:pt x="960469" y="628800"/>
                </a:lnTo>
                <a:close/>
              </a:path>
            </a:pathLst>
          </a:custGeom>
          <a:solidFill>
            <a:srgbClr val="D4A74A"/>
          </a:solidFill>
          <a:ln w="25400">
            <a:solidFill>
              <a:srgbClr val="0E1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Freeform 10"/>
          <p:cNvSpPr/>
          <p:nvPr/>
        </p:nvSpPr>
        <p:spPr>
          <a:xfrm>
            <a:off x="1508760" y="2968164"/>
            <a:ext cx="960469" cy="1146636"/>
          </a:xfrm>
          <a:custGeom>
            <a:avLst/>
            <a:gdLst/>
            <a:ahLst/>
            <a:cxnLst/>
            <a:rect l="l" t="t" r="r" b="b"/>
            <a:pathLst>
              <a:path w="960469" h="1146636">
                <a:moveTo>
                  <a:pt x="0" y="1146636"/>
                </a:moveTo>
                <a:lnTo>
                  <a:pt x="7764" y="998485"/>
                </a:lnTo>
                <a:lnTo>
                  <a:pt x="30971" y="851958"/>
                </a:lnTo>
                <a:lnTo>
                  <a:pt x="69368" y="708660"/>
                </a:lnTo>
                <a:lnTo>
                  <a:pt x="122533" y="570160"/>
                </a:lnTo>
                <a:lnTo>
                  <a:pt x="189884" y="437976"/>
                </a:lnTo>
                <a:lnTo>
                  <a:pt x="270684" y="313556"/>
                </a:lnTo>
                <a:lnTo>
                  <a:pt x="364045" y="198263"/>
                </a:lnTo>
                <a:lnTo>
                  <a:pt x="468947" y="93361"/>
                </a:lnTo>
                <a:lnTo>
                  <a:pt x="584240" y="0"/>
                </a:lnTo>
                <a:lnTo>
                  <a:pt x="960469" y="517835"/>
                </a:lnTo>
                <a:lnTo>
                  <a:pt x="897244" y="569034"/>
                </a:lnTo>
                <a:lnTo>
                  <a:pt x="839718" y="626560"/>
                </a:lnTo>
                <a:lnTo>
                  <a:pt x="788519" y="689785"/>
                </a:lnTo>
                <a:lnTo>
                  <a:pt x="744210" y="758016"/>
                </a:lnTo>
                <a:lnTo>
                  <a:pt x="707275" y="830504"/>
                </a:lnTo>
                <a:lnTo>
                  <a:pt x="678120" y="906455"/>
                </a:lnTo>
                <a:lnTo>
                  <a:pt x="657064" y="985038"/>
                </a:lnTo>
                <a:lnTo>
                  <a:pt x="644337" y="1065392"/>
                </a:lnTo>
                <a:lnTo>
                  <a:pt x="640080" y="1146636"/>
                </a:lnTo>
                <a:close/>
              </a:path>
            </a:pathLst>
          </a:custGeom>
          <a:solidFill>
            <a:srgbClr val="5E6B7A"/>
          </a:solidFill>
          <a:ln w="25400">
            <a:solidFill>
              <a:srgbClr val="0E1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Freeform 11"/>
          <p:cNvSpPr/>
          <p:nvPr/>
        </p:nvSpPr>
        <p:spPr>
          <a:xfrm>
            <a:off x="2093000" y="2697480"/>
            <a:ext cx="833080" cy="788519"/>
          </a:xfrm>
          <a:custGeom>
            <a:avLst/>
            <a:gdLst/>
            <a:ahLst/>
            <a:cxnLst/>
            <a:rect l="l" t="t" r="r" b="b"/>
            <a:pathLst>
              <a:path w="833080" h="788519">
                <a:moveTo>
                  <a:pt x="0" y="270684"/>
                </a:moveTo>
                <a:lnTo>
                  <a:pt x="92532" y="208856"/>
                </a:lnTo>
                <a:lnTo>
                  <a:pt x="189630" y="154478"/>
                </a:lnTo>
                <a:lnTo>
                  <a:pt x="290695" y="107887"/>
                </a:lnTo>
                <a:lnTo>
                  <a:pt x="395104" y="69368"/>
                </a:lnTo>
                <a:lnTo>
                  <a:pt x="502213" y="39160"/>
                </a:lnTo>
                <a:lnTo>
                  <a:pt x="611362" y="17449"/>
                </a:lnTo>
                <a:lnTo>
                  <a:pt x="721878" y="4369"/>
                </a:lnTo>
                <a:lnTo>
                  <a:pt x="833079" y="0"/>
                </a:lnTo>
                <a:lnTo>
                  <a:pt x="833080" y="640080"/>
                </a:lnTo>
                <a:lnTo>
                  <a:pt x="772098" y="642475"/>
                </a:lnTo>
                <a:lnTo>
                  <a:pt x="711492" y="649649"/>
                </a:lnTo>
                <a:lnTo>
                  <a:pt x="651636" y="661555"/>
                </a:lnTo>
                <a:lnTo>
                  <a:pt x="592899" y="678120"/>
                </a:lnTo>
                <a:lnTo>
                  <a:pt x="535643" y="699243"/>
                </a:lnTo>
                <a:lnTo>
                  <a:pt x="480220" y="724794"/>
                </a:lnTo>
                <a:lnTo>
                  <a:pt x="426973" y="754613"/>
                </a:lnTo>
                <a:lnTo>
                  <a:pt x="376229" y="788519"/>
                </a:lnTo>
                <a:close/>
              </a:path>
            </a:pathLst>
          </a:custGeom>
          <a:solidFill>
            <a:srgbClr val="3A5A8C"/>
          </a:solidFill>
          <a:ln w="25400">
            <a:solidFill>
              <a:srgbClr val="0E1B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48840" y="3749039"/>
            <a:ext cx="1554480" cy="457200"/>
          </a:xfrm>
          <a:prstGeom prst="rect">
            <a:avLst/>
          </a:prstGeom>
          <a:noFill/>
        </p:spPr>
        <p:txBody>
          <a:bodyPr wrap="square">
            <a:spAutoFit/>
          </a:bodyPr>
          <a:lstStyle/>
          <a:p>
            <a:pPr algn="ctr">
              <a:spcAft>
                <a:spcPts val="600"/>
              </a:spcAft>
              <a:defRPr sz="2800" b="1">
                <a:solidFill>
                  <a:srgbClr val="F7F8F0"/>
                </a:solidFill>
                <a:latin typeface="Nohemi"/>
              </a:defRPr>
            </a:pPr>
            <a:r>
              <a:t>2027</a:t>
            </a:r>
          </a:p>
        </p:txBody>
      </p:sp>
      <p:sp>
        <p:nvSpPr>
          <p:cNvPr id="14" name="TextBox 13"/>
          <p:cNvSpPr txBox="1"/>
          <p:nvPr/>
        </p:nvSpPr>
        <p:spPr>
          <a:xfrm>
            <a:off x="2148840" y="4160520"/>
            <a:ext cx="1554480" cy="365760"/>
          </a:xfrm>
          <a:prstGeom prst="rect">
            <a:avLst/>
          </a:prstGeom>
          <a:noFill/>
        </p:spPr>
        <p:txBody>
          <a:bodyPr wrap="square">
            <a:spAutoFit/>
          </a:bodyPr>
          <a:lstStyle/>
          <a:p>
            <a:pPr algn="ctr">
              <a:spcAft>
                <a:spcPts val="600"/>
              </a:spcAft>
              <a:defRPr sz="1400" b="0">
                <a:solidFill>
                  <a:srgbClr val="9AADA3"/>
                </a:solidFill>
                <a:latin typeface="Public Sans"/>
              </a:defRPr>
            </a:pPr>
            <a:r>
              <a:t>BUDGET</a:t>
            </a:r>
          </a:p>
        </p:txBody>
      </p:sp>
      <p:sp>
        <p:nvSpPr>
          <p:cNvPr id="15" name="Rectangle 14"/>
          <p:cNvSpPr/>
          <p:nvPr/>
        </p:nvSpPr>
        <p:spPr>
          <a:xfrm>
            <a:off x="5669280" y="2578608"/>
            <a:ext cx="320040" cy="320040"/>
          </a:xfrm>
          <a:prstGeom prst="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2468880"/>
            <a:ext cx="3200400" cy="457200"/>
          </a:xfrm>
          <a:prstGeom prst="rect">
            <a:avLst/>
          </a:prstGeom>
          <a:noFill/>
        </p:spPr>
        <p:txBody>
          <a:bodyPr wrap="square">
            <a:spAutoFit/>
          </a:bodyPr>
          <a:lstStyle/>
          <a:p>
            <a:pPr algn="l">
              <a:spcAft>
                <a:spcPts val="600"/>
              </a:spcAft>
              <a:defRPr sz="1900" b="0">
                <a:solidFill>
                  <a:srgbClr val="F7F8F0"/>
                </a:solidFill>
                <a:latin typeface="Public Sans"/>
              </a:defRPr>
            </a:pPr>
            <a:r>
              <a:t>Infrastructure</a:t>
            </a:r>
          </a:p>
        </p:txBody>
      </p:sp>
      <p:sp>
        <p:nvSpPr>
          <p:cNvPr id="17" name="TextBox 16"/>
          <p:cNvSpPr txBox="1"/>
          <p:nvPr/>
        </p:nvSpPr>
        <p:spPr>
          <a:xfrm>
            <a:off x="9418320" y="2468880"/>
            <a:ext cx="1097280" cy="457200"/>
          </a:xfrm>
          <a:prstGeom prst="rect">
            <a:avLst/>
          </a:prstGeom>
          <a:noFill/>
        </p:spPr>
        <p:txBody>
          <a:bodyPr wrap="square">
            <a:spAutoFit/>
          </a:bodyPr>
          <a:lstStyle/>
          <a:p>
            <a:pPr algn="r">
              <a:spcAft>
                <a:spcPts val="600"/>
              </a:spcAft>
              <a:defRPr sz="1900" b="1">
                <a:solidFill>
                  <a:srgbClr val="F7F8F0"/>
                </a:solidFill>
                <a:latin typeface="Nohemi"/>
              </a:defRPr>
            </a:pPr>
            <a:r>
              <a:t>35%</a:t>
            </a:r>
          </a:p>
        </p:txBody>
      </p:sp>
      <p:sp>
        <p:nvSpPr>
          <p:cNvPr id="18" name="Rectangle 17"/>
          <p:cNvSpPr/>
          <p:nvPr/>
        </p:nvSpPr>
        <p:spPr>
          <a:xfrm>
            <a:off x="5669280" y="3236976"/>
            <a:ext cx="320040" cy="320040"/>
          </a:xfrm>
          <a:prstGeom prst="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72200" y="3127248"/>
            <a:ext cx="3200400" cy="457200"/>
          </a:xfrm>
          <a:prstGeom prst="rect">
            <a:avLst/>
          </a:prstGeom>
          <a:noFill/>
        </p:spPr>
        <p:txBody>
          <a:bodyPr wrap="square">
            <a:spAutoFit/>
          </a:bodyPr>
          <a:lstStyle/>
          <a:p>
            <a:pPr algn="l">
              <a:spcAft>
                <a:spcPts val="600"/>
              </a:spcAft>
              <a:defRPr sz="1900" b="0">
                <a:solidFill>
                  <a:srgbClr val="F7F8F0"/>
                </a:solidFill>
                <a:latin typeface="Public Sans"/>
              </a:defRPr>
            </a:pPr>
            <a:r>
              <a:t>AI Development</a:t>
            </a:r>
          </a:p>
        </p:txBody>
      </p:sp>
      <p:sp>
        <p:nvSpPr>
          <p:cNvPr id="20" name="TextBox 19"/>
          <p:cNvSpPr txBox="1"/>
          <p:nvPr/>
        </p:nvSpPr>
        <p:spPr>
          <a:xfrm>
            <a:off x="9418320" y="3127248"/>
            <a:ext cx="1097280" cy="457200"/>
          </a:xfrm>
          <a:prstGeom prst="rect">
            <a:avLst/>
          </a:prstGeom>
          <a:noFill/>
        </p:spPr>
        <p:txBody>
          <a:bodyPr wrap="square">
            <a:spAutoFit/>
          </a:bodyPr>
          <a:lstStyle/>
          <a:p>
            <a:pPr algn="r">
              <a:spcAft>
                <a:spcPts val="600"/>
              </a:spcAft>
              <a:defRPr sz="1900" b="1">
                <a:solidFill>
                  <a:srgbClr val="F7F8F0"/>
                </a:solidFill>
                <a:latin typeface="Nohemi"/>
              </a:defRPr>
            </a:pPr>
            <a:r>
              <a:t>25%</a:t>
            </a:r>
          </a:p>
        </p:txBody>
      </p:sp>
      <p:sp>
        <p:nvSpPr>
          <p:cNvPr id="21" name="Rectangle 20"/>
          <p:cNvSpPr/>
          <p:nvPr/>
        </p:nvSpPr>
        <p:spPr>
          <a:xfrm>
            <a:off x="5669280" y="3895344"/>
            <a:ext cx="320040" cy="320040"/>
          </a:xfrm>
          <a:prstGeom prst="rect">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72200" y="3785616"/>
            <a:ext cx="3200400" cy="457200"/>
          </a:xfrm>
          <a:prstGeom prst="rect">
            <a:avLst/>
          </a:prstGeom>
          <a:noFill/>
        </p:spPr>
        <p:txBody>
          <a:bodyPr wrap="square">
            <a:spAutoFit/>
          </a:bodyPr>
          <a:lstStyle/>
          <a:p>
            <a:pPr algn="l">
              <a:spcAft>
                <a:spcPts val="600"/>
              </a:spcAft>
              <a:defRPr sz="1900" b="0">
                <a:solidFill>
                  <a:srgbClr val="F7F8F0"/>
                </a:solidFill>
                <a:latin typeface="Public Sans"/>
              </a:defRPr>
            </a:pPr>
            <a:r>
              <a:t>Rural Access</a:t>
            </a:r>
          </a:p>
        </p:txBody>
      </p:sp>
      <p:sp>
        <p:nvSpPr>
          <p:cNvPr id="23" name="TextBox 22"/>
          <p:cNvSpPr txBox="1"/>
          <p:nvPr/>
        </p:nvSpPr>
        <p:spPr>
          <a:xfrm>
            <a:off x="9418320" y="3785616"/>
            <a:ext cx="1097280" cy="457200"/>
          </a:xfrm>
          <a:prstGeom prst="rect">
            <a:avLst/>
          </a:prstGeom>
          <a:noFill/>
        </p:spPr>
        <p:txBody>
          <a:bodyPr wrap="square">
            <a:spAutoFit/>
          </a:bodyPr>
          <a:lstStyle/>
          <a:p>
            <a:pPr algn="r">
              <a:spcAft>
                <a:spcPts val="600"/>
              </a:spcAft>
              <a:defRPr sz="1900" b="1">
                <a:solidFill>
                  <a:srgbClr val="F7F8F0"/>
                </a:solidFill>
                <a:latin typeface="Nohemi"/>
              </a:defRPr>
            </a:pPr>
            <a:r>
              <a:t>15%</a:t>
            </a:r>
          </a:p>
        </p:txBody>
      </p:sp>
      <p:sp>
        <p:nvSpPr>
          <p:cNvPr id="24" name="Rectangle 23"/>
          <p:cNvSpPr/>
          <p:nvPr/>
        </p:nvSpPr>
        <p:spPr>
          <a:xfrm>
            <a:off x="5669280" y="4553712"/>
            <a:ext cx="320040" cy="320040"/>
          </a:xfrm>
          <a:prstGeom prst="rect">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4443984"/>
            <a:ext cx="3200400" cy="457200"/>
          </a:xfrm>
          <a:prstGeom prst="rect">
            <a:avLst/>
          </a:prstGeom>
          <a:noFill/>
        </p:spPr>
        <p:txBody>
          <a:bodyPr wrap="square">
            <a:spAutoFit/>
          </a:bodyPr>
          <a:lstStyle/>
          <a:p>
            <a:pPr algn="l">
              <a:spcAft>
                <a:spcPts val="600"/>
              </a:spcAft>
              <a:defRPr sz="1900" b="0">
                <a:solidFill>
                  <a:srgbClr val="F7F8F0"/>
                </a:solidFill>
                <a:latin typeface="Public Sans"/>
              </a:defRPr>
            </a:pPr>
            <a:r>
              <a:t>Training</a:t>
            </a:r>
          </a:p>
        </p:txBody>
      </p:sp>
      <p:sp>
        <p:nvSpPr>
          <p:cNvPr id="26" name="TextBox 25"/>
          <p:cNvSpPr txBox="1"/>
          <p:nvPr/>
        </p:nvSpPr>
        <p:spPr>
          <a:xfrm>
            <a:off x="9418320" y="4443984"/>
            <a:ext cx="1097280" cy="457200"/>
          </a:xfrm>
          <a:prstGeom prst="rect">
            <a:avLst/>
          </a:prstGeom>
          <a:noFill/>
        </p:spPr>
        <p:txBody>
          <a:bodyPr wrap="square">
            <a:spAutoFit/>
          </a:bodyPr>
          <a:lstStyle/>
          <a:p>
            <a:pPr algn="r">
              <a:spcAft>
                <a:spcPts val="600"/>
              </a:spcAft>
              <a:defRPr sz="1900" b="1">
                <a:solidFill>
                  <a:srgbClr val="F7F8F0"/>
                </a:solidFill>
                <a:latin typeface="Nohemi"/>
              </a:defRPr>
            </a:pPr>
            <a:r>
              <a:t>15%</a:t>
            </a:r>
          </a:p>
        </p:txBody>
      </p:sp>
      <p:sp>
        <p:nvSpPr>
          <p:cNvPr id="27" name="Rectangle 26"/>
          <p:cNvSpPr/>
          <p:nvPr/>
        </p:nvSpPr>
        <p:spPr>
          <a:xfrm>
            <a:off x="5669280" y="5212080"/>
            <a:ext cx="320040" cy="320040"/>
          </a:xfrm>
          <a:prstGeom prst="rect">
            <a:avLst/>
          </a:prstGeom>
          <a:solidFill>
            <a:srgbClr val="3A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72200" y="5102352"/>
            <a:ext cx="3200400" cy="457200"/>
          </a:xfrm>
          <a:prstGeom prst="rect">
            <a:avLst/>
          </a:prstGeom>
          <a:noFill/>
        </p:spPr>
        <p:txBody>
          <a:bodyPr wrap="square">
            <a:spAutoFit/>
          </a:bodyPr>
          <a:lstStyle/>
          <a:p>
            <a:pPr algn="l">
              <a:spcAft>
                <a:spcPts val="600"/>
              </a:spcAft>
              <a:defRPr sz="1900" b="0">
                <a:solidFill>
                  <a:srgbClr val="F7F8F0"/>
                </a:solidFill>
                <a:latin typeface="Public Sans"/>
              </a:defRPr>
            </a:pPr>
            <a:r>
              <a:t>Security</a:t>
            </a:r>
          </a:p>
        </p:txBody>
      </p:sp>
      <p:sp>
        <p:nvSpPr>
          <p:cNvPr id="29" name="TextBox 28"/>
          <p:cNvSpPr txBox="1"/>
          <p:nvPr/>
        </p:nvSpPr>
        <p:spPr>
          <a:xfrm>
            <a:off x="9418320" y="5102352"/>
            <a:ext cx="1097280" cy="457200"/>
          </a:xfrm>
          <a:prstGeom prst="rect">
            <a:avLst/>
          </a:prstGeom>
          <a:noFill/>
        </p:spPr>
        <p:txBody>
          <a:bodyPr wrap="square">
            <a:spAutoFit/>
          </a:bodyPr>
          <a:lstStyle/>
          <a:p>
            <a:pPr algn="r">
              <a:spcAft>
                <a:spcPts val="600"/>
              </a:spcAft>
              <a:defRPr sz="1900" b="1">
                <a:solidFill>
                  <a:srgbClr val="F7F8F0"/>
                </a:solidFill>
                <a:latin typeface="Nohemi"/>
              </a:defRPr>
            </a:pPr>
            <a:r>
              <a:t>10%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16  ROADMAP</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2027 Quarterly Roadmap</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16</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cxnSp>
        <p:nvCxnSpPr>
          <p:cNvPr id="8" name="Connector 7"/>
          <p:cNvCxnSpPr/>
          <p:nvPr/>
        </p:nvCxnSpPr>
        <p:spPr>
          <a:xfrm>
            <a:off x="731520" y="2926080"/>
            <a:ext cx="10698480" cy="0"/>
          </a:xfrm>
          <a:prstGeom prst="line">
            <a:avLst/>
          </a:prstGeom>
          <a:ln w="25400">
            <a:solidFill>
              <a:srgbClr val="2A4A3E"/>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4400" y="3383280"/>
            <a:ext cx="2194560" cy="201168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3383280"/>
            <a:ext cx="2194560" cy="73152"/>
          </a:xfrm>
          <a:prstGeom prst="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901952" y="2816352"/>
            <a:ext cx="228600" cy="228600"/>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657600"/>
            <a:ext cx="1828800" cy="457200"/>
          </a:xfrm>
          <a:prstGeom prst="rect">
            <a:avLst/>
          </a:prstGeom>
          <a:noFill/>
        </p:spPr>
        <p:txBody>
          <a:bodyPr wrap="square">
            <a:spAutoFit/>
          </a:bodyPr>
          <a:lstStyle/>
          <a:p>
            <a:pPr algn="ctr">
              <a:spcAft>
                <a:spcPts val="600"/>
              </a:spcAft>
              <a:defRPr sz="2600" b="1">
                <a:solidFill>
                  <a:srgbClr val="A8E063"/>
                </a:solidFill>
                <a:latin typeface="Nohemi"/>
              </a:defRPr>
            </a:pPr>
            <a:r>
              <a:t>Q1</a:t>
            </a:r>
          </a:p>
        </p:txBody>
      </p:sp>
      <p:sp>
        <p:nvSpPr>
          <p:cNvPr id="13" name="TextBox 12"/>
          <p:cNvSpPr txBox="1"/>
          <p:nvPr/>
        </p:nvSpPr>
        <p:spPr>
          <a:xfrm>
            <a:off x="1097280" y="4160520"/>
            <a:ext cx="1828800" cy="914400"/>
          </a:xfrm>
          <a:prstGeom prst="rect">
            <a:avLst/>
          </a:prstGeom>
          <a:noFill/>
        </p:spPr>
        <p:txBody>
          <a:bodyPr wrap="square">
            <a:spAutoFit/>
          </a:bodyPr>
          <a:lstStyle/>
          <a:p>
            <a:pPr algn="ctr">
              <a:spcAft>
                <a:spcPts val="600"/>
              </a:spcAft>
              <a:defRPr sz="1700" b="0">
                <a:solidFill>
                  <a:srgbClr val="F7F8F0"/>
                </a:solidFill>
                <a:latin typeface="Public Sans"/>
              </a:defRPr>
            </a:pPr>
            <a:r>
              <a:t>Predictive</a:t>
            </a:r>
            <a:br/>
            <a:r>
              <a:t>services launch</a:t>
            </a:r>
          </a:p>
        </p:txBody>
      </p:sp>
      <p:sp>
        <p:nvSpPr>
          <p:cNvPr id="14" name="Rounded Rectangle 13"/>
          <p:cNvSpPr/>
          <p:nvPr/>
        </p:nvSpPr>
        <p:spPr>
          <a:xfrm>
            <a:off x="3657600" y="3383280"/>
            <a:ext cx="2194560" cy="201168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0" y="3383280"/>
            <a:ext cx="2194560" cy="73152"/>
          </a:xfrm>
          <a:prstGeom prst="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4645152" y="2816352"/>
            <a:ext cx="228600" cy="228600"/>
          </a:xfrm>
          <a:prstGeom prst="ellipse">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0" y="3657600"/>
            <a:ext cx="1828800" cy="457200"/>
          </a:xfrm>
          <a:prstGeom prst="rect">
            <a:avLst/>
          </a:prstGeom>
          <a:noFill/>
        </p:spPr>
        <p:txBody>
          <a:bodyPr wrap="square">
            <a:spAutoFit/>
          </a:bodyPr>
          <a:lstStyle/>
          <a:p>
            <a:pPr algn="ctr">
              <a:spcAft>
                <a:spcPts val="600"/>
              </a:spcAft>
              <a:defRPr sz="2600" b="1">
                <a:solidFill>
                  <a:srgbClr val="2D7D6B"/>
                </a:solidFill>
                <a:latin typeface="Nohemi"/>
              </a:defRPr>
            </a:pPr>
            <a:r>
              <a:t>Q2</a:t>
            </a:r>
          </a:p>
        </p:txBody>
      </p:sp>
      <p:sp>
        <p:nvSpPr>
          <p:cNvPr id="18" name="TextBox 17"/>
          <p:cNvSpPr txBox="1"/>
          <p:nvPr/>
        </p:nvSpPr>
        <p:spPr>
          <a:xfrm>
            <a:off x="3840480" y="4160520"/>
            <a:ext cx="1828800" cy="914400"/>
          </a:xfrm>
          <a:prstGeom prst="rect">
            <a:avLst/>
          </a:prstGeom>
          <a:noFill/>
        </p:spPr>
        <p:txBody>
          <a:bodyPr wrap="square">
            <a:spAutoFit/>
          </a:bodyPr>
          <a:lstStyle/>
          <a:p>
            <a:pPr algn="ctr">
              <a:spcAft>
                <a:spcPts val="600"/>
              </a:spcAft>
              <a:defRPr sz="1700" b="0">
                <a:solidFill>
                  <a:srgbClr val="F7F8F0"/>
                </a:solidFill>
                <a:latin typeface="Public Sans"/>
              </a:defRPr>
            </a:pPr>
            <a:r>
              <a:t>Legacy integration</a:t>
            </a:r>
            <a:br/>
            <a:r>
              <a:t>complete</a:t>
            </a:r>
          </a:p>
        </p:txBody>
      </p:sp>
      <p:sp>
        <p:nvSpPr>
          <p:cNvPr id="19" name="Rounded Rectangle 18"/>
          <p:cNvSpPr/>
          <p:nvPr/>
        </p:nvSpPr>
        <p:spPr>
          <a:xfrm>
            <a:off x="6400800" y="3383280"/>
            <a:ext cx="2194560" cy="201168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0" y="3383280"/>
            <a:ext cx="2194560" cy="73152"/>
          </a:xfrm>
          <a:prstGeom prst="rect">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388352" y="2816352"/>
            <a:ext cx="228600" cy="228600"/>
          </a:xfrm>
          <a:prstGeom prst="ellipse">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0" y="3657600"/>
            <a:ext cx="1828800" cy="457200"/>
          </a:xfrm>
          <a:prstGeom prst="rect">
            <a:avLst/>
          </a:prstGeom>
          <a:noFill/>
        </p:spPr>
        <p:txBody>
          <a:bodyPr wrap="square">
            <a:spAutoFit/>
          </a:bodyPr>
          <a:lstStyle/>
          <a:p>
            <a:pPr algn="ctr">
              <a:spcAft>
                <a:spcPts val="600"/>
              </a:spcAft>
              <a:defRPr sz="2600" b="1">
                <a:solidFill>
                  <a:srgbClr val="D4A74A"/>
                </a:solidFill>
                <a:latin typeface="Nohemi"/>
              </a:defRPr>
            </a:pPr>
            <a:r>
              <a:t>Q3</a:t>
            </a:r>
          </a:p>
        </p:txBody>
      </p:sp>
      <p:sp>
        <p:nvSpPr>
          <p:cNvPr id="23" name="TextBox 22"/>
          <p:cNvSpPr txBox="1"/>
          <p:nvPr/>
        </p:nvSpPr>
        <p:spPr>
          <a:xfrm>
            <a:off x="6583680" y="4160520"/>
            <a:ext cx="1828800" cy="914400"/>
          </a:xfrm>
          <a:prstGeom prst="rect">
            <a:avLst/>
          </a:prstGeom>
          <a:noFill/>
        </p:spPr>
        <p:txBody>
          <a:bodyPr wrap="square">
            <a:spAutoFit/>
          </a:bodyPr>
          <a:lstStyle/>
          <a:p>
            <a:pPr algn="ctr">
              <a:spcAft>
                <a:spcPts val="600"/>
              </a:spcAft>
              <a:defRPr sz="1700" b="0">
                <a:solidFill>
                  <a:srgbClr val="F7F8F0"/>
                </a:solidFill>
                <a:latin typeface="Public Sans"/>
              </a:defRPr>
            </a:pPr>
            <a:r>
              <a:t>200 rural</a:t>
            </a:r>
            <a:br/>
            <a:r>
              <a:t>mobile units</a:t>
            </a:r>
          </a:p>
        </p:txBody>
      </p:sp>
      <p:sp>
        <p:nvSpPr>
          <p:cNvPr id="24" name="Rounded Rectangle 23"/>
          <p:cNvSpPr/>
          <p:nvPr/>
        </p:nvSpPr>
        <p:spPr>
          <a:xfrm>
            <a:off x="9144000" y="3383280"/>
            <a:ext cx="2194560" cy="2011680"/>
          </a:xfrm>
          <a:prstGeom prst="roundRect">
            <a:avLst/>
          </a:prstGeom>
          <a:solidFill>
            <a:srgbClr val="162E24"/>
          </a:solid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0" y="3383280"/>
            <a:ext cx="2194560" cy="73152"/>
          </a:xfrm>
          <a:prstGeom prst="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131552" y="2816352"/>
            <a:ext cx="228600" cy="228600"/>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26880" y="3657600"/>
            <a:ext cx="1828800" cy="457200"/>
          </a:xfrm>
          <a:prstGeom prst="rect">
            <a:avLst/>
          </a:prstGeom>
          <a:noFill/>
        </p:spPr>
        <p:txBody>
          <a:bodyPr wrap="square">
            <a:spAutoFit/>
          </a:bodyPr>
          <a:lstStyle/>
          <a:p>
            <a:pPr algn="ctr">
              <a:spcAft>
                <a:spcPts val="600"/>
              </a:spcAft>
              <a:defRPr sz="2600" b="1">
                <a:solidFill>
                  <a:srgbClr val="A8E063"/>
                </a:solidFill>
                <a:latin typeface="Nohemi"/>
              </a:defRPr>
            </a:pPr>
            <a:r>
              <a:t>Q4</a:t>
            </a:r>
          </a:p>
        </p:txBody>
      </p:sp>
      <p:sp>
        <p:nvSpPr>
          <p:cNvPr id="28" name="TextBox 27"/>
          <p:cNvSpPr txBox="1"/>
          <p:nvPr/>
        </p:nvSpPr>
        <p:spPr>
          <a:xfrm>
            <a:off x="9326880" y="4160520"/>
            <a:ext cx="1828800" cy="914400"/>
          </a:xfrm>
          <a:prstGeom prst="rect">
            <a:avLst/>
          </a:prstGeom>
          <a:noFill/>
        </p:spPr>
        <p:txBody>
          <a:bodyPr wrap="square">
            <a:spAutoFit/>
          </a:bodyPr>
          <a:lstStyle/>
          <a:p>
            <a:pPr algn="ctr">
              <a:spcAft>
                <a:spcPts val="600"/>
              </a:spcAft>
              <a:defRPr sz="1700" b="0">
                <a:solidFill>
                  <a:srgbClr val="F7F8F0"/>
                </a:solidFill>
                <a:latin typeface="Public Sans"/>
              </a:defRPr>
            </a:pPr>
            <a:r>
              <a:t>5M citizens</a:t>
            </a:r>
            <a:br/>
            <a:r>
              <a:t>90% digitized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457200"/>
          </a:xfrm>
          <a:prstGeom prst="rect">
            <a:avLst/>
          </a:prstGeom>
          <a:noFill/>
        </p:spPr>
        <p:txBody>
          <a:bodyPr wrap="square">
            <a:spAutoFit/>
          </a:bodyPr>
          <a:lstStyle/>
          <a:p>
            <a:pPr algn="l">
              <a:spcAft>
                <a:spcPts val="600"/>
              </a:spcAft>
              <a:defRPr sz="1500" b="1">
                <a:solidFill>
                  <a:srgbClr val="A8E063"/>
                </a:solidFill>
                <a:latin typeface="Nohemi"/>
              </a:defRPr>
            </a:pPr>
            <a:r>
              <a:t>17  BENCHMARKS</a:t>
            </a:r>
          </a:p>
        </p:txBody>
      </p:sp>
      <p:sp>
        <p:nvSpPr>
          <p:cNvPr id="4" name="TextBox 3"/>
          <p:cNvSpPr txBox="1"/>
          <p:nvPr/>
        </p:nvSpPr>
        <p:spPr>
          <a:xfrm>
            <a:off x="731520" y="822960"/>
            <a:ext cx="10698480" cy="914400"/>
          </a:xfrm>
          <a:prstGeom prst="rect">
            <a:avLst/>
          </a:prstGeom>
          <a:noFill/>
        </p:spPr>
        <p:txBody>
          <a:bodyPr wrap="square">
            <a:spAutoFit/>
          </a:bodyPr>
          <a:lstStyle/>
          <a:p>
            <a:pPr algn="l">
              <a:spcAft>
                <a:spcPts val="600"/>
              </a:spcAft>
              <a:defRPr sz="4000" b="1">
                <a:solidFill>
                  <a:srgbClr val="F7F8F0"/>
                </a:solidFill>
                <a:latin typeface="Nohemi"/>
              </a:defRPr>
            </a:pPr>
            <a:r>
              <a:t>Speed vs Satisfaction by Service</a:t>
            </a:r>
          </a:p>
        </p:txBody>
      </p:sp>
      <p:cxnSp>
        <p:nvCxnSpPr>
          <p:cNvPr id="5" name="Connector 4"/>
          <p:cNvCxnSpPr/>
          <p:nvPr/>
        </p:nvCxnSpPr>
        <p:spPr>
          <a:xfrm>
            <a:off x="731520" y="1874519"/>
            <a:ext cx="10698480" cy="0"/>
          </a:xfrm>
          <a:prstGeom prst="line">
            <a:avLst/>
          </a:prstGeom>
          <a:ln w="12700">
            <a:solidFill>
              <a:srgbClr val="2A4A3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6263640"/>
            <a:ext cx="5486400" cy="365760"/>
          </a:xfrm>
          <a:prstGeom prst="rect">
            <a:avLst/>
          </a:prstGeom>
          <a:noFill/>
        </p:spPr>
        <p:txBody>
          <a:bodyPr wrap="square">
            <a:spAutoFit/>
          </a:bodyPr>
          <a:lstStyle/>
          <a:p>
            <a:pPr algn="l">
              <a:spcAft>
                <a:spcPts val="600"/>
              </a:spcAft>
              <a:defRPr sz="1200" b="0">
                <a:solidFill>
                  <a:srgbClr val="9AADA3"/>
                </a:solidFill>
                <a:latin typeface="Public Sans"/>
              </a:defRPr>
            </a:pPr>
            <a:r>
              <a:t>17</a:t>
            </a:r>
          </a:p>
        </p:txBody>
      </p:sp>
      <p:sp>
        <p:nvSpPr>
          <p:cNvPr id="7" name="TextBox 6"/>
          <p:cNvSpPr txBox="1"/>
          <p:nvPr/>
        </p:nvSpPr>
        <p:spPr>
          <a:xfrm>
            <a:off x="6858000" y="6263640"/>
            <a:ext cx="4572000" cy="365760"/>
          </a:xfrm>
          <a:prstGeom prst="rect">
            <a:avLst/>
          </a:prstGeom>
          <a:noFill/>
        </p:spPr>
        <p:txBody>
          <a:bodyPr wrap="square">
            <a:spAutoFit/>
          </a:bodyPr>
          <a:lstStyle/>
          <a:p>
            <a:pPr algn="r">
              <a:spcAft>
                <a:spcPts val="600"/>
              </a:spcAft>
              <a:defRPr sz="1200" b="0">
                <a:solidFill>
                  <a:srgbClr val="9AADA3"/>
                </a:solidFill>
                <a:latin typeface="Public Sans"/>
              </a:defRPr>
            </a:pPr>
            <a:r>
              <a:t>MCIT  |  Annual Digital Report 2026</a:t>
            </a:r>
          </a:p>
        </p:txBody>
      </p:sp>
      <p:sp>
        <p:nvSpPr>
          <p:cNvPr id="8" name="Rounded Rectangle 7"/>
          <p:cNvSpPr/>
          <p:nvPr/>
        </p:nvSpPr>
        <p:spPr>
          <a:xfrm>
            <a:off x="731520" y="2286000"/>
            <a:ext cx="6858000" cy="3566160"/>
          </a:xfrm>
          <a:prstGeom prst="roundRect">
            <a:avLst/>
          </a:prstGeom>
          <a:solidFill>
            <a:srgbClr val="F4F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463040" y="4864608"/>
            <a:ext cx="5669279"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22960" y="4700016"/>
            <a:ext cx="548640" cy="329184"/>
          </a:xfrm>
          <a:prstGeom prst="rect">
            <a:avLst/>
          </a:prstGeom>
          <a:noFill/>
        </p:spPr>
        <p:txBody>
          <a:bodyPr wrap="square">
            <a:spAutoFit/>
          </a:bodyPr>
          <a:lstStyle/>
          <a:p>
            <a:pPr algn="r">
              <a:spcAft>
                <a:spcPts val="600"/>
              </a:spcAft>
              <a:defRPr sz="1200" b="0">
                <a:solidFill>
                  <a:srgbClr val="5E6B7A"/>
                </a:solidFill>
                <a:latin typeface="Public Sans"/>
              </a:defRPr>
            </a:pPr>
            <a:r>
              <a:t>80</a:t>
            </a:r>
          </a:p>
        </p:txBody>
      </p:sp>
      <p:cxnSp>
        <p:nvCxnSpPr>
          <p:cNvPr id="11" name="Connector 10"/>
          <p:cNvCxnSpPr/>
          <p:nvPr/>
        </p:nvCxnSpPr>
        <p:spPr>
          <a:xfrm>
            <a:off x="1463040" y="4334256"/>
            <a:ext cx="5669279"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22960" y="4169664"/>
            <a:ext cx="548640" cy="329184"/>
          </a:xfrm>
          <a:prstGeom prst="rect">
            <a:avLst/>
          </a:prstGeom>
          <a:noFill/>
        </p:spPr>
        <p:txBody>
          <a:bodyPr wrap="square">
            <a:spAutoFit/>
          </a:bodyPr>
          <a:lstStyle/>
          <a:p>
            <a:pPr algn="r">
              <a:spcAft>
                <a:spcPts val="600"/>
              </a:spcAft>
              <a:defRPr sz="1200" b="0">
                <a:solidFill>
                  <a:srgbClr val="5E6B7A"/>
                </a:solidFill>
                <a:latin typeface="Public Sans"/>
              </a:defRPr>
            </a:pPr>
            <a:r>
              <a:t>85</a:t>
            </a:r>
          </a:p>
        </p:txBody>
      </p:sp>
      <p:cxnSp>
        <p:nvCxnSpPr>
          <p:cNvPr id="13" name="Connector 12"/>
          <p:cNvCxnSpPr/>
          <p:nvPr/>
        </p:nvCxnSpPr>
        <p:spPr>
          <a:xfrm>
            <a:off x="1463040" y="3803904"/>
            <a:ext cx="5669279"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22960" y="3639312"/>
            <a:ext cx="548640" cy="329184"/>
          </a:xfrm>
          <a:prstGeom prst="rect">
            <a:avLst/>
          </a:prstGeom>
          <a:noFill/>
        </p:spPr>
        <p:txBody>
          <a:bodyPr wrap="square">
            <a:spAutoFit/>
          </a:bodyPr>
          <a:lstStyle/>
          <a:p>
            <a:pPr algn="r">
              <a:spcAft>
                <a:spcPts val="600"/>
              </a:spcAft>
              <a:defRPr sz="1200" b="0">
                <a:solidFill>
                  <a:srgbClr val="5E6B7A"/>
                </a:solidFill>
                <a:latin typeface="Public Sans"/>
              </a:defRPr>
            </a:pPr>
            <a:r>
              <a:t>90</a:t>
            </a:r>
          </a:p>
        </p:txBody>
      </p:sp>
      <p:cxnSp>
        <p:nvCxnSpPr>
          <p:cNvPr id="15" name="Connector 14"/>
          <p:cNvCxnSpPr/>
          <p:nvPr/>
        </p:nvCxnSpPr>
        <p:spPr>
          <a:xfrm>
            <a:off x="1463040" y="3273552"/>
            <a:ext cx="5669279"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22960" y="3108960"/>
            <a:ext cx="548640" cy="329184"/>
          </a:xfrm>
          <a:prstGeom prst="rect">
            <a:avLst/>
          </a:prstGeom>
          <a:noFill/>
        </p:spPr>
        <p:txBody>
          <a:bodyPr wrap="square">
            <a:spAutoFit/>
          </a:bodyPr>
          <a:lstStyle/>
          <a:p>
            <a:pPr algn="r">
              <a:spcAft>
                <a:spcPts val="600"/>
              </a:spcAft>
              <a:defRPr sz="1200" b="0">
                <a:solidFill>
                  <a:srgbClr val="5E6B7A"/>
                </a:solidFill>
                <a:latin typeface="Public Sans"/>
              </a:defRPr>
            </a:pPr>
            <a:r>
              <a:t>95</a:t>
            </a:r>
          </a:p>
        </p:txBody>
      </p:sp>
      <p:cxnSp>
        <p:nvCxnSpPr>
          <p:cNvPr id="17" name="Connector 16"/>
          <p:cNvCxnSpPr/>
          <p:nvPr/>
        </p:nvCxnSpPr>
        <p:spPr>
          <a:xfrm>
            <a:off x="1463040" y="2743200"/>
            <a:ext cx="5669279" cy="0"/>
          </a:xfrm>
          <a:prstGeom prst="line">
            <a:avLst/>
          </a:prstGeom>
          <a:ln w="12700">
            <a:solidFill>
              <a:srgbClr val="DDE2E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22960" y="2578608"/>
            <a:ext cx="548640" cy="329184"/>
          </a:xfrm>
          <a:prstGeom prst="rect">
            <a:avLst/>
          </a:prstGeom>
          <a:noFill/>
        </p:spPr>
        <p:txBody>
          <a:bodyPr wrap="square">
            <a:spAutoFit/>
          </a:bodyPr>
          <a:lstStyle/>
          <a:p>
            <a:pPr algn="r">
              <a:spcAft>
                <a:spcPts val="600"/>
              </a:spcAft>
              <a:defRPr sz="1200" b="0">
                <a:solidFill>
                  <a:srgbClr val="5E6B7A"/>
                </a:solidFill>
                <a:latin typeface="Public Sans"/>
              </a:defRPr>
            </a:pPr>
            <a:r>
              <a:t>100</a:t>
            </a:r>
          </a:p>
        </p:txBody>
      </p:sp>
      <p:sp>
        <p:nvSpPr>
          <p:cNvPr id="19" name="TextBox 18"/>
          <p:cNvSpPr txBox="1"/>
          <p:nvPr/>
        </p:nvSpPr>
        <p:spPr>
          <a:xfrm>
            <a:off x="1188720" y="5449824"/>
            <a:ext cx="548640" cy="329184"/>
          </a:xfrm>
          <a:prstGeom prst="rect">
            <a:avLst/>
          </a:prstGeom>
          <a:noFill/>
        </p:spPr>
        <p:txBody>
          <a:bodyPr wrap="square">
            <a:spAutoFit/>
          </a:bodyPr>
          <a:lstStyle/>
          <a:p>
            <a:pPr algn="ctr">
              <a:spcAft>
                <a:spcPts val="600"/>
              </a:spcAft>
              <a:defRPr sz="1200" b="0">
                <a:solidFill>
                  <a:srgbClr val="5E6B7A"/>
                </a:solidFill>
                <a:latin typeface="Public Sans"/>
              </a:defRPr>
            </a:pPr>
            <a:r>
              <a:t>0s</a:t>
            </a:r>
          </a:p>
        </p:txBody>
      </p:sp>
      <p:sp>
        <p:nvSpPr>
          <p:cNvPr id="20" name="TextBox 19"/>
          <p:cNvSpPr txBox="1"/>
          <p:nvPr/>
        </p:nvSpPr>
        <p:spPr>
          <a:xfrm>
            <a:off x="2322576" y="5449824"/>
            <a:ext cx="548640" cy="329184"/>
          </a:xfrm>
          <a:prstGeom prst="rect">
            <a:avLst/>
          </a:prstGeom>
          <a:noFill/>
        </p:spPr>
        <p:txBody>
          <a:bodyPr wrap="square">
            <a:spAutoFit/>
          </a:bodyPr>
          <a:lstStyle/>
          <a:p>
            <a:pPr algn="ctr">
              <a:spcAft>
                <a:spcPts val="600"/>
              </a:spcAft>
              <a:defRPr sz="1200" b="0">
                <a:solidFill>
                  <a:srgbClr val="5E6B7A"/>
                </a:solidFill>
                <a:latin typeface="Public Sans"/>
              </a:defRPr>
            </a:pPr>
            <a:r>
              <a:t>2s</a:t>
            </a:r>
          </a:p>
        </p:txBody>
      </p:sp>
      <p:sp>
        <p:nvSpPr>
          <p:cNvPr id="21" name="TextBox 20"/>
          <p:cNvSpPr txBox="1"/>
          <p:nvPr/>
        </p:nvSpPr>
        <p:spPr>
          <a:xfrm>
            <a:off x="3456432" y="5449824"/>
            <a:ext cx="548640" cy="329184"/>
          </a:xfrm>
          <a:prstGeom prst="rect">
            <a:avLst/>
          </a:prstGeom>
          <a:noFill/>
        </p:spPr>
        <p:txBody>
          <a:bodyPr wrap="square">
            <a:spAutoFit/>
          </a:bodyPr>
          <a:lstStyle/>
          <a:p>
            <a:pPr algn="ctr">
              <a:spcAft>
                <a:spcPts val="600"/>
              </a:spcAft>
              <a:defRPr sz="1200" b="0">
                <a:solidFill>
                  <a:srgbClr val="5E6B7A"/>
                </a:solidFill>
                <a:latin typeface="Public Sans"/>
              </a:defRPr>
            </a:pPr>
            <a:r>
              <a:t>4s</a:t>
            </a:r>
          </a:p>
        </p:txBody>
      </p:sp>
      <p:sp>
        <p:nvSpPr>
          <p:cNvPr id="22" name="TextBox 21"/>
          <p:cNvSpPr txBox="1"/>
          <p:nvPr/>
        </p:nvSpPr>
        <p:spPr>
          <a:xfrm>
            <a:off x="4590288" y="5449824"/>
            <a:ext cx="548640" cy="329184"/>
          </a:xfrm>
          <a:prstGeom prst="rect">
            <a:avLst/>
          </a:prstGeom>
          <a:noFill/>
        </p:spPr>
        <p:txBody>
          <a:bodyPr wrap="square">
            <a:spAutoFit/>
          </a:bodyPr>
          <a:lstStyle/>
          <a:p>
            <a:pPr algn="ctr">
              <a:spcAft>
                <a:spcPts val="600"/>
              </a:spcAft>
              <a:defRPr sz="1200" b="0">
                <a:solidFill>
                  <a:srgbClr val="5E6B7A"/>
                </a:solidFill>
                <a:latin typeface="Public Sans"/>
              </a:defRPr>
            </a:pPr>
            <a:r>
              <a:t>6s</a:t>
            </a:r>
          </a:p>
        </p:txBody>
      </p:sp>
      <p:sp>
        <p:nvSpPr>
          <p:cNvPr id="23" name="TextBox 22"/>
          <p:cNvSpPr txBox="1"/>
          <p:nvPr/>
        </p:nvSpPr>
        <p:spPr>
          <a:xfrm>
            <a:off x="5724144" y="5449824"/>
            <a:ext cx="548640" cy="329184"/>
          </a:xfrm>
          <a:prstGeom prst="rect">
            <a:avLst/>
          </a:prstGeom>
          <a:noFill/>
        </p:spPr>
        <p:txBody>
          <a:bodyPr wrap="square">
            <a:spAutoFit/>
          </a:bodyPr>
          <a:lstStyle/>
          <a:p>
            <a:pPr algn="ctr">
              <a:spcAft>
                <a:spcPts val="600"/>
              </a:spcAft>
              <a:defRPr sz="1200" b="0">
                <a:solidFill>
                  <a:srgbClr val="5E6B7A"/>
                </a:solidFill>
                <a:latin typeface="Public Sans"/>
              </a:defRPr>
            </a:pPr>
            <a:r>
              <a:t>8s</a:t>
            </a:r>
          </a:p>
        </p:txBody>
      </p:sp>
      <p:sp>
        <p:nvSpPr>
          <p:cNvPr id="24" name="TextBox 23"/>
          <p:cNvSpPr txBox="1"/>
          <p:nvPr/>
        </p:nvSpPr>
        <p:spPr>
          <a:xfrm>
            <a:off x="6857999" y="5449824"/>
            <a:ext cx="548640" cy="329184"/>
          </a:xfrm>
          <a:prstGeom prst="rect">
            <a:avLst/>
          </a:prstGeom>
          <a:noFill/>
        </p:spPr>
        <p:txBody>
          <a:bodyPr wrap="square">
            <a:spAutoFit/>
          </a:bodyPr>
          <a:lstStyle/>
          <a:p>
            <a:pPr algn="ctr">
              <a:spcAft>
                <a:spcPts val="600"/>
              </a:spcAft>
              <a:defRPr sz="1200" b="0">
                <a:solidFill>
                  <a:srgbClr val="5E6B7A"/>
                </a:solidFill>
                <a:latin typeface="Public Sans"/>
              </a:defRPr>
            </a:pPr>
            <a:r>
              <a:t>10s</a:t>
            </a:r>
          </a:p>
        </p:txBody>
      </p:sp>
      <p:sp>
        <p:nvSpPr>
          <p:cNvPr id="25" name="Oval 24"/>
          <p:cNvSpPr/>
          <p:nvPr/>
        </p:nvSpPr>
        <p:spPr>
          <a:xfrm>
            <a:off x="3697833" y="3551529"/>
            <a:ext cx="292608" cy="292608"/>
          </a:xfrm>
          <a:prstGeom prst="ellipse">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86937" y="3862425"/>
            <a:ext cx="914400" cy="274320"/>
          </a:xfrm>
          <a:prstGeom prst="rect">
            <a:avLst/>
          </a:prstGeom>
          <a:noFill/>
        </p:spPr>
        <p:txBody>
          <a:bodyPr wrap="square">
            <a:spAutoFit/>
          </a:bodyPr>
          <a:lstStyle/>
          <a:p>
            <a:pPr algn="ctr">
              <a:spcAft>
                <a:spcPts val="600"/>
              </a:spcAft>
              <a:defRPr sz="1200" b="1">
                <a:solidFill>
                  <a:srgbClr val="141F1A"/>
                </a:solidFill>
                <a:latin typeface="Public Sans"/>
              </a:defRPr>
            </a:pPr>
            <a:r>
              <a:t>ID</a:t>
            </a:r>
          </a:p>
        </p:txBody>
      </p:sp>
      <p:sp>
        <p:nvSpPr>
          <p:cNvPr id="27" name="Oval 26"/>
          <p:cNvSpPr/>
          <p:nvPr/>
        </p:nvSpPr>
        <p:spPr>
          <a:xfrm>
            <a:off x="4802428" y="4003243"/>
            <a:ext cx="237744" cy="237744"/>
          </a:xfrm>
          <a:prstGeom prst="ellipse">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64100" y="4259275"/>
            <a:ext cx="914400" cy="274320"/>
          </a:xfrm>
          <a:prstGeom prst="rect">
            <a:avLst/>
          </a:prstGeom>
          <a:noFill/>
        </p:spPr>
        <p:txBody>
          <a:bodyPr wrap="square">
            <a:spAutoFit/>
          </a:bodyPr>
          <a:lstStyle/>
          <a:p>
            <a:pPr algn="ctr">
              <a:spcAft>
                <a:spcPts val="600"/>
              </a:spcAft>
              <a:defRPr sz="1200" b="1">
                <a:solidFill>
                  <a:srgbClr val="141F1A"/>
                </a:solidFill>
                <a:latin typeface="Public Sans"/>
              </a:defRPr>
            </a:pPr>
            <a:r>
              <a:t>Pay</a:t>
            </a:r>
          </a:p>
        </p:txBody>
      </p:sp>
      <p:sp>
        <p:nvSpPr>
          <p:cNvPr id="29" name="Oval 28"/>
          <p:cNvSpPr/>
          <p:nvPr/>
        </p:nvSpPr>
        <p:spPr>
          <a:xfrm>
            <a:off x="3489350" y="3357676"/>
            <a:ext cx="256032" cy="256032"/>
          </a:xfrm>
          <a:prstGeom prst="ellipse">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60166" y="3631996"/>
            <a:ext cx="914400" cy="274320"/>
          </a:xfrm>
          <a:prstGeom prst="rect">
            <a:avLst/>
          </a:prstGeom>
          <a:noFill/>
        </p:spPr>
        <p:txBody>
          <a:bodyPr wrap="square">
            <a:spAutoFit/>
          </a:bodyPr>
          <a:lstStyle/>
          <a:p>
            <a:pPr algn="ctr">
              <a:spcAft>
                <a:spcPts val="600"/>
              </a:spcAft>
              <a:defRPr sz="1200" b="1">
                <a:solidFill>
                  <a:srgbClr val="141F1A"/>
                </a:solidFill>
                <a:latin typeface="Public Sans"/>
              </a:defRPr>
            </a:pPr>
            <a:r>
              <a:t>Health</a:t>
            </a:r>
          </a:p>
        </p:txBody>
      </p:sp>
      <p:sp>
        <p:nvSpPr>
          <p:cNvPr id="31" name="Oval 30"/>
          <p:cNvSpPr/>
          <p:nvPr/>
        </p:nvSpPr>
        <p:spPr>
          <a:xfrm>
            <a:off x="6117336" y="4487875"/>
            <a:ext cx="329184" cy="329184"/>
          </a:xfrm>
          <a:prstGeom prst="ellipse">
            <a:avLst/>
          </a:prstGeom>
          <a:solidFill>
            <a:srgbClr val="D4A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24727" y="4835347"/>
            <a:ext cx="914400" cy="274320"/>
          </a:xfrm>
          <a:prstGeom prst="rect">
            <a:avLst/>
          </a:prstGeom>
          <a:noFill/>
        </p:spPr>
        <p:txBody>
          <a:bodyPr wrap="square">
            <a:spAutoFit/>
          </a:bodyPr>
          <a:lstStyle/>
          <a:p>
            <a:pPr algn="ctr">
              <a:spcAft>
                <a:spcPts val="600"/>
              </a:spcAft>
              <a:defRPr sz="1200" b="1">
                <a:solidFill>
                  <a:srgbClr val="141F1A"/>
                </a:solidFill>
                <a:latin typeface="Public Sans"/>
              </a:defRPr>
            </a:pPr>
            <a:r>
              <a:t>Tax</a:t>
            </a:r>
          </a:p>
        </p:txBody>
      </p:sp>
      <p:sp>
        <p:nvSpPr>
          <p:cNvPr id="33" name="Oval 32"/>
          <p:cNvSpPr/>
          <p:nvPr/>
        </p:nvSpPr>
        <p:spPr>
          <a:xfrm>
            <a:off x="4301337" y="3800246"/>
            <a:ext cx="219456" cy="219456"/>
          </a:xfrm>
          <a:prstGeom prst="ellipse">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953865" y="4037990"/>
            <a:ext cx="914400" cy="274320"/>
          </a:xfrm>
          <a:prstGeom prst="rect">
            <a:avLst/>
          </a:prstGeom>
          <a:noFill/>
        </p:spPr>
        <p:txBody>
          <a:bodyPr wrap="square">
            <a:spAutoFit/>
          </a:bodyPr>
          <a:lstStyle/>
          <a:p>
            <a:pPr algn="ctr">
              <a:spcAft>
                <a:spcPts val="600"/>
              </a:spcAft>
              <a:defRPr sz="1200" b="1">
                <a:solidFill>
                  <a:srgbClr val="141F1A"/>
                </a:solidFill>
                <a:latin typeface="Public Sans"/>
              </a:defRPr>
            </a:pPr>
            <a:r>
              <a:t>License</a:t>
            </a:r>
          </a:p>
        </p:txBody>
      </p:sp>
      <p:sp>
        <p:nvSpPr>
          <p:cNvPr id="35" name="Oval 34"/>
          <p:cNvSpPr/>
          <p:nvPr/>
        </p:nvSpPr>
        <p:spPr>
          <a:xfrm>
            <a:off x="5501030" y="4339742"/>
            <a:ext cx="201168" cy="201168"/>
          </a:xfrm>
          <a:prstGeom prst="ellipse">
            <a:avLst/>
          </a:prstGeom>
          <a:solidFill>
            <a:srgbClr val="5E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44414" y="4559198"/>
            <a:ext cx="914400" cy="274320"/>
          </a:xfrm>
          <a:prstGeom prst="rect">
            <a:avLst/>
          </a:prstGeom>
          <a:noFill/>
        </p:spPr>
        <p:txBody>
          <a:bodyPr wrap="square">
            <a:spAutoFit/>
          </a:bodyPr>
          <a:lstStyle/>
          <a:p>
            <a:pPr algn="ctr">
              <a:spcAft>
                <a:spcPts val="600"/>
              </a:spcAft>
              <a:defRPr sz="1200" b="1">
                <a:solidFill>
                  <a:srgbClr val="141F1A"/>
                </a:solidFill>
                <a:latin typeface="Public Sans"/>
              </a:defRPr>
            </a:pPr>
            <a:r>
              <a:t>Permit</a:t>
            </a:r>
          </a:p>
        </p:txBody>
      </p:sp>
      <p:sp>
        <p:nvSpPr>
          <p:cNvPr id="37" name="TextBox 36"/>
          <p:cNvSpPr txBox="1"/>
          <p:nvPr/>
        </p:nvSpPr>
        <p:spPr>
          <a:xfrm>
            <a:off x="8046720" y="2286000"/>
            <a:ext cx="3383280" cy="457200"/>
          </a:xfrm>
          <a:prstGeom prst="rect">
            <a:avLst/>
          </a:prstGeom>
          <a:noFill/>
        </p:spPr>
        <p:txBody>
          <a:bodyPr wrap="square">
            <a:spAutoFit/>
          </a:bodyPr>
          <a:lstStyle/>
          <a:p>
            <a:pPr algn="l">
              <a:spcAft>
                <a:spcPts val="600"/>
              </a:spcAft>
              <a:defRPr sz="1500" b="0">
                <a:solidFill>
                  <a:srgbClr val="9AADA3"/>
                </a:solidFill>
                <a:latin typeface="Public Sans"/>
              </a:defRPr>
            </a:pPr>
            <a:r>
              <a:t>Bubble size = transaction volume</a:t>
            </a:r>
          </a:p>
        </p:txBody>
      </p:sp>
      <p:sp>
        <p:nvSpPr>
          <p:cNvPr id="38" name="TextBox 37"/>
          <p:cNvSpPr txBox="1"/>
          <p:nvPr/>
        </p:nvSpPr>
        <p:spPr>
          <a:xfrm>
            <a:off x="8046720" y="2926080"/>
            <a:ext cx="3383280" cy="2286000"/>
          </a:xfrm>
          <a:prstGeom prst="rect">
            <a:avLst/>
          </a:prstGeom>
          <a:noFill/>
        </p:spPr>
        <p:txBody>
          <a:bodyPr wrap="square">
            <a:spAutoFit/>
          </a:bodyPr>
          <a:lstStyle/>
          <a:p>
            <a:pPr algn="l">
              <a:spcAft>
                <a:spcPts val="600"/>
              </a:spcAft>
              <a:defRPr sz="1700" b="0">
                <a:solidFill>
                  <a:srgbClr val="F7F8F0"/>
                </a:solidFill>
                <a:latin typeface="Public Sans"/>
              </a:defRPr>
            </a:pPr>
            <a:r>
              <a:t>Tax services are slowest but handle the most complex cases. Health and ID lead on both speed and satisfaction.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0" y="-914400"/>
            <a:ext cx="5029200" cy="3840480"/>
          </a:xfrm>
          <a:prstGeom prst="rect">
            <a:avLst/>
          </a:prstGeom>
          <a:solidFill>
            <a:srgbClr val="2D7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645920"/>
            <a:ext cx="9144000" cy="548640"/>
          </a:xfrm>
          <a:prstGeom prst="rect">
            <a:avLst/>
          </a:prstGeom>
          <a:noFill/>
        </p:spPr>
        <p:txBody>
          <a:bodyPr wrap="square">
            <a:spAutoFit/>
          </a:bodyPr>
          <a:lstStyle/>
          <a:p>
            <a:pPr algn="l">
              <a:spcAft>
                <a:spcPts val="600"/>
              </a:spcAft>
              <a:defRPr sz="1600" b="1">
                <a:solidFill>
                  <a:srgbClr val="A8E063"/>
                </a:solidFill>
                <a:latin typeface="Nohemi"/>
              </a:defRPr>
            </a:pPr>
            <a:r>
              <a:t>JOIN THE TRANSFORMATION</a:t>
            </a:r>
          </a:p>
        </p:txBody>
      </p:sp>
      <p:sp>
        <p:nvSpPr>
          <p:cNvPr id="5" name="TextBox 4"/>
          <p:cNvSpPr txBox="1"/>
          <p:nvPr/>
        </p:nvSpPr>
        <p:spPr>
          <a:xfrm>
            <a:off x="731520" y="2194560"/>
            <a:ext cx="9144000" cy="1828800"/>
          </a:xfrm>
          <a:prstGeom prst="rect">
            <a:avLst/>
          </a:prstGeom>
          <a:noFill/>
        </p:spPr>
        <p:txBody>
          <a:bodyPr wrap="square">
            <a:spAutoFit/>
          </a:bodyPr>
          <a:lstStyle/>
          <a:p>
            <a:pPr algn="l">
              <a:spcAft>
                <a:spcPts val="600"/>
              </a:spcAft>
              <a:defRPr sz="4800" b="1">
                <a:solidFill>
                  <a:srgbClr val="F7F8F0"/>
                </a:solidFill>
                <a:latin typeface="Nohemi"/>
              </a:defRPr>
            </a:pPr>
            <a:r>
              <a:t>Every service digital.</a:t>
            </a:r>
            <a:br/>
            <a:r>
              <a:t>Every citizen included.</a:t>
            </a:r>
          </a:p>
        </p:txBody>
      </p:sp>
      <p:sp>
        <p:nvSpPr>
          <p:cNvPr id="6" name="TextBox 5"/>
          <p:cNvSpPr txBox="1"/>
          <p:nvPr/>
        </p:nvSpPr>
        <p:spPr>
          <a:xfrm>
            <a:off x="731520" y="4206240"/>
            <a:ext cx="7772400" cy="1097280"/>
          </a:xfrm>
          <a:prstGeom prst="rect">
            <a:avLst/>
          </a:prstGeom>
          <a:noFill/>
        </p:spPr>
        <p:txBody>
          <a:bodyPr wrap="square">
            <a:spAutoFit/>
          </a:bodyPr>
          <a:lstStyle/>
          <a:p>
            <a:pPr algn="l">
              <a:spcAft>
                <a:spcPts val="600"/>
              </a:spcAft>
              <a:defRPr sz="2100" b="0">
                <a:solidFill>
                  <a:srgbClr val="9AADA3"/>
                </a:solidFill>
                <a:latin typeface="Public Sans"/>
              </a:defRPr>
            </a:pPr>
            <a:r>
              <a:t>We invite ministries, private sector partners, and citizens to build the digital Egypt of 2027 together.</a:t>
            </a:r>
          </a:p>
        </p:txBody>
      </p:sp>
      <p:sp>
        <p:nvSpPr>
          <p:cNvPr id="7" name="Rounded Rectangle 6"/>
          <p:cNvSpPr/>
          <p:nvPr/>
        </p:nvSpPr>
        <p:spPr>
          <a:xfrm>
            <a:off x="731520" y="5394960"/>
            <a:ext cx="2560320" cy="685800"/>
          </a:xfrm>
          <a:prstGeom prst="roundRect">
            <a:avLst/>
          </a:prstGeom>
          <a:solidFill>
            <a:srgbClr val="A8E0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468112"/>
            <a:ext cx="2560320" cy="548640"/>
          </a:xfrm>
          <a:prstGeom prst="rect">
            <a:avLst/>
          </a:prstGeom>
          <a:noFill/>
        </p:spPr>
        <p:txBody>
          <a:bodyPr wrap="square">
            <a:spAutoFit/>
          </a:bodyPr>
          <a:lstStyle/>
          <a:p>
            <a:pPr algn="ctr">
              <a:spcAft>
                <a:spcPts val="600"/>
              </a:spcAft>
              <a:defRPr sz="2000" b="1">
                <a:solidFill>
                  <a:srgbClr val="0E1B16"/>
                </a:solidFill>
                <a:latin typeface="Nohemi"/>
              </a:defRPr>
            </a:pPr>
            <a:r>
              <a:t>Get Involved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B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57200"/>
            <a:ext cx="11274552" cy="5943600"/>
          </a:xfrm>
          <a:prstGeom prst="rect">
            <a:avLst/>
          </a:prstGeom>
          <a:noFill/>
          <a:ln w="12700">
            <a:solidFill>
              <a:srgbClr val="2A4A3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377440"/>
            <a:ext cx="9966960" cy="1097280"/>
          </a:xfrm>
          <a:prstGeom prst="rect">
            <a:avLst/>
          </a:prstGeom>
          <a:noFill/>
        </p:spPr>
        <p:txBody>
          <a:bodyPr wrap="square">
            <a:spAutoFit/>
          </a:bodyPr>
          <a:lstStyle/>
          <a:p>
            <a:pPr algn="ctr">
              <a:spcAft>
                <a:spcPts val="600"/>
              </a:spcAft>
              <a:defRPr sz="6400" b="1">
                <a:solidFill>
                  <a:srgbClr val="F7F8F0"/>
                </a:solidFill>
                <a:latin typeface="Nohemi"/>
              </a:defRPr>
            </a:pPr>
            <a:r>
              <a:t>Thank You</a:t>
            </a:r>
          </a:p>
        </p:txBody>
      </p:sp>
      <p:cxnSp>
        <p:nvCxnSpPr>
          <p:cNvPr id="5" name="Connector 4"/>
          <p:cNvCxnSpPr/>
          <p:nvPr/>
        </p:nvCxnSpPr>
        <p:spPr>
          <a:xfrm>
            <a:off x="5577840" y="3657600"/>
            <a:ext cx="1005839" cy="0"/>
          </a:xfrm>
          <a:prstGeom prst="line">
            <a:avLst/>
          </a:prstGeom>
          <a:ln w="38100">
            <a:solidFill>
              <a:srgbClr val="A8E06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97280" y="3931920"/>
            <a:ext cx="9966960" cy="548640"/>
          </a:xfrm>
          <a:prstGeom prst="rect">
            <a:avLst/>
          </a:prstGeom>
          <a:noFill/>
        </p:spPr>
        <p:txBody>
          <a:bodyPr wrap="square">
            <a:spAutoFit/>
          </a:bodyPr>
          <a:lstStyle/>
          <a:p>
            <a:pPr algn="ctr">
              <a:spcAft>
                <a:spcPts val="600"/>
              </a:spcAft>
              <a:defRPr sz="2000" b="0">
                <a:solidFill>
                  <a:srgbClr val="9AADA3"/>
                </a:solidFill>
                <a:latin typeface="Public Sans"/>
              </a:defRPr>
            </a:pPr>
            <a:r>
              <a:t>Ministry of Communications and Information Technology</a:t>
            </a:r>
          </a:p>
        </p:txBody>
      </p:sp>
      <p:sp>
        <p:nvSpPr>
          <p:cNvPr id="7" name="TextBox 6"/>
          <p:cNvSpPr txBox="1"/>
          <p:nvPr/>
        </p:nvSpPr>
        <p:spPr>
          <a:xfrm>
            <a:off x="1097280" y="4434840"/>
            <a:ext cx="9966960" cy="457200"/>
          </a:xfrm>
          <a:prstGeom prst="rect">
            <a:avLst/>
          </a:prstGeom>
          <a:noFill/>
        </p:spPr>
        <p:txBody>
          <a:bodyPr wrap="square">
            <a:spAutoFit/>
          </a:bodyPr>
          <a:lstStyle/>
          <a:p>
            <a:pPr algn="ctr">
              <a:spcAft>
                <a:spcPts val="600"/>
              </a:spcAft>
              <a:defRPr sz="1600" b="0">
                <a:solidFill>
                  <a:srgbClr val="9AADA3"/>
                </a:solidFill>
                <a:latin typeface="Public Sans"/>
              </a:defRPr>
            </a:pPr>
            <a:r>
              <a:t>Digital Government Services  |  October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