
<file path=[Content_Types].xml><?xml version="1.0" encoding="utf-8"?>
<Types xmlns="http://schemas.openxmlformats.org/package/2006/content-types">
  <Default Extension="rels" ContentType="application/vnd.openxmlformats-package.relationships+xml"/>
  <Default Extension="xml" ContentType="applicatio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charts/chart1.xml" ContentType="application/vnd.openxmlformats-officedocument.drawingml.chart+xml"/>
  <Override PartName="/ppt/slides/slide5.xml" ContentType="application/vnd.openxmlformats-officedocument.presentationml.slide+xml"/>
  <Override PartName="/ppt/charts/chart2.xml" ContentType="application/vnd.openxmlformats-officedocument.drawingml.chart+xml"/>
  <Override PartName="/ppt/slides/slide6.xml" ContentType="application/vnd.openxmlformats-officedocument.presentationml.slide+xml"/>
  <Override PartName="/ppt/charts/chart3.xml" ContentType="application/vnd.openxmlformats-officedocument.drawingml.chart+xml"/>
  <Override PartName="/ppt/slides/slide7.xml" ContentType="application/vnd.openxmlformats-officedocument.presentationml.slide+xml"/>
  <Override PartName="/ppt/charts/chart4.xml" ContentType="application/vnd.openxmlformats-officedocument.drawingml.chart+xml"/>
  <Override PartName="/ppt/slides/slide8.xml" ContentType="application/vnd.openxmlformats-officedocument.presentationml.slide+xml"/>
  <Override PartName="/ppt/charts/chart5.xml" ContentType="application/vnd.openxmlformats-officedocument.drawingml.chart+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charts/chart6.xml" ContentType="application/vnd.openxmlformats-officedocument.drawingml.chart+xml"/>
  <Override PartName="/ppt/slides/slide16.xml" ContentType="application/vnd.openxmlformats-officedocument.presentationml.slide+xml"/>
  <Override PartName="/ppt/slides/slide17.xml" ContentType="application/vnd.openxmlformats-officedocument.presentationml.slide+xml"/>
  <Override PartName="/ppt/charts/chart7.xml" ContentType="application/vnd.openxmlformats-officedocument.drawingml.chart+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presentation.xml" ContentType="application/vnd.openxmlformats-officedocument.presentationml.presentation.main+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lvl1pPr marL="0" algn="l">
      <a:defRPr sz="1800" kern="1200">
        <a:solidFill>
          <a:schemeClr val="tx1"/>
        </a:solidFill>
        <a:latin typeface="+mn-lt"/>
      </a:defRPr>
    </a:lvl1pPr>
    <a:lvl2pPr marL="457200" algn="l">
      <a:defRPr sz="1800" kern="1200">
        <a:solidFill>
          <a:schemeClr val="tx1"/>
        </a:solidFill>
        <a:latin typeface="+mn-lt"/>
      </a:defRPr>
    </a:lvl2pPr>
    <a:lvl3pPr marL="914400" algn="l">
      <a:defRPr sz="1800" kern="1200">
        <a:solidFill>
          <a:schemeClr val="tx1"/>
        </a:solidFill>
        <a:latin typeface="+mn-lt"/>
      </a:defRPr>
    </a:lvl3pPr>
    <a:lvl4pPr marL="1371600" algn="l">
      <a:defRPr sz="1800" kern="1200">
        <a:solidFill>
          <a:schemeClr val="tx1"/>
        </a:solidFill>
        <a:latin typeface="+mn-lt"/>
      </a:defRPr>
    </a:lvl4pPr>
    <a:lvl5pPr marL="1828800" algn="l">
      <a:defRPr sz="1800" kern="1200">
        <a:solidFill>
          <a:schemeClr val="tx1"/>
        </a:solidFill>
        <a:latin typeface="+mn-lt"/>
      </a:defRPr>
    </a:lvl5pPr>
    <a:lvl6pPr marL="2286000" algn="l">
      <a:defRPr sz="1800" kern="1200">
        <a:solidFill>
          <a:schemeClr val="tx1"/>
        </a:solidFill>
        <a:latin typeface="+mn-lt"/>
      </a:defRPr>
    </a:lvl6pPr>
    <a:lvl7pPr marL="2743200" algn="l">
      <a:defRPr sz="1800" kern="1200">
        <a:solidFill>
          <a:schemeClr val="tx1"/>
        </a:solidFill>
        <a:latin typeface="+mn-lt"/>
      </a:defRPr>
    </a:lvl7pPr>
    <a:lvl8pPr marL="3200400" algn="l">
      <a:defRPr sz="1800" kern="1200">
        <a:solidFill>
          <a:schemeClr val="tx1"/>
        </a:solidFill>
        <a:latin typeface="+mn-lt"/>
      </a:defRPr>
    </a:lvl8pPr>
    <a:lvl9pPr marL="3657600" algn="l">
      <a:defRPr sz="1800" kern="1200">
        <a:solidFill>
          <a:schemeClr val="tx1"/>
        </a:solidFill>
        <a:latin typeface="+mn-l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theme" Target="theme/theme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ableStyles" Target="tableStyles.xml"/></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style val="2"/>
  <c:chart>
    <c:autoTitleDeleted val="1"/>
    <c:plotArea>
      <c:layout/>
      <c:barChart>
        <c:barDir val="col"/>
        <c:grouping val="clustered"/>
        <c:varyColors val="0"/>
        <c:ser>
          <c:idx val="0"/>
          <c:order val="0"/>
          <c:tx>
            <c:strRef>
              <c:f>Sheet1!$B$1</c:f>
              <c:strCache>
                <c:ptCount val="1"/>
                <c:pt idx="0">
                  <c:v>2026</c:v>
                </c:pt>
              </c:strCache>
            </c:strRef>
          </c:tx>
          <c:invertIfNegative val="0"/>
          <c:cat>
            <c:strRef>
              <c:f>Sheet1!$A$2:$A$5</c:f>
              <c:strCache>
                <c:ptCount val="4"/>
                <c:pt idx="0">
                  <c:v>ID Services</c:v>
                </c:pt>
                <c:pt idx="1">
                  <c:v>Licenses</c:v>
                </c:pt>
                <c:pt idx="2">
                  <c:v>Permits</c:v>
                </c:pt>
                <c:pt idx="3">
                  <c:v>Certificates</c:v>
                </c:pt>
              </c:strCache>
            </c:strRef>
          </c:cat>
          <c:val>
            <c:numRef>
              <c:f>Sheet1!$B$2:$B$5</c:f>
              <c:numCache>
                <c:formatCode>General</c:formatCode>
                <c:ptCount val="4"/>
                <c:pt idx="0">
                  <c:v>420</c:v>
                </c:pt>
                <c:pt idx="1">
                  <c:v>310</c:v>
                </c:pt>
                <c:pt idx="2">
                  <c:v>260</c:v>
                </c:pt>
                <c:pt idx="3">
                  <c:v>190</c:v>
                </c:pt>
              </c:numCache>
            </c:numRef>
          </c:val>
        </c:ser>
        <c:gapWidth val="219"/>
        <c:overlap val="-27"/>
        <c:axId val="50001"/>
        <c:axId val="50002"/>
      </c:barChart>
      <c:catAx>
        <c:axId val="50001"/>
        <c:scaling>
          <c:orientation val="minMax"/>
        </c:scaling>
        <c:delete val="0"/>
        <c:axPos val="b"/>
        <c:numFmt formatCode="General" sourceLinked="1"/>
        <c:majorTickMark val="none"/>
        <c:minorTickMark val="none"/>
        <c:tickLblPos val="nextTo"/>
        <c:crossAx val="50002"/>
        <c:crosses val="autoZero"/>
        <c:auto val="1"/>
        <c:lblAlgn val="ctr"/>
        <c:lblOffset val="100"/>
        <c:noMultiLvlLbl val="0"/>
      </c:catAx>
      <c:valAx>
        <c:axId val="50002"/>
        <c:scaling>
          <c:orientation val="minMax"/>
        </c:scaling>
        <c:delete val="0"/>
        <c:axPos val="l"/>
        <c:majorGridlines/>
        <c:numFmt formatCode="General" sourceLinked="1"/>
        <c:majorTickMark val="none"/>
        <c:minorTickMark val="none"/>
        <c:tickLblPos val="nextTo"/>
        <c:crossAx val="50001"/>
        <c:crosses val="autoZero"/>
        <c:crossBetween val="between"/>
      </c:valAx>
    </c:plotArea>
    <c:legend>
      <c:legendPos val="b"/>
      <c:overlay val="0"/>
    </c:legend>
    <c:plotVisOnly val="1"/>
    <c:dispBlanksAs val="gap"/>
  </c:chart>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style val="2"/>
  <c:chart>
    <c:autoTitleDeleted val="1"/>
    <c:plotArea>
      <c:layout/>
      <c:pieChart>
        <c:varyColors val="1"/>
        <c:ser>
          <c:idx val="0"/>
          <c:order val="0"/>
          <c:tx>
            <c:strRef>
              <c:f>Sheet1!$B$1</c:f>
              <c:strCache>
                <c:ptCount val="1"/>
                <c:pt idx="0">
                  <c:v>Volume (K)</c:v>
                </c:pt>
              </c:strCache>
            </c:strRef>
          </c:tx>
          <c:cat>
            <c:strRef>
              <c:f>Sheet1!$A$2:$A$5</c:f>
              <c:strCache>
                <c:ptCount val="4"/>
                <c:pt idx="0">
                  <c:v>Portal Visits</c:v>
                </c:pt>
                <c:pt idx="1">
                  <c:v>Applications</c:v>
                </c:pt>
                <c:pt idx="2">
                  <c:v>Verified</c:v>
                </c:pt>
                <c:pt idx="3">
                  <c:v>Completed</c:v>
                </c:pt>
              </c:strCache>
            </c:strRef>
          </c:cat>
          <c:val>
            <c:numRef>
              <c:f>Sheet1!$B$2:$B$5</c:f>
              <c:numCache>
                <c:formatCode>General</c:formatCode>
                <c:ptCount val="4"/>
                <c:pt idx="0">
                  <c:v>5200</c:v>
                </c:pt>
                <c:pt idx="1">
                  <c:v>3100</c:v>
                </c:pt>
                <c:pt idx="2">
                  <c:v>2400</c:v>
                </c:pt>
                <c:pt idx="3">
                  <c:v>2100</c:v>
                </c:pt>
              </c:numCache>
            </c:numRef>
          </c:val>
        </c:ser>
        <c:firstSliceAng val="0"/>
      </c:pieChart>
    </c:plotArea>
    <c:legend>
      <c:legendPos val="b"/>
      <c:overlay val="0"/>
    </c:legend>
    <c:plotVisOnly val="1"/>
    <c:dispBlanksAs val="gap"/>
  </c:chart>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style val="2"/>
  <c:chart>
    <c:autoTitleDeleted val="1"/>
    <c:plotArea>
      <c:layout/>
      <c:lineChart>
        <c:grouping val="standard"/>
        <c:varyColors val="0"/>
        <c:ser>
          <c:idx val="0"/>
          <c:order val="0"/>
          <c:tx>
            <c:strRef>
              <c:f>Sheet1!$B$1</c:f>
              <c:strCache>
                <c:ptCount val="1"/>
                <c:pt idx="0">
                  <c:v>Onboarded</c:v>
                </c:pt>
              </c:strCache>
            </c:strRef>
          </c:tx>
          <c:marker>
            <c:symbol val="none"/>
          </c:marker>
          <c:cat>
            <c:strRef>
              <c:f>Sheet1!$A$2:$A$5</c:f>
              <c:strCache>
                <c:ptCount val="4"/>
                <c:pt idx="0">
                  <c:v>Q1</c:v>
                </c:pt>
                <c:pt idx="1">
                  <c:v>Q2</c:v>
                </c:pt>
                <c:pt idx="2">
                  <c:v>Q3</c:v>
                </c:pt>
                <c:pt idx="3">
                  <c:v>Q4</c:v>
                </c:pt>
              </c:strCache>
            </c:strRef>
          </c:cat>
          <c:val>
            <c:numRef>
              <c:f>Sheet1!$B$2:$B$5</c:f>
              <c:numCache>
                <c:formatCode>General</c:formatCode>
                <c:ptCount val="4"/>
                <c:pt idx="0">
                  <c:v>800</c:v>
                </c:pt>
                <c:pt idx="1">
                  <c:v>1400</c:v>
                </c:pt>
                <c:pt idx="2">
                  <c:v>1900</c:v>
                </c:pt>
                <c:pt idx="3">
                  <c:v>2400</c:v>
                </c:pt>
              </c:numCache>
            </c:numRef>
          </c:val>
          <c:smooth val="0"/>
        </c:ser>
        <c:marker val="1"/>
        <c:axId val="50001"/>
        <c:axId val="50002"/>
      </c:lineChart>
      <c:catAx>
        <c:axId val="50001"/>
        <c:scaling>
          <c:orientation val="minMax"/>
        </c:scaling>
        <c:delete val="0"/>
        <c:axPos val="b"/>
        <c:numFmt formatCode="General" sourceLinked="1"/>
        <c:majorTickMark val="none"/>
        <c:minorTickMark val="none"/>
        <c:tickLblPos val="nextTo"/>
        <c:crossAx val="50002"/>
        <c:crosses val="autoZero"/>
        <c:auto val="1"/>
        <c:lblAlgn val="ctr"/>
        <c:lblOffset val="100"/>
        <c:noMultiLvlLbl val="0"/>
      </c:catAx>
      <c:valAx>
        <c:axId val="50002"/>
        <c:scaling>
          <c:orientation val="minMax"/>
        </c:scaling>
        <c:delete val="0"/>
        <c:axPos val="l"/>
        <c:majorGridlines/>
        <c:numFmt formatCode="General" sourceLinked="1"/>
        <c:majorTickMark val="none"/>
        <c:minorTickMark val="none"/>
        <c:tickLblPos val="nextTo"/>
        <c:crossAx val="50001"/>
        <c:crosses val="autoZero"/>
        <c:crossBetween val="between"/>
      </c:valAx>
    </c:plotArea>
    <c:legend>
      <c:legendPos val="b"/>
      <c:overlay val="0"/>
    </c:legend>
    <c:plotVisOnly val="1"/>
    <c:dispBlanksAs val="gap"/>
  </c:chart>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style val="2"/>
  <c:chart>
    <c:autoTitleDeleted val="1"/>
    <c:plotArea>
      <c:layout/>
      <c:barChart>
        <c:barDir val="bar"/>
        <c:grouping val="clustered"/>
        <c:varyColors val="0"/>
        <c:ser>
          <c:idx val="0"/>
          <c:order val="0"/>
          <c:tx>
            <c:strRef>
              <c:f>Sheet1!$B$1</c:f>
              <c:strCache>
                <c:ptCount val="1"/>
                <c:pt idx="0">
                  <c:v>2026</c:v>
                </c:pt>
              </c:strCache>
            </c:strRef>
          </c:tx>
          <c:invertIfNegative val="0"/>
          <c:cat>
            <c:strRef>
              <c:f>Sheet1!$A$2:$A$6</c:f>
              <c:strCache>
                <c:ptCount val="5"/>
                <c:pt idx="0">
                  <c:v>Cairo</c:v>
                </c:pt>
                <c:pt idx="1">
                  <c:v>Alexandria</c:v>
                </c:pt>
                <c:pt idx="2">
                  <c:v>Giza</c:v>
                </c:pt>
                <c:pt idx="3">
                  <c:v>Delta</c:v>
                </c:pt>
                <c:pt idx="4">
                  <c:v>Upper Egypt</c:v>
                </c:pt>
              </c:strCache>
            </c:strRef>
          </c:cat>
          <c:val>
            <c:numRef>
              <c:f>Sheet1!$B$2:$B$6</c:f>
              <c:numCache>
                <c:formatCode>General</c:formatCode>
                <c:ptCount val="5"/>
                <c:pt idx="0">
                  <c:v>890</c:v>
                </c:pt>
                <c:pt idx="1">
                  <c:v>420</c:v>
                </c:pt>
                <c:pt idx="2">
                  <c:v>380</c:v>
                </c:pt>
                <c:pt idx="3">
                  <c:v>510</c:v>
                </c:pt>
                <c:pt idx="4">
                  <c:v>290</c:v>
                </c:pt>
              </c:numCache>
            </c:numRef>
          </c:val>
        </c:ser>
        <c:gapWidth val="219"/>
        <c:overlap val="-27"/>
        <c:axId val="50001"/>
        <c:axId val="50002"/>
      </c:barChart>
      <c:catAx>
        <c:axId val="50001"/>
        <c:scaling>
          <c:orientation val="minMax"/>
        </c:scaling>
        <c:delete val="0"/>
        <c:axPos val="l"/>
        <c:numFmt formatCode="General" sourceLinked="1"/>
        <c:majorTickMark val="none"/>
        <c:minorTickMark val="none"/>
        <c:tickLblPos val="nextTo"/>
        <c:crossAx val="50002"/>
        <c:crosses val="autoZero"/>
        <c:auto val="1"/>
        <c:lblAlgn val="ctr"/>
        <c:lblOffset val="100"/>
        <c:noMultiLvlLbl val="0"/>
      </c:catAx>
      <c:valAx>
        <c:axId val="50002"/>
        <c:scaling>
          <c:orientation val="minMax"/>
        </c:scaling>
        <c:delete val="0"/>
        <c:axPos val="b"/>
        <c:majorGridlines/>
        <c:numFmt formatCode="General" sourceLinked="1"/>
        <c:majorTickMark val="none"/>
        <c:minorTickMark val="none"/>
        <c:tickLblPos val="nextTo"/>
        <c:crossAx val="50001"/>
        <c:crosses val="autoZero"/>
        <c:crossBetween val="between"/>
      </c:valAx>
    </c:plotArea>
    <c:legend>
      <c:legendPos val="b"/>
      <c:overlay val="0"/>
    </c:legend>
    <c:plotVisOnly val="1"/>
    <c:dispBlanksAs val="gap"/>
  </c:chart>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style val="2"/>
  <c:chart>
    <c:autoTitleDeleted val="1"/>
    <c:plotArea>
      <c:layout/>
      <c:areaChart>
        <c:grouping val="standard"/>
        <c:varyColors val="0"/>
        <c:ser>
          <c:idx val="0"/>
          <c:order val="0"/>
          <c:tx>
            <c:strRef>
              <c:f>Sheet1!$B$1</c:f>
              <c:strCache>
                <c:ptCount val="1"/>
                <c:pt idx="0">
                  <c:v>Score</c:v>
                </c:pt>
              </c:strCache>
            </c:strRef>
          </c:tx>
          <c:cat>
            <c:strRef>
              <c:f>Sheet1!$A$2:$A$5</c:f>
              <c:strCache>
                <c:ptCount val="4"/>
                <c:pt idx="0">
                  <c:v>Q1</c:v>
                </c:pt>
                <c:pt idx="1">
                  <c:v>Q2</c:v>
                </c:pt>
                <c:pt idx="2">
                  <c:v>Q3</c:v>
                </c:pt>
                <c:pt idx="3">
                  <c:v>Q4</c:v>
                </c:pt>
              </c:strCache>
            </c:strRef>
          </c:cat>
          <c:val>
            <c:numRef>
              <c:f>Sheet1!$B$2:$B$5</c:f>
              <c:numCache>
                <c:formatCode>General</c:formatCode>
                <c:ptCount val="4"/>
                <c:pt idx="0">
                  <c:v>72</c:v>
                </c:pt>
                <c:pt idx="1">
                  <c:v>78</c:v>
                </c:pt>
                <c:pt idx="2">
                  <c:v>85</c:v>
                </c:pt>
                <c:pt idx="3">
                  <c:v>91</c:v>
                </c:pt>
              </c:numCache>
            </c:numRef>
          </c:val>
        </c:ser>
        <c:axId val="50001"/>
        <c:axId val="50002"/>
      </c:areaChart>
      <c:catAx>
        <c:axId val="50001"/>
        <c:scaling>
          <c:orientation val="minMax"/>
        </c:scaling>
        <c:delete val="0"/>
        <c:axPos val="b"/>
        <c:numFmt formatCode="General" sourceLinked="1"/>
        <c:majorTickMark val="none"/>
        <c:minorTickMark val="none"/>
        <c:tickLblPos val="nextTo"/>
        <c:crossAx val="50002"/>
        <c:crosses val="autoZero"/>
        <c:auto val="1"/>
        <c:lblAlgn val="ctr"/>
        <c:lblOffset val="100"/>
        <c:noMultiLvlLbl val="0"/>
      </c:catAx>
      <c:valAx>
        <c:axId val="50002"/>
        <c:scaling>
          <c:orientation val="minMax"/>
        </c:scaling>
        <c:delete val="0"/>
        <c:axPos val="l"/>
        <c:majorGridlines/>
        <c:numFmt formatCode="General" sourceLinked="1"/>
        <c:majorTickMark val="none"/>
        <c:minorTickMark val="none"/>
        <c:tickLblPos val="nextTo"/>
        <c:crossAx val="50001"/>
        <c:crosses val="autoZero"/>
        <c:crossBetween val="midCat"/>
      </c:valAx>
    </c:plotArea>
    <c:legend>
      <c:legendPos val="b"/>
      <c:overlay val="0"/>
    </c:legend>
    <c:plotVisOnly val="1"/>
    <c:dispBlanksAs val="gap"/>
  </c:chart>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0"/>
  <c:style val="2"/>
  <c:chart>
    <c:autoTitleDeleted val="1"/>
    <c:plotArea>
      <c:layout/>
      <c:doughnutChart>
        <c:varyColors val="1"/>
        <c:ser>
          <c:idx val="0"/>
          <c:order val="0"/>
          <c:tx>
            <c:strRef>
              <c:f>Sheet1!$B$1</c:f>
              <c:strCache>
                <c:ptCount val="1"/>
                <c:pt idx="0">
                  <c:v>Budget %</c:v>
                </c:pt>
              </c:strCache>
            </c:strRef>
          </c:tx>
          <c:cat>
            <c:strRef>
              <c:f>Sheet1!$A$2:$A$6</c:f>
              <c:strCache>
                <c:ptCount val="5"/>
                <c:pt idx="0">
                  <c:v>Infrastructure</c:v>
                </c:pt>
                <c:pt idx="1">
                  <c:v>AI Development</c:v>
                </c:pt>
                <c:pt idx="2">
                  <c:v>Rural Access</c:v>
                </c:pt>
                <c:pt idx="3">
                  <c:v>Training</c:v>
                </c:pt>
                <c:pt idx="4">
                  <c:v>Security</c:v>
                </c:pt>
              </c:strCache>
            </c:strRef>
          </c:cat>
          <c:val>
            <c:numRef>
              <c:f>Sheet1!$B$2:$B$6</c:f>
              <c:numCache>
                <c:formatCode>General</c:formatCode>
                <c:ptCount val="5"/>
                <c:pt idx="0">
                  <c:v>35</c:v>
                </c:pt>
                <c:pt idx="1">
                  <c:v>25</c:v>
                </c:pt>
                <c:pt idx="2">
                  <c:v>15</c:v>
                </c:pt>
                <c:pt idx="3">
                  <c:v>15</c:v>
                </c:pt>
                <c:pt idx="4">
                  <c:v>10</c:v>
                </c:pt>
              </c:numCache>
            </c:numRef>
          </c:val>
        </c:ser>
        <c:firstSliceAng val="0"/>
        <c:holeSize val="50"/>
      </c:doughnutChart>
    </c:plotArea>
    <c:legend>
      <c:legendPos val="b"/>
      <c:overlay val="0"/>
    </c:legend>
    <c:plotVisOnly val="1"/>
    <c:dispBlanksAs val="gap"/>
  </c:chart>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0"/>
  <c:style val="2"/>
  <c:chart>
    <c:autoTitleDeleted val="1"/>
    <c:plotArea>
      <c:layout/>
      <c:scatterChart>
        <c:scatterStyle val="lineMarker"/>
        <c:varyColors val="0"/>
        <c:ser>
          <c:idx val="0"/>
          <c:order val="0"/>
          <c:tx>
            <c:strRef>
              <c:f>Sheet1!$B$1</c:f>
              <c:strCache>
                <c:ptCount val="1"/>
                <c:pt idx="0">
                  <c:v>Services</c:v>
                </c:pt>
              </c:strCache>
            </c:strRef>
          </c:tx>
          <c:xVal>
            <c:numRef>
              <c:f>Sheet1!$A$2:$A$7</c:f>
              <c:numCache>
                <c:formatCode>General</c:formatCode>
                <c:ptCount val="6"/>
                <c:pt idx="0">
                  <c:v>1</c:v>
                </c:pt>
                <c:pt idx="1">
                  <c:v>2</c:v>
                </c:pt>
                <c:pt idx="2">
                  <c:v>3</c:v>
                </c:pt>
                <c:pt idx="3">
                  <c:v>4</c:v>
                </c:pt>
                <c:pt idx="4">
                  <c:v>5</c:v>
                </c:pt>
                <c:pt idx="5">
                  <c:v>6</c:v>
                </c:pt>
              </c:numCache>
            </c:numRef>
          </c:xVal>
          <c:yVal>
            <c:numRef>
              <c:f>Sheet1!$B$2:$B$7</c:f>
              <c:numCache>
                <c:formatCode>General</c:formatCode>
                <c:ptCount val="6"/>
              </c:numCache>
            </c:numRef>
          </c:yVal>
          <c:smooth val="0"/>
        </c:ser>
        <c:axId val="50001"/>
        <c:axId val="50002"/>
      </c:scatterChart>
      <c:valAx>
        <c:axId val="50001"/>
        <c:scaling>
          <c:orientation val="minMax"/>
        </c:scaling>
        <c:delete val="0"/>
        <c:axPos val="b"/>
        <c:numFmt formatCode="General" sourceLinked="1"/>
        <c:majorTickMark val="out"/>
        <c:minorTickMark val="none"/>
        <c:tickLblPos val="nextTo"/>
        <c:crossAx val="50002"/>
        <c:crosses val="autoZero"/>
        <c:crossBetween val="midCat"/>
      </c:valAx>
      <c:valAx>
        <c:axId val="50002"/>
        <c:scaling>
          <c:orientation val="minMax"/>
        </c:scaling>
        <c:delete val="0"/>
        <c:axPos val="l"/>
        <c:majorGridlines/>
        <c:numFmt formatCode="General" sourceLinked="1"/>
        <c:majorTickMark val="none"/>
        <c:minorTickMark val="none"/>
        <c:tickLblPos val="nextTo"/>
        <c:crossAx val="50001"/>
        <c:crosses val="autoZero"/>
        <c:crossBetween val="midCat"/>
      </c:valAx>
    </c:plotArea>
    <c:legend>
      <c:legendPos val="b"/>
      <c:overlay val="0"/>
    </c:legend>
    <c:plotVisOnly val="1"/>
    <c:dispBlanksAs val="gap"/>
  </c:chart>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1524000" y="1117600"/>
            <a:ext cx="9144000" cy="2387600"/>
          </a:xfrm>
          <a:prstGeom prst="rect">
            <a:avLst/>
          </a:prstGeom>
        </p:spPr>
        <p:txBody>
          <a:bodyPr anchor="b">
            <a:normAutofit/>
          </a:bodyPr>
          <a:lstStyle>
            <a:lvl1pPr algn="ctr">
              <a:defRPr sz="6000"/>
            </a:lvl1pPr>
          </a:lstStyle>
          <a:p/>
        </p:txBody>
      </p:sp>
      <p:sp>
        <p:nvSpPr>
          <p:cNvPr id="8" name="Subtitle 2"/>
          <p:cNvSpPr>
            <a:spLocks noGrp="1"/>
          </p:cNvSpPr>
          <p:nvPr>
            <p:ph type="subTitle" idx="1"/>
          </p:nvPr>
        </p:nvSpPr>
        <p:spPr>
          <a:xfrm>
            <a:off x="1524000" y="3606800"/>
            <a:ext cx="9144000" cy="1651000"/>
          </a:xfrm>
          <a:prstGeom prst="rect">
            <a:avLst/>
          </a:prstGeom>
        </p:spPr>
        <p:txBody>
          <a:bodyPr anchor="t">
            <a:normAutofit/>
          </a:bodyPr>
          <a:lstStyle>
            <a:lvl1pPr marL="0" indent="0" algn="ctr">
              <a:buNone/>
              <a:defRPr sz="2400"/>
            </a:lvl1pPr>
          </a:lstStyle>
          <a:p/>
        </p:txBody>
      </p:sp>
      <p:sp>
        <p:nvSpPr>
          <p:cNvPr id="9"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10"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11"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7DDC6D5D-A00E-4AA9-84F2-364CBECE0EEA}" type="slidenum">
              <a:rPr/>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3" name="Title 1"/>
          <p:cNvSpPr>
            <a:spLocks noGrp="1"/>
          </p:cNvSpPr>
          <p:nvPr>
            <p:ph type="title"/>
          </p:nvPr>
        </p:nvSpPr>
        <p:spPr>
          <a:xfrm>
            <a:off x="762000" y="368300"/>
            <a:ext cx="10668000" cy="1320800"/>
          </a:xfrm>
          <a:prstGeom prst="rect">
            <a:avLst/>
          </a:prstGeom>
        </p:spPr>
        <p:txBody>
          <a:bodyPr anchor="ctr">
            <a:normAutofit/>
          </a:bodyPr>
          <a:lstStyle/>
          <a:p/>
        </p:txBody>
      </p:sp>
      <p:sp>
        <p:nvSpPr>
          <p:cNvPr id="14" name="Content Placeholder 2"/>
          <p:cNvSpPr>
            <a:spLocks noGrp="1"/>
          </p:cNvSpPr>
          <p:nvPr>
            <p:ph idx="1"/>
          </p:nvPr>
        </p:nvSpPr>
        <p:spPr>
          <a:xfrm>
            <a:off x="762000" y="1828800"/>
            <a:ext cx="10668000" cy="4356100"/>
          </a:xfrm>
          <a:prstGeom prst="rect">
            <a:avLst/>
          </a:prstGeom>
        </p:spPr>
        <p:txBody>
          <a:bodyPr anchor="t">
            <a:normAutofit/>
          </a:bodyPr>
          <a:lstStyle/>
          <a:p/>
        </p:txBody>
      </p:sp>
      <p:sp>
        <p:nvSpPr>
          <p:cNvPr id="15"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16"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17"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EDCD0F9E-EF7E-4C26-8662-25A73F2263DD}" type="slidenum">
              <a:rPr/>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9" name="Title 1"/>
          <p:cNvSpPr>
            <a:spLocks noGrp="1"/>
          </p:cNvSpPr>
          <p:nvPr>
            <p:ph type="title"/>
          </p:nvPr>
        </p:nvSpPr>
        <p:spPr>
          <a:xfrm>
            <a:off x="825500" y="1714500"/>
            <a:ext cx="10541000" cy="2857500"/>
          </a:xfrm>
          <a:prstGeom prst="rect">
            <a:avLst/>
          </a:prstGeom>
        </p:spPr>
        <p:txBody>
          <a:bodyPr anchor="b"/>
          <a:lstStyle>
            <a:lvl1pPr>
              <a:defRPr sz="6000"/>
            </a:lvl1pPr>
          </a:lstStyle>
          <a:p/>
        </p:txBody>
      </p:sp>
      <p:sp>
        <p:nvSpPr>
          <p:cNvPr id="20" name="Text Placeholder 2"/>
          <p:cNvSpPr>
            <a:spLocks noGrp="1"/>
          </p:cNvSpPr>
          <p:nvPr>
            <p:ph type="body" idx="1"/>
          </p:nvPr>
        </p:nvSpPr>
        <p:spPr>
          <a:xfrm>
            <a:off x="825500" y="4597400"/>
            <a:ext cx="10541000" cy="1498600"/>
          </a:xfrm>
          <a:prstGeom prst="rect">
            <a:avLst/>
          </a:prstGeom>
        </p:spPr>
        <p:txBody>
          <a:bodyPr anchor="t">
            <a:normAutofit/>
          </a:bodyPr>
          <a:lstStyle>
            <a:lvl1pPr marL="0" indent="0">
              <a:buNone/>
              <a:defRPr sz="2400">
                <a:solidFill>
                  <a:schemeClr val="tx1">
                    <a:tint val="82000"/>
                  </a:schemeClr>
                </a:solidFill>
              </a:defRPr>
            </a:lvl1pPr>
          </a:lstStyle>
          <a:p/>
        </p:txBody>
      </p:sp>
      <p:sp>
        <p:nvSpPr>
          <p:cNvPr id="21"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22"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23"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87C18080-B33E-4073-8615-72D8F5AE8F78}" type="slidenum">
              <a:rPr/>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5" name="Title 1"/>
          <p:cNvSpPr>
            <a:spLocks noGrp="1"/>
          </p:cNvSpPr>
          <p:nvPr>
            <p:ph type="title"/>
          </p:nvPr>
        </p:nvSpPr>
        <p:spPr>
          <a:xfrm>
            <a:off x="762000" y="368300"/>
            <a:ext cx="10668000" cy="1320800"/>
          </a:xfrm>
          <a:prstGeom prst="rect">
            <a:avLst/>
          </a:prstGeom>
        </p:spPr>
        <p:txBody>
          <a:bodyPr anchor="ctr">
            <a:normAutofit/>
          </a:bodyPr>
          <a:lstStyle/>
          <a:p/>
        </p:txBody>
      </p:sp>
      <p:sp>
        <p:nvSpPr>
          <p:cNvPr id="26" name="Content Placeholder 2"/>
          <p:cNvSpPr>
            <a:spLocks noGrp="1"/>
          </p:cNvSpPr>
          <p:nvPr>
            <p:ph idx="1"/>
          </p:nvPr>
        </p:nvSpPr>
        <p:spPr>
          <a:xfrm>
            <a:off x="762000" y="1828800"/>
            <a:ext cx="5232400" cy="4356100"/>
          </a:xfrm>
          <a:prstGeom prst="rect">
            <a:avLst/>
          </a:prstGeom>
        </p:spPr>
        <p:txBody>
          <a:bodyPr anchor="t">
            <a:normAutofit/>
          </a:bodyPr>
          <a:lstStyle/>
          <a:p/>
        </p:txBody>
      </p:sp>
      <p:sp>
        <p:nvSpPr>
          <p:cNvPr id="27" name="Content Placeholder 3"/>
          <p:cNvSpPr>
            <a:spLocks noGrp="1"/>
          </p:cNvSpPr>
          <p:nvPr>
            <p:ph idx="2"/>
          </p:nvPr>
        </p:nvSpPr>
        <p:spPr>
          <a:xfrm>
            <a:off x="6197600" y="1828800"/>
            <a:ext cx="5232400" cy="4356100"/>
          </a:xfrm>
          <a:prstGeom prst="rect">
            <a:avLst/>
          </a:prstGeom>
        </p:spPr>
        <p:txBody>
          <a:bodyPr anchor="t">
            <a:normAutofit/>
          </a:bodyPr>
          <a:lstStyle/>
          <a:p/>
        </p:txBody>
      </p:sp>
      <p:sp>
        <p:nvSpPr>
          <p:cNvPr id="28"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29"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30"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85CB9569-04AF-4288-8880-64CE52ABE7A3}" type="slidenum">
              <a:rPr/>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2" name="Title 1"/>
          <p:cNvSpPr>
            <a:spLocks noGrp="1"/>
          </p:cNvSpPr>
          <p:nvPr>
            <p:ph type="title"/>
          </p:nvPr>
        </p:nvSpPr>
        <p:spPr>
          <a:xfrm>
            <a:off x="762000" y="368300"/>
            <a:ext cx="10668000" cy="1320800"/>
          </a:xfrm>
          <a:prstGeom prst="rect">
            <a:avLst/>
          </a:prstGeom>
        </p:spPr>
        <p:txBody>
          <a:bodyPr anchor="ctr">
            <a:normAutofit/>
          </a:bodyPr>
          <a:lstStyle/>
          <a:p/>
        </p:txBody>
      </p:sp>
      <p:sp>
        <p:nvSpPr>
          <p:cNvPr id="33" name="Text Placeholder 2"/>
          <p:cNvSpPr>
            <a:spLocks noGrp="1"/>
          </p:cNvSpPr>
          <p:nvPr>
            <p:ph type="body" idx="1"/>
          </p:nvPr>
        </p:nvSpPr>
        <p:spPr>
          <a:xfrm>
            <a:off x="762000" y="1689100"/>
            <a:ext cx="5232400" cy="787400"/>
          </a:xfrm>
          <a:prstGeom prst="rect">
            <a:avLst/>
          </a:prstGeom>
        </p:spPr>
        <p:txBody>
          <a:bodyPr anchor="b"/>
          <a:lstStyle>
            <a:lvl1pPr marL="0" indent="0">
              <a:buNone/>
              <a:defRPr sz="2400" b="1"/>
            </a:lvl1pPr>
          </a:lstStyle>
          <a:p/>
        </p:txBody>
      </p:sp>
      <p:sp>
        <p:nvSpPr>
          <p:cNvPr id="34" name="Content Placeholder 3"/>
          <p:cNvSpPr>
            <a:spLocks noGrp="1"/>
          </p:cNvSpPr>
          <p:nvPr>
            <p:ph idx="2"/>
          </p:nvPr>
        </p:nvSpPr>
        <p:spPr>
          <a:xfrm>
            <a:off x="762000" y="2514600"/>
            <a:ext cx="5232400" cy="3670300"/>
          </a:xfrm>
          <a:prstGeom prst="rect">
            <a:avLst/>
          </a:prstGeom>
        </p:spPr>
        <p:txBody>
          <a:bodyPr anchor="t">
            <a:normAutofit/>
          </a:bodyPr>
          <a:lstStyle/>
          <a:p/>
        </p:txBody>
      </p:sp>
      <p:sp>
        <p:nvSpPr>
          <p:cNvPr id="35" name="Text Placeholder 4"/>
          <p:cNvSpPr>
            <a:spLocks noGrp="1"/>
          </p:cNvSpPr>
          <p:nvPr>
            <p:ph type="body" idx="3"/>
          </p:nvPr>
        </p:nvSpPr>
        <p:spPr>
          <a:xfrm>
            <a:off x="6197600" y="1689100"/>
            <a:ext cx="5232400" cy="787400"/>
          </a:xfrm>
          <a:prstGeom prst="rect">
            <a:avLst/>
          </a:prstGeom>
        </p:spPr>
        <p:txBody>
          <a:bodyPr anchor="b"/>
          <a:lstStyle>
            <a:lvl1pPr marL="0" indent="0">
              <a:buNone/>
              <a:defRPr sz="2400" b="1"/>
            </a:lvl1pPr>
          </a:lstStyle>
          <a:p/>
        </p:txBody>
      </p:sp>
      <p:sp>
        <p:nvSpPr>
          <p:cNvPr id="36" name="Content Placeholder 5"/>
          <p:cNvSpPr>
            <a:spLocks noGrp="1"/>
          </p:cNvSpPr>
          <p:nvPr>
            <p:ph idx="4"/>
          </p:nvPr>
        </p:nvSpPr>
        <p:spPr>
          <a:xfrm>
            <a:off x="6197600" y="2514600"/>
            <a:ext cx="5232400" cy="3670300"/>
          </a:xfrm>
          <a:prstGeom prst="rect">
            <a:avLst/>
          </a:prstGeom>
        </p:spPr>
        <p:txBody>
          <a:bodyPr anchor="t">
            <a:normAutofit/>
          </a:bodyPr>
          <a:lstStyle/>
          <a:p/>
        </p:txBody>
      </p:sp>
      <p:sp>
        <p:nvSpPr>
          <p:cNvPr id="37"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38"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39"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BF533E07-937E-4FED-8300-891295843456}" type="slidenum">
              <a:rPr/>
              <a:t>‹#›</a:t>
            </a:fl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1" name="Title 1"/>
          <p:cNvSpPr>
            <a:spLocks noGrp="1"/>
          </p:cNvSpPr>
          <p:nvPr>
            <p:ph type="title"/>
          </p:nvPr>
        </p:nvSpPr>
        <p:spPr>
          <a:xfrm>
            <a:off x="762000" y="368300"/>
            <a:ext cx="10668000" cy="1320800"/>
          </a:xfrm>
          <a:prstGeom prst="rect">
            <a:avLst/>
          </a:prstGeom>
        </p:spPr>
        <p:txBody>
          <a:bodyPr anchor="ctr">
            <a:normAutofit/>
          </a:bodyPr>
          <a:lstStyle/>
          <a:p/>
        </p:txBody>
      </p:sp>
      <p:sp>
        <p:nvSpPr>
          <p:cNvPr id="42"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43"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44"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7A28B55B-FA15-48BA-860D-0231187503D9}" type="slidenum">
              <a:rPr/>
              <a:t>‹#›</a:t>
            </a:fl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6"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47"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48"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00E0EBC0-ADA9-4FA7-889C-9287646BC794}" type="slidenum">
              <a:rPr/>
              <a:t>‹#›</a:t>
            </a:fl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0" name="Title 1"/>
          <p:cNvSpPr>
            <a:spLocks noGrp="1"/>
          </p:cNvSpPr>
          <p:nvPr>
            <p:ph type="title"/>
          </p:nvPr>
        </p:nvSpPr>
        <p:spPr>
          <a:xfrm>
            <a:off x="762000" y="457200"/>
            <a:ext cx="4089400" cy="1600200"/>
          </a:xfrm>
          <a:prstGeom prst="rect">
            <a:avLst/>
          </a:prstGeom>
        </p:spPr>
        <p:txBody>
          <a:bodyPr anchor="b"/>
          <a:lstStyle>
            <a:lvl1pPr>
              <a:defRPr sz="3200"/>
            </a:lvl1pPr>
          </a:lstStyle>
          <a:p/>
        </p:txBody>
      </p:sp>
      <p:sp>
        <p:nvSpPr>
          <p:cNvPr id="51" name="Content Placeholder 2"/>
          <p:cNvSpPr>
            <a:spLocks noGrp="1"/>
          </p:cNvSpPr>
          <p:nvPr>
            <p:ph idx="1"/>
          </p:nvPr>
        </p:nvSpPr>
        <p:spPr>
          <a:xfrm>
            <a:off x="5232400" y="990600"/>
            <a:ext cx="6197600" cy="4876800"/>
          </a:xfrm>
          <a:prstGeom prst="rect">
            <a:avLst/>
          </a:prstGeom>
        </p:spPr>
        <p:txBody>
          <a:bodyPr anchor="t">
            <a:normAutofit/>
          </a:bodyPr>
          <a:lstStyle/>
          <a:p/>
        </p:txBody>
      </p:sp>
      <p:sp>
        <p:nvSpPr>
          <p:cNvPr id="52" name="Text Placeholder 3"/>
          <p:cNvSpPr>
            <a:spLocks noGrp="1"/>
          </p:cNvSpPr>
          <p:nvPr>
            <p:ph type="body" idx="2"/>
          </p:nvPr>
        </p:nvSpPr>
        <p:spPr>
          <a:xfrm>
            <a:off x="762000" y="2057400"/>
            <a:ext cx="4089400" cy="3810000"/>
          </a:xfrm>
          <a:prstGeom prst="rect">
            <a:avLst/>
          </a:prstGeom>
        </p:spPr>
        <p:txBody>
          <a:bodyPr anchor="t">
            <a:normAutofit/>
          </a:bodyPr>
          <a:lstStyle>
            <a:lvl1pPr marL="0" indent="0">
              <a:buNone/>
              <a:defRPr sz="1600"/>
            </a:lvl1pPr>
          </a:lstStyle>
          <a:p/>
        </p:txBody>
      </p:sp>
      <p:sp>
        <p:nvSpPr>
          <p:cNvPr id="53"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54"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55"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7DA25AB8-FB3A-479C-8780-0B7E5F586C0F}" type="slidenum">
              <a:rPr/>
              <a:t>‹#›</a:t>
            </a:fl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7" name="Title 1"/>
          <p:cNvSpPr>
            <a:spLocks noGrp="1"/>
          </p:cNvSpPr>
          <p:nvPr>
            <p:ph type="title"/>
          </p:nvPr>
        </p:nvSpPr>
        <p:spPr>
          <a:xfrm>
            <a:off x="762000" y="457200"/>
            <a:ext cx="4089400" cy="1600200"/>
          </a:xfrm>
          <a:prstGeom prst="rect">
            <a:avLst/>
          </a:prstGeom>
        </p:spPr>
        <p:txBody>
          <a:bodyPr anchor="b"/>
          <a:lstStyle>
            <a:lvl1pPr>
              <a:defRPr sz="3200"/>
            </a:lvl1pPr>
          </a:lstStyle>
          <a:p/>
        </p:txBody>
      </p:sp>
      <p:sp>
        <p:nvSpPr>
          <p:cNvPr id="58" name="Picture Placeholder 2"/>
          <p:cNvSpPr>
            <a:spLocks noGrp="1"/>
          </p:cNvSpPr>
          <p:nvPr>
            <p:ph type="pic" idx="1"/>
          </p:nvPr>
        </p:nvSpPr>
        <p:spPr>
          <a:xfrm>
            <a:off x="5232400" y="990600"/>
            <a:ext cx="6197600" cy="4876800"/>
          </a:xfrm>
          <a:prstGeom prst="rect">
            <a:avLst/>
          </a:prstGeom>
        </p:spPr>
        <p:txBody>
          <a:bodyPr/>
          <a:lstStyle/>
          <a:p/>
        </p:txBody>
      </p:sp>
      <p:sp>
        <p:nvSpPr>
          <p:cNvPr id="59" name="Text Placeholder 3"/>
          <p:cNvSpPr>
            <a:spLocks noGrp="1"/>
          </p:cNvSpPr>
          <p:nvPr>
            <p:ph type="body" idx="2"/>
          </p:nvPr>
        </p:nvSpPr>
        <p:spPr>
          <a:xfrm>
            <a:off x="762000" y="2057400"/>
            <a:ext cx="4089400" cy="3810000"/>
          </a:xfrm>
          <a:prstGeom prst="rect">
            <a:avLst/>
          </a:prstGeom>
        </p:spPr>
        <p:txBody>
          <a:bodyPr anchor="t">
            <a:normAutofit/>
          </a:bodyPr>
          <a:lstStyle>
            <a:lvl1pPr marL="0" indent="0">
              <a:buNone/>
              <a:defRPr sz="1600"/>
            </a:lvl1pPr>
          </a:lstStyle>
          <a:p/>
        </p:txBody>
      </p:sp>
      <p:sp>
        <p:nvSpPr>
          <p:cNvPr id="60"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61"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62"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5AEFC29A-6C4F-4141-86E3-1A3E2D58E3A2}" type="slidenum">
              <a:rPr/>
              <a:t>‹#›</a:t>
            </a:fl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64" name="Title 1"/>
          <p:cNvSpPr>
            <a:spLocks noGrp="1"/>
          </p:cNvSpPr>
          <p:nvPr>
            <p:ph type="title"/>
          </p:nvPr>
        </p:nvSpPr>
        <p:spPr>
          <a:xfrm>
            <a:off x="762000" y="368300"/>
            <a:ext cx="10668000" cy="1320800"/>
          </a:xfrm>
          <a:prstGeom prst="rect">
            <a:avLst/>
          </a:prstGeom>
        </p:spPr>
        <p:txBody>
          <a:bodyPr anchor="ctr">
            <a:normAutofit/>
          </a:bodyPr>
          <a:lstStyle/>
          <a:p/>
        </p:txBody>
      </p:sp>
      <p:sp>
        <p:nvSpPr>
          <p:cNvPr id="65" name="Vertical Text Placeholder 2"/>
          <p:cNvSpPr>
            <a:spLocks noGrp="1"/>
          </p:cNvSpPr>
          <p:nvPr>
            <p:ph type="body" orient="vert" idx="1"/>
          </p:nvPr>
        </p:nvSpPr>
        <p:spPr>
          <a:xfrm>
            <a:off x="762000" y="1828800"/>
            <a:ext cx="10668000" cy="4356100"/>
          </a:xfrm>
          <a:prstGeom prst="rect">
            <a:avLst/>
          </a:prstGeom>
        </p:spPr>
        <p:txBody>
          <a:bodyPr vert="eaVert" anchor="t">
            <a:normAutofit/>
          </a:bodyPr>
          <a:lstStyle/>
          <a:p/>
        </p:txBody>
      </p:sp>
      <p:sp>
        <p:nvSpPr>
          <p:cNvPr id="66"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67"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68"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DE19C649-D3E0-46CB-87C1-67136E4226A6}" type="slidenum">
              <a:rPr/>
              <a:t>‹#›</a:t>
            </a:fl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0" name="Vertical Title 1"/>
          <p:cNvSpPr>
            <a:spLocks noGrp="1"/>
          </p:cNvSpPr>
          <p:nvPr>
            <p:ph type="title" orient="vert"/>
          </p:nvPr>
        </p:nvSpPr>
        <p:spPr>
          <a:xfrm>
            <a:off x="8724900" y="368300"/>
            <a:ext cx="2705100" cy="5816600"/>
          </a:xfrm>
          <a:prstGeom prst="rect">
            <a:avLst/>
          </a:prstGeom>
        </p:spPr>
        <p:txBody>
          <a:bodyPr vert="eaVert"/>
          <a:lstStyle/>
          <a:p/>
        </p:txBody>
      </p:sp>
      <p:sp>
        <p:nvSpPr>
          <p:cNvPr id="71" name="Vertical Text Placeholder 2"/>
          <p:cNvSpPr>
            <a:spLocks noGrp="1"/>
          </p:cNvSpPr>
          <p:nvPr>
            <p:ph type="body" orient="vert" idx="1"/>
          </p:nvPr>
        </p:nvSpPr>
        <p:spPr>
          <a:xfrm>
            <a:off x="762000" y="368300"/>
            <a:ext cx="7772400" cy="5816600"/>
          </a:xfrm>
          <a:prstGeom prst="rect">
            <a:avLst/>
          </a:prstGeom>
        </p:spPr>
        <p:txBody>
          <a:bodyPr vert="eaVert" anchor="t">
            <a:normAutofit/>
          </a:bodyPr>
          <a:lstStyle/>
          <a:p/>
        </p:txBody>
      </p:sp>
      <p:sp>
        <p:nvSpPr>
          <p:cNvPr id="72"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73"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74"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20EBE78A-EB3E-401E-81B5-D7F53201DAF3}" type="slidenum">
              <a:rPr/>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DeckCraf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2000" y="368300"/>
            <a:ext cx="10668000" cy="1320800"/>
          </a:xfrm>
          <a:prstGeom prst="rect">
            <a:avLst/>
          </a:prstGeom>
        </p:spPr>
        <p:txBody>
          <a:bodyPr anchor="ctr">
            <a:normAutofit/>
          </a:bodyPr>
          <a:lstStyle/>
          <a:p>
            <a:r>
              <a:rPr/>
              <a:t>Click to edit Master title style</a:t>
            </a:r>
          </a:p>
        </p:txBody>
      </p:sp>
      <p:sp>
        <p:nvSpPr>
          <p:cNvPr id="3" name="Text Placeholder 2"/>
          <p:cNvSpPr>
            <a:spLocks noGrp="1"/>
          </p:cNvSpPr>
          <p:nvPr>
            <p:ph type="body" idx="1"/>
          </p:nvPr>
        </p:nvSpPr>
        <p:spPr>
          <a:xfrm>
            <a:off x="762000" y="1828800"/>
            <a:ext cx="10668000" cy="4356100"/>
          </a:xfrm>
          <a:prstGeom prst="rect">
            <a:avLst/>
          </a:prstGeom>
        </p:spPr>
        <p:txBody>
          <a:bodyPr anchor="t">
            <a:normAutofit/>
          </a:bodyPr>
          <a:lstStyle/>
          <a:p>
            <a:r>
              <a:rPr/>
              <a:t>Click to edit Master text styles</a:t>
            </a:r>
          </a:p>
        </p:txBody>
      </p:sp>
      <p:sp>
        <p:nvSpPr>
          <p:cNvPr id="4"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5"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6"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473D6AB1-0FDA-49F1-8390-8828CE9E6676}" type="slidenum">
              <a:rPr/>
              <a:t>‹#›</a:t>
            </a:fld>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a:lnSpc>
          <a:spcPct val="90000"/>
        </a:lnSpc>
        <a:spcBef>
          <a:spcPts val="0"/>
        </a:spcBef>
        <a:buNone/>
        <a:defRPr sz="4400" kern="1200">
          <a:solidFill>
            <a:schemeClr val="tx1"/>
          </a:solidFill>
          <a:latin typeface="+mj-lt"/>
        </a:defRPr>
      </a:lvl1pPr>
    </p:titleStyle>
    <p:bodyStyle>
      <a:lvl1pPr marL="228600" indent="-228600" algn="l">
        <a:lnSpc>
          <a:spcPct val="90000"/>
        </a:lnSpc>
        <a:spcBef>
          <a:spcPts val="1000"/>
        </a:spcBef>
        <a:buFont typeface="Arial"/>
        <a:buChar char="•"/>
        <a:defRPr sz="2800" kern="1200">
          <a:solidFill>
            <a:schemeClr val="tx1"/>
          </a:solidFill>
          <a:latin typeface="+mn-lt"/>
        </a:defRPr>
      </a:lvl1pPr>
      <a:lvl2pPr marL="685800" indent="-228600" algn="l">
        <a:lnSpc>
          <a:spcPct val="90000"/>
        </a:lnSpc>
        <a:spcBef>
          <a:spcPts val="500"/>
        </a:spcBef>
        <a:buFont typeface="Arial"/>
        <a:buChar char="•"/>
        <a:defRPr sz="2400" kern="1200">
          <a:solidFill>
            <a:schemeClr val="tx1"/>
          </a:solidFill>
          <a:latin typeface="+mn-lt"/>
        </a:defRPr>
      </a:lvl2pPr>
      <a:lvl3pPr marL="1143000" indent="-228600" algn="l">
        <a:lnSpc>
          <a:spcPct val="90000"/>
        </a:lnSpc>
        <a:spcBef>
          <a:spcPts val="500"/>
        </a:spcBef>
        <a:buFont typeface="Arial"/>
        <a:buChar char="•"/>
        <a:defRPr sz="2000" kern="1200">
          <a:solidFill>
            <a:schemeClr val="tx1"/>
          </a:solidFill>
          <a:latin typeface="+mn-lt"/>
        </a:defRPr>
      </a:lvl3pPr>
      <a:lvl4pPr marL="1600200" indent="-228600" algn="l">
        <a:lnSpc>
          <a:spcPct val="90000"/>
        </a:lnSpc>
        <a:spcBef>
          <a:spcPts val="500"/>
        </a:spcBef>
        <a:buFont typeface="Arial"/>
        <a:buChar char="•"/>
        <a:defRPr sz="1800" kern="1200">
          <a:solidFill>
            <a:schemeClr val="tx1"/>
          </a:solidFill>
          <a:latin typeface="+mn-lt"/>
        </a:defRPr>
      </a:lvl4pPr>
      <a:lvl5pPr marL="2057400" indent="-228600" algn="l">
        <a:lnSpc>
          <a:spcPct val="90000"/>
        </a:lnSpc>
        <a:spcBef>
          <a:spcPts val="500"/>
        </a:spcBef>
        <a:buFont typeface="Arial"/>
        <a:buChar char="•"/>
        <a:defRPr sz="1800" kern="1200">
          <a:solidFill>
            <a:schemeClr val="tx1"/>
          </a:solidFill>
          <a:latin typeface="+mn-lt"/>
        </a:defRPr>
      </a:lvl5pPr>
      <a:lvl6pPr marL="2514600" indent="-228600" algn="l">
        <a:lnSpc>
          <a:spcPct val="90000"/>
        </a:lnSpc>
        <a:spcBef>
          <a:spcPts val="500"/>
        </a:spcBef>
        <a:buFont typeface="Arial"/>
        <a:buChar char="•"/>
        <a:defRPr sz="1800" kern="1200">
          <a:solidFill>
            <a:schemeClr val="tx1"/>
          </a:solidFill>
          <a:latin typeface="+mn-lt"/>
        </a:defRPr>
      </a:lvl6pPr>
      <a:lvl7pPr marL="2971800" indent="-228600" algn="l">
        <a:lnSpc>
          <a:spcPct val="90000"/>
        </a:lnSpc>
        <a:spcBef>
          <a:spcPts val="500"/>
        </a:spcBef>
        <a:buFont typeface="Arial"/>
        <a:buChar char="•"/>
        <a:defRPr sz="1800" kern="1200">
          <a:solidFill>
            <a:schemeClr val="tx1"/>
          </a:solidFill>
          <a:latin typeface="+mn-lt"/>
        </a:defRPr>
      </a:lvl7pPr>
      <a:lvl8pPr marL="3429000" indent="-228600" algn="l">
        <a:lnSpc>
          <a:spcPct val="90000"/>
        </a:lnSpc>
        <a:spcBef>
          <a:spcPts val="500"/>
        </a:spcBef>
        <a:buFont typeface="Arial"/>
        <a:buChar char="•"/>
        <a:defRPr sz="1800" kern="1200">
          <a:solidFill>
            <a:schemeClr val="tx1"/>
          </a:solidFill>
          <a:latin typeface="+mn-lt"/>
        </a:defRPr>
      </a:lvl8pPr>
      <a:lvl9pPr marL="3886200" indent="-228600" algn="l">
        <a:lnSpc>
          <a:spcPct val="90000"/>
        </a:lnSpc>
        <a:spcBef>
          <a:spcPts val="500"/>
        </a:spcBef>
        <a:buFont typeface="Arial"/>
        <a:buChar char="•"/>
        <a:defRPr sz="1800" kern="1200">
          <a:solidFill>
            <a:schemeClr val="tx1"/>
          </a:solidFill>
          <a:latin typeface="+mn-lt"/>
        </a:defRPr>
      </a:lvl9pPr>
    </p:bodyStyle>
    <p:otherStyle>
      <a:lvl1pPr marL="0" algn="l">
        <a:defRPr sz="1800" kern="1200">
          <a:solidFill>
            <a:schemeClr val="tx1"/>
          </a:solidFill>
          <a:latin typeface="+mn-lt"/>
        </a:defRPr>
      </a:lvl1pPr>
      <a:lvl2pPr marL="457200" algn="l">
        <a:defRPr sz="1800" kern="1200">
          <a:solidFill>
            <a:schemeClr val="tx1"/>
          </a:solidFill>
          <a:latin typeface="+mn-lt"/>
        </a:defRPr>
      </a:lvl2pPr>
      <a:lvl3pPr marL="914400" algn="l">
        <a:defRPr sz="1800" kern="1200">
          <a:solidFill>
            <a:schemeClr val="tx1"/>
          </a:solidFill>
          <a:latin typeface="+mn-lt"/>
        </a:defRPr>
      </a:lvl3pPr>
      <a:lvl4pPr marL="1371600" algn="l">
        <a:defRPr sz="1800" kern="1200">
          <a:solidFill>
            <a:schemeClr val="tx1"/>
          </a:solidFill>
          <a:latin typeface="+mn-lt"/>
        </a:defRPr>
      </a:lvl4pPr>
      <a:lvl5pPr marL="1828800" algn="l">
        <a:defRPr sz="1800" kern="1200">
          <a:solidFill>
            <a:schemeClr val="tx1"/>
          </a:solidFill>
          <a:latin typeface="+mn-lt"/>
        </a:defRPr>
      </a:lvl5pPr>
      <a:lvl6pPr marL="2286000" algn="l">
        <a:defRPr sz="1800" kern="1200">
          <a:solidFill>
            <a:schemeClr val="tx1"/>
          </a:solidFill>
          <a:latin typeface="+mn-lt"/>
        </a:defRPr>
      </a:lvl6pPr>
      <a:lvl7pPr marL="2743200" algn="l">
        <a:defRPr sz="1800" kern="1200">
          <a:solidFill>
            <a:schemeClr val="tx1"/>
          </a:solidFill>
          <a:latin typeface="+mn-lt"/>
        </a:defRPr>
      </a:lvl7pPr>
      <a:lvl8pPr marL="3200400" algn="l">
        <a:defRPr sz="1800" kern="1200">
          <a:solidFill>
            <a:schemeClr val="tx1"/>
          </a:solidFill>
          <a:latin typeface="+mn-lt"/>
        </a:defRPr>
      </a:lvl8pPr>
      <a:lvl9pPr marL="3657600" algn="l">
        <a:defRPr sz="1800" kern="120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Rectangle 1"/>
          <p:cNvSpPr/>
          <p:nvPr/>
        </p:nvSpPr>
        <p:spPr>
          <a:xfrm>
            <a:off x="0" y="0"/>
            <a:ext cx="12192000" cy="6858000"/>
          </a:xfrm>
          <a:prstGeom prst="rect">
            <a:avLst/>
          </a:prstGeom>
          <a:solidFill>
            <a:srgbClr val="0E1B1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259" name="TextBox 2"/>
          <p:cNvSpPr txBox="1"/>
          <p:nvPr/>
        </p:nvSpPr>
        <p:spPr>
          <a:xfrm>
            <a:off x="762000" y="1905000"/>
            <a:ext cx="10668000" cy="1812488"/>
          </a:xfrm>
          <a:prstGeom prst="rect">
            <a:avLst/>
          </a:prstGeom>
        </p:spPr>
        <p:txBody>
          <a:bodyPr wrap="square">
            <a:spAutoFit/>
          </a:bodyPr>
          <a:lstStyle/>
          <a:p>
            <a:r>
              <a:rPr sz="5600" b="1">
                <a:solidFill>
                  <a:srgbClr val="F7F8F0"/>
                </a:solidFill>
              </a:rPr>
              <a:t>MCIT Annual Digital Report 2026</a:t>
            </a:r>
            <a:endParaRPr sz="5600" b="1">
              <a:solidFill>
                <a:srgbClr val="F7F8F0"/>
              </a:solidFill>
            </a:endParaRPr>
          </a:p>
        </p:txBody>
      </p:sp>
      <p:sp>
        <p:nvSpPr>
          <p:cNvPr id="260" name="TextBox 3"/>
          <p:cNvSpPr txBox="1"/>
          <p:nvPr/>
        </p:nvSpPr>
        <p:spPr>
          <a:xfrm>
            <a:off x="762000" y="3683000"/>
            <a:ext cx="10668000" cy="460236"/>
          </a:xfrm>
          <a:prstGeom prst="rect">
            <a:avLst/>
          </a:prstGeom>
        </p:spPr>
        <p:txBody>
          <a:bodyPr wrap="square">
            <a:spAutoFit/>
          </a:bodyPr>
          <a:lstStyle/>
          <a:p>
            <a:r>
              <a:rPr sz="2400">
                <a:solidFill>
                  <a:srgbClr val="A8E063"/>
                </a:solidFill>
              </a:rPr>
              <a:t>Digital Government Services Performance Review</a:t>
            </a:r>
            <a:endParaRPr sz="2400">
              <a:solidFill>
                <a:srgbClr val="A8E063"/>
              </a:solidFill>
            </a:endParaRPr>
          </a:p>
        </p:txBody>
      </p:sp>
      <p:sp>
        <p:nvSpPr>
          <p:cNvPr id="261" name="TextBox 4"/>
          <p:cNvSpPr txBox="1"/>
          <p:nvPr/>
        </p:nvSpPr>
        <p:spPr>
          <a:xfrm>
            <a:off x="762000" y="5334000"/>
            <a:ext cx="10668000" cy="368037"/>
          </a:xfrm>
          <a:prstGeom prst="rect">
            <a:avLst/>
          </a:prstGeom>
        </p:spPr>
        <p:txBody>
          <a:bodyPr wrap="square">
            <a:spAutoFit/>
          </a:bodyPr>
          <a:lstStyle/>
          <a:p>
            <a:r>
              <a:rPr sz="1800">
                <a:solidFill>
                  <a:srgbClr val="B9C2CE"/>
                </a:solidFill>
              </a:rPr>
              <a:t>Ministry of Communications and Information Technology  |  October 2026</a:t>
            </a:r>
            <a:endParaRPr sz="1800">
              <a:solidFill>
                <a:srgbClr val="B9C2CE"/>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Rectangle 1"/>
          <p:cNvSpPr/>
          <p:nvPr/>
        </p:nvSpPr>
        <p:spPr>
          <a:xfrm>
            <a:off x="0" y="0"/>
            <a:ext cx="12192000" cy="6858000"/>
          </a:xfrm>
          <a:prstGeom prst="rect">
            <a:avLst/>
          </a:prstGeom>
          <a:solidFill>
            <a:srgbClr val="0E1B1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264" name="TextBox 2"/>
          <p:cNvSpPr txBox="1"/>
          <p:nvPr/>
        </p:nvSpPr>
        <p:spPr>
          <a:xfrm>
            <a:off x="762000" y="457200"/>
            <a:ext cx="10668000" cy="706100"/>
          </a:xfrm>
          <a:prstGeom prst="rect">
            <a:avLst/>
          </a:prstGeom>
        </p:spPr>
        <p:txBody>
          <a:bodyPr wrap="square">
            <a:spAutoFit/>
          </a:bodyPr>
          <a:lstStyle/>
          <a:p>
            <a:r>
              <a:rPr sz="4000" b="1">
                <a:solidFill>
                  <a:srgbClr val="F7F8F0"/>
                </a:solidFill>
              </a:rPr>
              <a:t>Agenda</a:t>
            </a:r>
            <a:endParaRPr sz="4000" b="1">
              <a:solidFill>
                <a:srgbClr val="F7F8F0"/>
              </a:solidFill>
            </a:endParaRPr>
          </a:p>
        </p:txBody>
      </p:sp>
      <p:sp>
        <p:nvSpPr>
          <p:cNvPr id="265" name="Rectangle 3"/>
          <p:cNvSpPr/>
          <p:nvPr/>
        </p:nvSpPr>
        <p:spPr>
          <a:xfrm>
            <a:off x="762000" y="1625600"/>
            <a:ext cx="1016000" cy="76200"/>
          </a:xfrm>
          <a:prstGeom prst="rect">
            <a:avLst/>
          </a:prstGeom>
          <a:solidFill>
            <a:srgbClr val="A8E06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266" name="TextBox 4"/>
          <p:cNvSpPr txBox="1"/>
          <p:nvPr/>
        </p:nvSpPr>
        <p:spPr>
          <a:xfrm>
            <a:off x="762000" y="2286000"/>
            <a:ext cx="10668000" cy="3877747"/>
          </a:xfrm>
          <a:prstGeom prst="rect">
            <a:avLst/>
          </a:prstGeom>
        </p:spPr>
        <p:txBody>
          <a:bodyPr wrap="square">
            <a:spAutoFit/>
          </a:bodyPr>
          <a:lstStyle/>
          <a:p>
            <a:pPr>
              <a:lnSpc>
                <a:spcPct val="160000"/>
              </a:lnSpc>
            </a:pPr>
            <a:r>
              <a:rPr sz="2200">
                <a:solidFill>
                  <a:srgbClr val="F7F8F0"/>
                </a:solidFill>
              </a:rPr>
              <a:t>•  Executive Summary and Key Metrics</a:t>
            </a:r>
            <a:endParaRPr sz="2200">
              <a:solidFill>
                <a:srgbClr val="F7F8F0"/>
              </a:solidFill>
            </a:endParaRPr>
          </a:p>
          <a:p>
            <a:pPr>
              <a:lnSpc>
                <a:spcPct val="160000"/>
              </a:lnSpc>
            </a:pPr>
            <a:r>
              <a:rPr sz="2200">
                <a:solidFill>
                  <a:srgbClr val="F7F8F0"/>
                </a:solidFill>
              </a:rPr>
              <a:t>•  Digital Services Performance</a:t>
            </a:r>
            <a:endParaRPr sz="2200">
              <a:solidFill>
                <a:srgbClr val="F7F8F0"/>
              </a:solidFill>
            </a:endParaRPr>
          </a:p>
          <a:p>
            <a:pPr>
              <a:lnSpc>
                <a:spcPct val="160000"/>
              </a:lnSpc>
            </a:pPr>
            <a:r>
              <a:rPr sz="2200">
                <a:solidFill>
                  <a:srgbClr val="F7F8F0"/>
                </a:solidFill>
              </a:rPr>
              <a:t>•  Citizen Journey and Satisfaction</a:t>
            </a:r>
            <a:endParaRPr sz="2200">
              <a:solidFill>
                <a:srgbClr val="F7F8F0"/>
              </a:solidFill>
            </a:endParaRPr>
          </a:p>
          <a:p>
            <a:pPr>
              <a:lnSpc>
                <a:spcPct val="160000"/>
              </a:lnSpc>
            </a:pPr>
            <a:r>
              <a:rPr sz="2200">
                <a:solidFill>
                  <a:srgbClr val="F7F8F0"/>
                </a:solidFill>
              </a:rPr>
              <a:t>•  Regional Adoption Analysis</a:t>
            </a:r>
            <a:endParaRPr sz="2200">
              <a:solidFill>
                <a:srgbClr val="F7F8F0"/>
              </a:solidFill>
            </a:endParaRPr>
          </a:p>
          <a:p>
            <a:pPr>
              <a:lnSpc>
                <a:spcPct val="160000"/>
              </a:lnSpc>
            </a:pPr>
            <a:r>
              <a:rPr sz="2200">
                <a:solidFill>
                  <a:srgbClr val="F7F8F0"/>
                </a:solidFill>
              </a:rPr>
              <a:t>•  Security, Quality and Challenges</a:t>
            </a:r>
            <a:endParaRPr sz="2200">
              <a:solidFill>
                <a:srgbClr val="F7F8F0"/>
              </a:solidFill>
            </a:endParaRPr>
          </a:p>
          <a:p>
            <a:pPr>
              <a:lnSpc>
                <a:spcPct val="160000"/>
              </a:lnSpc>
            </a:pPr>
            <a:r>
              <a:rPr sz="2200">
                <a:solidFill>
                  <a:srgbClr val="F7F8F0"/>
                </a:solidFill>
              </a:rPr>
              <a:t>•  2027 Strategy and Investment</a:t>
            </a:r>
            <a:endParaRPr sz="2200">
              <a:solidFill>
                <a:srgbClr val="F7F8F0"/>
              </a:solidFill>
            </a:endParaRPr>
          </a:p>
          <a:p>
            <a:pPr>
              <a:lnSpc>
                <a:spcPct val="160000"/>
              </a:lnSpc>
            </a:pPr>
            <a:r>
              <a:rPr sz="2200">
                <a:solidFill>
                  <a:srgbClr val="F7F8F0"/>
                </a:solidFill>
              </a:rPr>
              <a:t>•  Roadmap and Call to Action</a:t>
            </a:r>
            <a:endParaRPr sz="2200">
              <a:solidFill>
                <a:srgbClr val="F7F8F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 name="Rectangle 1"/>
          <p:cNvSpPr/>
          <p:nvPr/>
        </p:nvSpPr>
        <p:spPr>
          <a:xfrm>
            <a:off x="0" y="0"/>
            <a:ext cx="12192000" cy="6858000"/>
          </a:xfrm>
          <a:prstGeom prst="rect">
            <a:avLst/>
          </a:prstGeom>
          <a:solidFill>
            <a:srgbClr val="0E1B1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269" name="TextBox 2"/>
          <p:cNvSpPr txBox="1"/>
          <p:nvPr/>
        </p:nvSpPr>
        <p:spPr>
          <a:xfrm>
            <a:off x="762000" y="457200"/>
            <a:ext cx="10668000" cy="706100"/>
          </a:xfrm>
          <a:prstGeom prst="rect">
            <a:avLst/>
          </a:prstGeom>
        </p:spPr>
        <p:txBody>
          <a:bodyPr wrap="square">
            <a:spAutoFit/>
          </a:bodyPr>
          <a:lstStyle/>
          <a:p>
            <a:r>
              <a:rPr sz="4000" b="1">
                <a:solidFill>
                  <a:srgbClr val="F7F8F0"/>
                </a:solidFill>
              </a:rPr>
              <a:t>Executive Summary</a:t>
            </a:r>
            <a:endParaRPr sz="4000" b="1">
              <a:solidFill>
                <a:srgbClr val="F7F8F0"/>
              </a:solidFill>
            </a:endParaRPr>
          </a:p>
        </p:txBody>
      </p:sp>
      <p:sp>
        <p:nvSpPr>
          <p:cNvPr id="270" name="Rectangle 3"/>
          <p:cNvSpPr/>
          <p:nvPr/>
        </p:nvSpPr>
        <p:spPr>
          <a:xfrm>
            <a:off x="762000" y="1625600"/>
            <a:ext cx="1016000" cy="76200"/>
          </a:xfrm>
          <a:prstGeom prst="rect">
            <a:avLst/>
          </a:prstGeom>
          <a:solidFill>
            <a:srgbClr val="A8E06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271" name="TextBox 4"/>
          <p:cNvSpPr txBox="1"/>
          <p:nvPr/>
        </p:nvSpPr>
        <p:spPr>
          <a:xfrm>
            <a:off x="762000" y="2159000"/>
            <a:ext cx="10668000" cy="2550081"/>
          </a:xfrm>
          <a:prstGeom prst="rect">
            <a:avLst/>
          </a:prstGeom>
        </p:spPr>
        <p:txBody>
          <a:bodyPr wrap="square">
            <a:spAutoFit/>
          </a:bodyPr>
          <a:lstStyle/>
          <a:p>
            <a:pPr>
              <a:lnSpc>
                <a:spcPct val="160000"/>
              </a:lnSpc>
            </a:pPr>
            <a:r>
              <a:rPr sz="2000">
                <a:solidFill>
                  <a:srgbClr val="F7F8F0"/>
                </a:solidFill>
              </a:rPr>
              <a:t>Egypt's digital government services reached a historic milestone in 2026, with 2.4 million citizens onboarded and 68 percent of all services fully digitized. AI-powered processing reduced average service time to 4.2 seconds. Citizen satisfaction reached 91 percent, the highest ever recorded. This report reviews performance across all service categories and sets the strategic direction for 2027.</a:t>
            </a:r>
            <a:endParaRPr sz="2000">
              <a:solidFill>
                <a:srgbClr val="F7F8F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Rectangle 1"/>
          <p:cNvSpPr/>
          <p:nvPr/>
        </p:nvSpPr>
        <p:spPr>
          <a:xfrm>
            <a:off x="0" y="0"/>
            <a:ext cx="12192000" cy="6858000"/>
          </a:xfrm>
          <a:prstGeom prst="rect">
            <a:avLst/>
          </a:prstGeom>
          <a:solidFill>
            <a:srgbClr val="0E1B1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274" name="TextBox 2"/>
          <p:cNvSpPr txBox="1"/>
          <p:nvPr/>
        </p:nvSpPr>
        <p:spPr>
          <a:xfrm>
            <a:off x="762000" y="457200"/>
            <a:ext cx="10668000" cy="706100"/>
          </a:xfrm>
          <a:prstGeom prst="rect">
            <a:avLst/>
          </a:prstGeom>
        </p:spPr>
        <p:txBody>
          <a:bodyPr wrap="square">
            <a:spAutoFit/>
          </a:bodyPr>
          <a:lstStyle/>
          <a:p>
            <a:r>
              <a:rPr sz="4000" b="1">
                <a:solidFill>
                  <a:srgbClr val="F7F8F0"/>
                </a:solidFill>
              </a:rPr>
              <a:t>Key Metrics at a Glance</a:t>
            </a:r>
            <a:endParaRPr sz="4000" b="1">
              <a:solidFill>
                <a:srgbClr val="F7F8F0"/>
              </a:solidFill>
            </a:endParaRPr>
          </a:p>
        </p:txBody>
      </p:sp>
      <p:sp>
        <p:nvSpPr>
          <p:cNvPr id="275" name="Rectangle 3"/>
          <p:cNvSpPr/>
          <p:nvPr/>
        </p:nvSpPr>
        <p:spPr>
          <a:xfrm>
            <a:off x="762000" y="1625600"/>
            <a:ext cx="1016000" cy="76200"/>
          </a:xfrm>
          <a:prstGeom prst="rect">
            <a:avLst/>
          </a:prstGeom>
          <a:solidFill>
            <a:srgbClr val="A8E06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276" name="Rectangle 4"/>
          <p:cNvSpPr/>
          <p:nvPr/>
        </p:nvSpPr>
        <p:spPr>
          <a:xfrm>
            <a:off x="762000" y="2413000"/>
            <a:ext cx="2413000" cy="2286000"/>
          </a:xfrm>
          <a:prstGeom prst="roundRect">
            <a:avLst/>
          </a:prstGeom>
          <a:solidFill>
            <a:srgbClr val="152A2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277" name="TextBox 5"/>
          <p:cNvSpPr txBox="1"/>
          <p:nvPr/>
        </p:nvSpPr>
        <p:spPr>
          <a:xfrm>
            <a:off x="762000" y="2730500"/>
            <a:ext cx="2413000" cy="767566"/>
          </a:xfrm>
          <a:prstGeom prst="rect">
            <a:avLst/>
          </a:prstGeom>
        </p:spPr>
        <p:txBody>
          <a:bodyPr wrap="square">
            <a:spAutoFit/>
          </a:bodyPr>
          <a:lstStyle/>
          <a:p>
            <a:pPr algn="ctr"/>
            <a:r>
              <a:rPr sz="4400" b="1">
                <a:solidFill>
                  <a:srgbClr val="A8E063"/>
                </a:solidFill>
              </a:rPr>
              <a:t>2.4M</a:t>
            </a:r>
            <a:endParaRPr sz="4400" b="1">
              <a:solidFill>
                <a:srgbClr val="A8E063"/>
              </a:solidFill>
            </a:endParaRPr>
          </a:p>
        </p:txBody>
      </p:sp>
      <p:sp>
        <p:nvSpPr>
          <p:cNvPr id="278" name="TextBox 6"/>
          <p:cNvSpPr txBox="1"/>
          <p:nvPr/>
        </p:nvSpPr>
        <p:spPr>
          <a:xfrm>
            <a:off x="762000" y="3619500"/>
            <a:ext cx="2413000" cy="706100"/>
          </a:xfrm>
          <a:prstGeom prst="rect">
            <a:avLst/>
          </a:prstGeom>
        </p:spPr>
        <p:txBody>
          <a:bodyPr wrap="square">
            <a:spAutoFit/>
          </a:bodyPr>
          <a:lstStyle/>
          <a:p>
            <a:pPr algn="ctr"/>
            <a:r>
              <a:rPr sz="2000">
                <a:solidFill>
                  <a:srgbClr val="B9C2CE"/>
                </a:solidFill>
              </a:rPr>
              <a:t>Citizens</a:t>
            </a:r>
            <a:endParaRPr sz="2000">
              <a:solidFill>
                <a:srgbClr val="B9C2CE"/>
              </a:solidFill>
            </a:endParaRPr>
          </a:p>
          <a:p>
            <a:pPr algn="ctr"/>
            <a:r>
              <a:rPr sz="2000">
                <a:solidFill>
                  <a:srgbClr val="B9C2CE"/>
                </a:solidFill>
              </a:rPr>
              <a:t>Onboarded</a:t>
            </a:r>
            <a:endParaRPr sz="2000">
              <a:solidFill>
                <a:srgbClr val="B9C2CE"/>
              </a:solidFill>
            </a:endParaRPr>
          </a:p>
        </p:txBody>
      </p:sp>
      <p:sp>
        <p:nvSpPr>
          <p:cNvPr id="279" name="Rectangle 7"/>
          <p:cNvSpPr/>
          <p:nvPr/>
        </p:nvSpPr>
        <p:spPr>
          <a:xfrm>
            <a:off x="3492500" y="2413000"/>
            <a:ext cx="2413000" cy="2286000"/>
          </a:xfrm>
          <a:prstGeom prst="roundRect">
            <a:avLst/>
          </a:prstGeom>
          <a:solidFill>
            <a:srgbClr val="152A2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280" name="TextBox 8"/>
          <p:cNvSpPr txBox="1"/>
          <p:nvPr/>
        </p:nvSpPr>
        <p:spPr>
          <a:xfrm>
            <a:off x="3492500" y="2730500"/>
            <a:ext cx="2413000" cy="767566"/>
          </a:xfrm>
          <a:prstGeom prst="rect">
            <a:avLst/>
          </a:prstGeom>
        </p:spPr>
        <p:txBody>
          <a:bodyPr wrap="square">
            <a:spAutoFit/>
          </a:bodyPr>
          <a:lstStyle/>
          <a:p>
            <a:pPr algn="ctr"/>
            <a:r>
              <a:rPr sz="4400" b="1">
                <a:solidFill>
                  <a:srgbClr val="A8E063"/>
                </a:solidFill>
              </a:rPr>
              <a:t>68%</a:t>
            </a:r>
            <a:endParaRPr sz="4400" b="1">
              <a:solidFill>
                <a:srgbClr val="A8E063"/>
              </a:solidFill>
            </a:endParaRPr>
          </a:p>
        </p:txBody>
      </p:sp>
      <p:sp>
        <p:nvSpPr>
          <p:cNvPr id="281" name="TextBox 9"/>
          <p:cNvSpPr txBox="1"/>
          <p:nvPr/>
        </p:nvSpPr>
        <p:spPr>
          <a:xfrm>
            <a:off x="3492500" y="3619500"/>
            <a:ext cx="2413000" cy="706100"/>
          </a:xfrm>
          <a:prstGeom prst="rect">
            <a:avLst/>
          </a:prstGeom>
        </p:spPr>
        <p:txBody>
          <a:bodyPr wrap="square">
            <a:spAutoFit/>
          </a:bodyPr>
          <a:lstStyle/>
          <a:p>
            <a:pPr algn="ctr"/>
            <a:r>
              <a:rPr sz="2000">
                <a:solidFill>
                  <a:srgbClr val="B9C2CE"/>
                </a:solidFill>
              </a:rPr>
              <a:t>Services</a:t>
            </a:r>
            <a:endParaRPr sz="2000">
              <a:solidFill>
                <a:srgbClr val="B9C2CE"/>
              </a:solidFill>
            </a:endParaRPr>
          </a:p>
          <a:p>
            <a:pPr algn="ctr"/>
            <a:r>
              <a:rPr sz="2000">
                <a:solidFill>
                  <a:srgbClr val="B9C2CE"/>
                </a:solidFill>
              </a:rPr>
              <a:t>Digitized</a:t>
            </a:r>
            <a:endParaRPr sz="2000">
              <a:solidFill>
                <a:srgbClr val="B9C2CE"/>
              </a:solidFill>
            </a:endParaRPr>
          </a:p>
        </p:txBody>
      </p:sp>
      <p:sp>
        <p:nvSpPr>
          <p:cNvPr id="282" name="Rectangle 10"/>
          <p:cNvSpPr/>
          <p:nvPr/>
        </p:nvSpPr>
        <p:spPr>
          <a:xfrm>
            <a:off x="6223000" y="2413000"/>
            <a:ext cx="2413000" cy="2286000"/>
          </a:xfrm>
          <a:prstGeom prst="roundRect">
            <a:avLst/>
          </a:prstGeom>
          <a:solidFill>
            <a:srgbClr val="152A2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283" name="TextBox 11"/>
          <p:cNvSpPr txBox="1"/>
          <p:nvPr/>
        </p:nvSpPr>
        <p:spPr>
          <a:xfrm>
            <a:off x="6223000" y="2730500"/>
            <a:ext cx="2413000" cy="767566"/>
          </a:xfrm>
          <a:prstGeom prst="rect">
            <a:avLst/>
          </a:prstGeom>
        </p:spPr>
        <p:txBody>
          <a:bodyPr wrap="square">
            <a:spAutoFit/>
          </a:bodyPr>
          <a:lstStyle/>
          <a:p>
            <a:pPr algn="ctr"/>
            <a:r>
              <a:rPr sz="4400" b="1">
                <a:solidFill>
                  <a:srgbClr val="A8E063"/>
                </a:solidFill>
              </a:rPr>
              <a:t>4.2s</a:t>
            </a:r>
            <a:endParaRPr sz="4400" b="1">
              <a:solidFill>
                <a:srgbClr val="A8E063"/>
              </a:solidFill>
            </a:endParaRPr>
          </a:p>
        </p:txBody>
      </p:sp>
      <p:sp>
        <p:nvSpPr>
          <p:cNvPr id="284" name="TextBox 12"/>
          <p:cNvSpPr txBox="1"/>
          <p:nvPr/>
        </p:nvSpPr>
        <p:spPr>
          <a:xfrm>
            <a:off x="6223000" y="3619500"/>
            <a:ext cx="2413000" cy="706100"/>
          </a:xfrm>
          <a:prstGeom prst="rect">
            <a:avLst/>
          </a:prstGeom>
        </p:spPr>
        <p:txBody>
          <a:bodyPr wrap="square">
            <a:spAutoFit/>
          </a:bodyPr>
          <a:lstStyle/>
          <a:p>
            <a:pPr algn="ctr"/>
            <a:r>
              <a:rPr sz="2000">
                <a:solidFill>
                  <a:srgbClr val="B9C2CE"/>
                </a:solidFill>
              </a:rPr>
              <a:t>Avg Service</a:t>
            </a:r>
            <a:endParaRPr sz="2000">
              <a:solidFill>
                <a:srgbClr val="B9C2CE"/>
              </a:solidFill>
            </a:endParaRPr>
          </a:p>
          <a:p>
            <a:pPr algn="ctr"/>
            <a:r>
              <a:rPr sz="2000">
                <a:solidFill>
                  <a:srgbClr val="B9C2CE"/>
                </a:solidFill>
              </a:rPr>
              <a:t>Time</a:t>
            </a:r>
            <a:endParaRPr sz="2000">
              <a:solidFill>
                <a:srgbClr val="B9C2CE"/>
              </a:solidFill>
            </a:endParaRPr>
          </a:p>
        </p:txBody>
      </p:sp>
      <p:sp>
        <p:nvSpPr>
          <p:cNvPr id="285" name="Rectangle 13"/>
          <p:cNvSpPr/>
          <p:nvPr/>
        </p:nvSpPr>
        <p:spPr>
          <a:xfrm>
            <a:off x="8953500" y="2413000"/>
            <a:ext cx="2413000" cy="2286000"/>
          </a:xfrm>
          <a:prstGeom prst="roundRect">
            <a:avLst/>
          </a:prstGeom>
          <a:solidFill>
            <a:srgbClr val="152A2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286" name="TextBox 14"/>
          <p:cNvSpPr txBox="1"/>
          <p:nvPr/>
        </p:nvSpPr>
        <p:spPr>
          <a:xfrm>
            <a:off x="8953500" y="2730500"/>
            <a:ext cx="2413000" cy="767566"/>
          </a:xfrm>
          <a:prstGeom prst="rect">
            <a:avLst/>
          </a:prstGeom>
        </p:spPr>
        <p:txBody>
          <a:bodyPr wrap="square">
            <a:spAutoFit/>
          </a:bodyPr>
          <a:lstStyle/>
          <a:p>
            <a:pPr algn="ctr"/>
            <a:r>
              <a:rPr sz="4400" b="1">
                <a:solidFill>
                  <a:srgbClr val="A8E063"/>
                </a:solidFill>
              </a:rPr>
              <a:t>91%</a:t>
            </a:r>
            <a:endParaRPr sz="4400" b="1">
              <a:solidFill>
                <a:srgbClr val="A8E063"/>
              </a:solidFill>
            </a:endParaRPr>
          </a:p>
        </p:txBody>
      </p:sp>
      <p:sp>
        <p:nvSpPr>
          <p:cNvPr id="287" name="TextBox 15"/>
          <p:cNvSpPr txBox="1"/>
          <p:nvPr/>
        </p:nvSpPr>
        <p:spPr>
          <a:xfrm>
            <a:off x="8953500" y="3619500"/>
            <a:ext cx="2413000" cy="706100"/>
          </a:xfrm>
          <a:prstGeom prst="rect">
            <a:avLst/>
          </a:prstGeom>
        </p:spPr>
        <p:txBody>
          <a:bodyPr wrap="square">
            <a:spAutoFit/>
          </a:bodyPr>
          <a:lstStyle/>
          <a:p>
            <a:pPr algn="ctr"/>
            <a:r>
              <a:rPr sz="2000">
                <a:solidFill>
                  <a:srgbClr val="B9C2CE"/>
                </a:solidFill>
              </a:rPr>
              <a:t>Citizen</a:t>
            </a:r>
            <a:endParaRPr sz="2000">
              <a:solidFill>
                <a:srgbClr val="B9C2CE"/>
              </a:solidFill>
            </a:endParaRPr>
          </a:p>
          <a:p>
            <a:pPr algn="ctr"/>
            <a:r>
              <a:rPr sz="2000">
                <a:solidFill>
                  <a:srgbClr val="B9C2CE"/>
                </a:solidFill>
              </a:rPr>
              <a:t>Satisfaction</a:t>
            </a:r>
            <a:endParaRPr sz="2000">
              <a:solidFill>
                <a:srgbClr val="B9C2CE"/>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 name="Rectangle 1"/>
          <p:cNvSpPr/>
          <p:nvPr/>
        </p:nvSpPr>
        <p:spPr>
          <a:xfrm>
            <a:off x="0" y="0"/>
            <a:ext cx="12192000" cy="6858000"/>
          </a:xfrm>
          <a:prstGeom prst="rect">
            <a:avLst/>
          </a:prstGeom>
          <a:solidFill>
            <a:srgbClr val="0E1B1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290" name="TextBox 2"/>
          <p:cNvSpPr txBox="1"/>
          <p:nvPr/>
        </p:nvSpPr>
        <p:spPr>
          <a:xfrm>
            <a:off x="762000" y="457200"/>
            <a:ext cx="10668000" cy="706100"/>
          </a:xfrm>
          <a:prstGeom prst="rect">
            <a:avLst/>
          </a:prstGeom>
        </p:spPr>
        <p:txBody>
          <a:bodyPr wrap="square">
            <a:spAutoFit/>
          </a:bodyPr>
          <a:lstStyle/>
          <a:p>
            <a:r>
              <a:rPr sz="4000" b="1">
                <a:solidFill>
                  <a:srgbClr val="F7F8F0"/>
                </a:solidFill>
              </a:rPr>
              <a:t>Digital Services Volume</a:t>
            </a:r>
            <a:endParaRPr sz="4000" b="1">
              <a:solidFill>
                <a:srgbClr val="F7F8F0"/>
              </a:solidFill>
            </a:endParaRPr>
          </a:p>
        </p:txBody>
      </p:sp>
      <p:sp>
        <p:nvSpPr>
          <p:cNvPr id="291" name="Rectangle 3"/>
          <p:cNvSpPr/>
          <p:nvPr/>
        </p:nvSpPr>
        <p:spPr>
          <a:xfrm>
            <a:off x="762000" y="1625600"/>
            <a:ext cx="1016000" cy="76200"/>
          </a:xfrm>
          <a:prstGeom prst="rect">
            <a:avLst/>
          </a:prstGeom>
          <a:solidFill>
            <a:srgbClr val="A8E06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292" name="TextBox 4"/>
          <p:cNvSpPr txBox="1"/>
          <p:nvPr/>
        </p:nvSpPr>
        <p:spPr>
          <a:xfrm>
            <a:off x="762000" y="1778000"/>
            <a:ext cx="10668000" cy="398770"/>
          </a:xfrm>
          <a:prstGeom prst="rect">
            <a:avLst/>
          </a:prstGeom>
        </p:spPr>
        <p:txBody>
          <a:bodyPr wrap="square">
            <a:spAutoFit/>
          </a:bodyPr>
          <a:lstStyle/>
          <a:p>
            <a:r>
              <a:rPr sz="2000">
                <a:solidFill>
                  <a:srgbClr val="B9C2CE"/>
                </a:solidFill>
              </a:rPr>
              <a:t>Transactions by category, thousands</a:t>
            </a:r>
            <a:endParaRPr sz="2000">
              <a:solidFill>
                <a:srgbClr val="B9C2CE"/>
              </a:solidFill>
            </a:endParaRPr>
          </a:p>
        </p:txBody>
      </p:sp>
      <p:sp>
        <p:nvSpPr>
          <p:cNvPr id="293" name="Rectangle 5"/>
          <p:cNvSpPr/>
          <p:nvPr/>
        </p:nvSpPr>
        <p:spPr>
          <a:xfrm>
            <a:off x="762000" y="2159000"/>
            <a:ext cx="10668000" cy="4318000"/>
          </a:xfrm>
          <a:prstGeom prst="roundRect">
            <a:avLst/>
          </a:prstGeom>
          <a:solidFill>
            <a:srgbClr val="F7F8F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graphicFrame>
        <p:nvGraphicFramePr>
          <p:cNvPr id="294" name="Chart 6"/>
          <p:cNvGraphicFramePr>
            <a:graphicFrameLocks noGrp="1"/>
          </p:cNvGraphicFramePr>
          <p:nvPr/>
        </p:nvGraphicFramePr>
        <p:xfrm>
          <a:off x="1016000" y="2413000"/>
          <a:ext cx="10160000" cy="3810000"/>
        </p:xfrm>
        <a:graphic>
          <a:graphicData uri="http://schemas.openxmlformats.org/drawingml/2006/chart">
            <c:chart xmlns:c="http://schemas.openxmlformats.org/drawingml/2006/chart" r:id="rId2"/>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 name="Rectangle 1"/>
          <p:cNvSpPr/>
          <p:nvPr/>
        </p:nvSpPr>
        <p:spPr>
          <a:xfrm>
            <a:off x="0" y="0"/>
            <a:ext cx="12192000" cy="6858000"/>
          </a:xfrm>
          <a:prstGeom prst="rect">
            <a:avLst/>
          </a:prstGeom>
          <a:solidFill>
            <a:srgbClr val="0E1B1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297" name="TextBox 2"/>
          <p:cNvSpPr txBox="1"/>
          <p:nvPr/>
        </p:nvSpPr>
        <p:spPr>
          <a:xfrm>
            <a:off x="762000" y="457200"/>
            <a:ext cx="10668000" cy="706100"/>
          </a:xfrm>
          <a:prstGeom prst="rect">
            <a:avLst/>
          </a:prstGeom>
        </p:spPr>
        <p:txBody>
          <a:bodyPr wrap="square">
            <a:spAutoFit/>
          </a:bodyPr>
          <a:lstStyle/>
          <a:p>
            <a:r>
              <a:rPr sz="4000" b="1">
                <a:solidFill>
                  <a:srgbClr val="F7F8F0"/>
                </a:solidFill>
              </a:rPr>
              <a:t>Citizen Journey Distribution</a:t>
            </a:r>
            <a:endParaRPr sz="4000" b="1">
              <a:solidFill>
                <a:srgbClr val="F7F8F0"/>
              </a:solidFill>
            </a:endParaRPr>
          </a:p>
        </p:txBody>
      </p:sp>
      <p:sp>
        <p:nvSpPr>
          <p:cNvPr id="298" name="Rectangle 3"/>
          <p:cNvSpPr/>
          <p:nvPr/>
        </p:nvSpPr>
        <p:spPr>
          <a:xfrm>
            <a:off x="762000" y="1625600"/>
            <a:ext cx="1016000" cy="76200"/>
          </a:xfrm>
          <a:prstGeom prst="rect">
            <a:avLst/>
          </a:prstGeom>
          <a:solidFill>
            <a:srgbClr val="A8E06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299" name="TextBox 4"/>
          <p:cNvSpPr txBox="1"/>
          <p:nvPr/>
        </p:nvSpPr>
        <p:spPr>
          <a:xfrm>
            <a:off x="762000" y="1778000"/>
            <a:ext cx="10668000" cy="398770"/>
          </a:xfrm>
          <a:prstGeom prst="rect">
            <a:avLst/>
          </a:prstGeom>
        </p:spPr>
        <p:txBody>
          <a:bodyPr wrap="square">
            <a:spAutoFit/>
          </a:bodyPr>
          <a:lstStyle/>
          <a:p>
            <a:r>
              <a:rPr sz="2000">
                <a:solidFill>
                  <a:srgbClr val="B9C2CE"/>
                </a:solidFill>
              </a:rPr>
              <a:t>Where citizens engage most</a:t>
            </a:r>
            <a:endParaRPr sz="2000">
              <a:solidFill>
                <a:srgbClr val="B9C2CE"/>
              </a:solidFill>
            </a:endParaRPr>
          </a:p>
        </p:txBody>
      </p:sp>
      <p:sp>
        <p:nvSpPr>
          <p:cNvPr id="300" name="Rectangle 5"/>
          <p:cNvSpPr/>
          <p:nvPr/>
        </p:nvSpPr>
        <p:spPr>
          <a:xfrm>
            <a:off x="762000" y="2159000"/>
            <a:ext cx="10668000" cy="4318000"/>
          </a:xfrm>
          <a:prstGeom prst="roundRect">
            <a:avLst/>
          </a:prstGeom>
          <a:solidFill>
            <a:srgbClr val="F7F8F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graphicFrame>
        <p:nvGraphicFramePr>
          <p:cNvPr id="301" name="Chart 6"/>
          <p:cNvGraphicFramePr>
            <a:graphicFrameLocks noGrp="1"/>
          </p:cNvGraphicFramePr>
          <p:nvPr/>
        </p:nvGraphicFramePr>
        <p:xfrm>
          <a:off x="1016000" y="2413000"/>
          <a:ext cx="10160000" cy="3810000"/>
        </p:xfrm>
        <a:graphic>
          <a:graphicData uri="http://schemas.openxmlformats.org/drawingml/2006/chart">
            <c:chart xmlns:c="http://schemas.openxmlformats.org/drawingml/2006/chart" r:id="rId2"/>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 name="Rectangle 1"/>
          <p:cNvSpPr/>
          <p:nvPr/>
        </p:nvSpPr>
        <p:spPr>
          <a:xfrm>
            <a:off x="0" y="0"/>
            <a:ext cx="12192000" cy="6858000"/>
          </a:xfrm>
          <a:prstGeom prst="rect">
            <a:avLst/>
          </a:prstGeom>
          <a:solidFill>
            <a:srgbClr val="0E1B1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304" name="TextBox 2"/>
          <p:cNvSpPr txBox="1"/>
          <p:nvPr/>
        </p:nvSpPr>
        <p:spPr>
          <a:xfrm>
            <a:off x="762000" y="457200"/>
            <a:ext cx="10668000" cy="706100"/>
          </a:xfrm>
          <a:prstGeom prst="rect">
            <a:avLst/>
          </a:prstGeom>
        </p:spPr>
        <p:txBody>
          <a:bodyPr wrap="square">
            <a:spAutoFit/>
          </a:bodyPr>
          <a:lstStyle/>
          <a:p>
            <a:r>
              <a:rPr sz="4000" b="1">
                <a:solidFill>
                  <a:srgbClr val="F7F8F0"/>
                </a:solidFill>
              </a:rPr>
              <a:t>Citizen Onboarding Trend</a:t>
            </a:r>
            <a:endParaRPr sz="4000" b="1">
              <a:solidFill>
                <a:srgbClr val="F7F8F0"/>
              </a:solidFill>
            </a:endParaRPr>
          </a:p>
        </p:txBody>
      </p:sp>
      <p:sp>
        <p:nvSpPr>
          <p:cNvPr id="305" name="Rectangle 3"/>
          <p:cNvSpPr/>
          <p:nvPr/>
        </p:nvSpPr>
        <p:spPr>
          <a:xfrm>
            <a:off x="762000" y="1625600"/>
            <a:ext cx="1016000" cy="76200"/>
          </a:xfrm>
          <a:prstGeom prst="rect">
            <a:avLst/>
          </a:prstGeom>
          <a:solidFill>
            <a:srgbClr val="A8E06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306" name="TextBox 4"/>
          <p:cNvSpPr txBox="1"/>
          <p:nvPr/>
        </p:nvSpPr>
        <p:spPr>
          <a:xfrm>
            <a:off x="762000" y="1778000"/>
            <a:ext cx="10668000" cy="398770"/>
          </a:xfrm>
          <a:prstGeom prst="rect">
            <a:avLst/>
          </a:prstGeom>
        </p:spPr>
        <p:txBody>
          <a:bodyPr wrap="square">
            <a:spAutoFit/>
          </a:bodyPr>
          <a:lstStyle/>
          <a:p>
            <a:r>
              <a:rPr sz="2000">
                <a:solidFill>
                  <a:srgbClr val="B9C2CE"/>
                </a:solidFill>
              </a:rPr>
              <a:t>Quarterly growth, thousands of citizens</a:t>
            </a:r>
            <a:endParaRPr sz="2000">
              <a:solidFill>
                <a:srgbClr val="B9C2CE"/>
              </a:solidFill>
            </a:endParaRPr>
          </a:p>
        </p:txBody>
      </p:sp>
      <p:sp>
        <p:nvSpPr>
          <p:cNvPr id="307" name="Rectangle 5"/>
          <p:cNvSpPr/>
          <p:nvPr/>
        </p:nvSpPr>
        <p:spPr>
          <a:xfrm>
            <a:off x="762000" y="2159000"/>
            <a:ext cx="10668000" cy="4318000"/>
          </a:xfrm>
          <a:prstGeom prst="roundRect">
            <a:avLst/>
          </a:prstGeom>
          <a:solidFill>
            <a:srgbClr val="F7F8F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graphicFrame>
        <p:nvGraphicFramePr>
          <p:cNvPr id="308" name="Chart 6"/>
          <p:cNvGraphicFramePr>
            <a:graphicFrameLocks noGrp="1"/>
          </p:cNvGraphicFramePr>
          <p:nvPr/>
        </p:nvGraphicFramePr>
        <p:xfrm>
          <a:off x="1016000" y="2413000"/>
          <a:ext cx="10160000" cy="3810000"/>
        </p:xfrm>
        <a:graphic>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 name="Rectangle 1"/>
          <p:cNvSpPr/>
          <p:nvPr/>
        </p:nvSpPr>
        <p:spPr>
          <a:xfrm>
            <a:off x="0" y="0"/>
            <a:ext cx="12192000" cy="6858000"/>
          </a:xfrm>
          <a:prstGeom prst="rect">
            <a:avLst/>
          </a:prstGeom>
          <a:solidFill>
            <a:srgbClr val="0E1B1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311" name="TextBox 2"/>
          <p:cNvSpPr txBox="1"/>
          <p:nvPr/>
        </p:nvSpPr>
        <p:spPr>
          <a:xfrm>
            <a:off x="762000" y="457200"/>
            <a:ext cx="10668000" cy="706100"/>
          </a:xfrm>
          <a:prstGeom prst="rect">
            <a:avLst/>
          </a:prstGeom>
        </p:spPr>
        <p:txBody>
          <a:bodyPr wrap="square">
            <a:spAutoFit/>
          </a:bodyPr>
          <a:lstStyle/>
          <a:p>
            <a:r>
              <a:rPr sz="4000" b="1">
                <a:solidFill>
                  <a:srgbClr val="F7F8F0"/>
                </a:solidFill>
              </a:rPr>
              <a:t>Regional Adoption</a:t>
            </a:r>
            <a:endParaRPr sz="4000" b="1">
              <a:solidFill>
                <a:srgbClr val="F7F8F0"/>
              </a:solidFill>
            </a:endParaRPr>
          </a:p>
        </p:txBody>
      </p:sp>
      <p:sp>
        <p:nvSpPr>
          <p:cNvPr id="312" name="Rectangle 3"/>
          <p:cNvSpPr/>
          <p:nvPr/>
        </p:nvSpPr>
        <p:spPr>
          <a:xfrm>
            <a:off x="762000" y="1625600"/>
            <a:ext cx="1016000" cy="76200"/>
          </a:xfrm>
          <a:prstGeom prst="rect">
            <a:avLst/>
          </a:prstGeom>
          <a:solidFill>
            <a:srgbClr val="A8E06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313" name="TextBox 4"/>
          <p:cNvSpPr txBox="1"/>
          <p:nvPr/>
        </p:nvSpPr>
        <p:spPr>
          <a:xfrm>
            <a:off x="762000" y="1778000"/>
            <a:ext cx="10668000" cy="398770"/>
          </a:xfrm>
          <a:prstGeom prst="rect">
            <a:avLst/>
          </a:prstGeom>
        </p:spPr>
        <p:txBody>
          <a:bodyPr wrap="square">
            <a:spAutoFit/>
          </a:bodyPr>
          <a:lstStyle/>
          <a:p>
            <a:r>
              <a:rPr sz="2000">
                <a:solidFill>
                  <a:srgbClr val="B9C2CE"/>
                </a:solidFill>
              </a:rPr>
              <a:t>Citizens onboarded by region, thousands</a:t>
            </a:r>
            <a:endParaRPr sz="2000">
              <a:solidFill>
                <a:srgbClr val="B9C2CE"/>
              </a:solidFill>
            </a:endParaRPr>
          </a:p>
        </p:txBody>
      </p:sp>
      <p:sp>
        <p:nvSpPr>
          <p:cNvPr id="314" name="Rectangle 5"/>
          <p:cNvSpPr/>
          <p:nvPr/>
        </p:nvSpPr>
        <p:spPr>
          <a:xfrm>
            <a:off x="762000" y="2159000"/>
            <a:ext cx="10668000" cy="4318000"/>
          </a:xfrm>
          <a:prstGeom prst="roundRect">
            <a:avLst/>
          </a:prstGeom>
          <a:solidFill>
            <a:srgbClr val="F7F8F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graphicFrame>
        <p:nvGraphicFramePr>
          <p:cNvPr id="315" name="Chart 6"/>
          <p:cNvGraphicFramePr>
            <a:graphicFrameLocks noGrp="1"/>
          </p:cNvGraphicFramePr>
          <p:nvPr/>
        </p:nvGraphicFramePr>
        <p:xfrm>
          <a:off x="1016000" y="2413000"/>
          <a:ext cx="10160000" cy="3810000"/>
        </p:xfrm>
        <a:graphic>
          <a:graphicData uri="http://schemas.openxmlformats.org/drawingml/2006/chart">
            <c:chart xmlns:c="http://schemas.openxmlformats.org/drawingml/2006/chart" r:id="rId2"/>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Rectangle 1"/>
          <p:cNvSpPr/>
          <p:nvPr/>
        </p:nvSpPr>
        <p:spPr>
          <a:xfrm>
            <a:off x="0" y="0"/>
            <a:ext cx="12192000" cy="6858000"/>
          </a:xfrm>
          <a:prstGeom prst="rect">
            <a:avLst/>
          </a:prstGeom>
          <a:solidFill>
            <a:srgbClr val="0E1B1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318" name="TextBox 2"/>
          <p:cNvSpPr txBox="1"/>
          <p:nvPr/>
        </p:nvSpPr>
        <p:spPr>
          <a:xfrm>
            <a:off x="762000" y="457200"/>
            <a:ext cx="10668000" cy="706100"/>
          </a:xfrm>
          <a:prstGeom prst="rect">
            <a:avLst/>
          </a:prstGeom>
        </p:spPr>
        <p:txBody>
          <a:bodyPr wrap="square">
            <a:spAutoFit/>
          </a:bodyPr>
          <a:lstStyle/>
          <a:p>
            <a:r>
              <a:rPr sz="4000" b="1">
                <a:solidFill>
                  <a:srgbClr val="F7F8F0"/>
                </a:solidFill>
              </a:rPr>
              <a:t>Satisfaction Trend</a:t>
            </a:r>
            <a:endParaRPr sz="4000" b="1">
              <a:solidFill>
                <a:srgbClr val="F7F8F0"/>
              </a:solidFill>
            </a:endParaRPr>
          </a:p>
        </p:txBody>
      </p:sp>
      <p:sp>
        <p:nvSpPr>
          <p:cNvPr id="319" name="Rectangle 3"/>
          <p:cNvSpPr/>
          <p:nvPr/>
        </p:nvSpPr>
        <p:spPr>
          <a:xfrm>
            <a:off x="762000" y="1625600"/>
            <a:ext cx="1016000" cy="76200"/>
          </a:xfrm>
          <a:prstGeom prst="rect">
            <a:avLst/>
          </a:prstGeom>
          <a:solidFill>
            <a:srgbClr val="A8E06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320" name="TextBox 4"/>
          <p:cNvSpPr txBox="1"/>
          <p:nvPr/>
        </p:nvSpPr>
        <p:spPr>
          <a:xfrm>
            <a:off x="762000" y="1778000"/>
            <a:ext cx="10668000" cy="398770"/>
          </a:xfrm>
          <a:prstGeom prst="rect">
            <a:avLst/>
          </a:prstGeom>
        </p:spPr>
        <p:txBody>
          <a:bodyPr wrap="square">
            <a:spAutoFit/>
          </a:bodyPr>
          <a:lstStyle/>
          <a:p>
            <a:r>
              <a:rPr sz="2000">
                <a:solidFill>
                  <a:srgbClr val="B9C2CE"/>
                </a:solidFill>
              </a:rPr>
              <a:t>Citizen satisfaction score by quarter</a:t>
            </a:r>
            <a:endParaRPr sz="2000">
              <a:solidFill>
                <a:srgbClr val="B9C2CE"/>
              </a:solidFill>
            </a:endParaRPr>
          </a:p>
        </p:txBody>
      </p:sp>
      <p:sp>
        <p:nvSpPr>
          <p:cNvPr id="321" name="Rectangle 5"/>
          <p:cNvSpPr/>
          <p:nvPr/>
        </p:nvSpPr>
        <p:spPr>
          <a:xfrm>
            <a:off x="762000" y="2159000"/>
            <a:ext cx="10668000" cy="4318000"/>
          </a:xfrm>
          <a:prstGeom prst="roundRect">
            <a:avLst/>
          </a:prstGeom>
          <a:solidFill>
            <a:srgbClr val="F7F8F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graphicFrame>
        <p:nvGraphicFramePr>
          <p:cNvPr id="322" name="Chart 6"/>
          <p:cNvGraphicFramePr>
            <a:graphicFrameLocks noGrp="1"/>
          </p:cNvGraphicFramePr>
          <p:nvPr/>
        </p:nvGraphicFramePr>
        <p:xfrm>
          <a:off x="1016000" y="2413000"/>
          <a:ext cx="10160000" cy="3810000"/>
        </p:xfrm>
        <a:graphic>
          <a:graphicData uri="http://schemas.openxmlformats.org/drawingml/2006/chart">
            <c:chart xmlns:c="http://schemas.openxmlformats.org/drawingml/2006/chart" r:id="rId2"/>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 name="Rectangle 1"/>
          <p:cNvSpPr/>
          <p:nvPr/>
        </p:nvSpPr>
        <p:spPr>
          <a:xfrm>
            <a:off x="0" y="0"/>
            <a:ext cx="12192000" cy="6858000"/>
          </a:xfrm>
          <a:prstGeom prst="rect">
            <a:avLst/>
          </a:prstGeom>
          <a:solidFill>
            <a:srgbClr val="0E1B1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325" name="TextBox 2"/>
          <p:cNvSpPr txBox="1"/>
          <p:nvPr/>
        </p:nvSpPr>
        <p:spPr>
          <a:xfrm>
            <a:off x="762000" y="457200"/>
            <a:ext cx="10668000" cy="706100"/>
          </a:xfrm>
          <a:prstGeom prst="rect">
            <a:avLst/>
          </a:prstGeom>
        </p:spPr>
        <p:txBody>
          <a:bodyPr wrap="square">
            <a:spAutoFit/>
          </a:bodyPr>
          <a:lstStyle/>
          <a:p>
            <a:r>
              <a:rPr sz="4000" b="1">
                <a:solidFill>
                  <a:srgbClr val="F7F8F0"/>
                </a:solidFill>
              </a:rPr>
              <a:t>2026 Achievements</a:t>
            </a:r>
            <a:endParaRPr sz="4000" b="1">
              <a:solidFill>
                <a:srgbClr val="F7F8F0"/>
              </a:solidFill>
            </a:endParaRPr>
          </a:p>
        </p:txBody>
      </p:sp>
      <p:sp>
        <p:nvSpPr>
          <p:cNvPr id="326" name="Rectangle 3"/>
          <p:cNvSpPr/>
          <p:nvPr/>
        </p:nvSpPr>
        <p:spPr>
          <a:xfrm>
            <a:off x="762000" y="1625600"/>
            <a:ext cx="1016000" cy="76200"/>
          </a:xfrm>
          <a:prstGeom prst="rect">
            <a:avLst/>
          </a:prstGeom>
          <a:solidFill>
            <a:srgbClr val="A8E06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327" name="TextBox 4"/>
          <p:cNvSpPr txBox="1"/>
          <p:nvPr/>
        </p:nvSpPr>
        <p:spPr>
          <a:xfrm>
            <a:off x="762000" y="2286000"/>
            <a:ext cx="10668000" cy="2795945"/>
          </a:xfrm>
          <a:prstGeom prst="rect">
            <a:avLst/>
          </a:prstGeom>
        </p:spPr>
        <p:txBody>
          <a:bodyPr wrap="square">
            <a:spAutoFit/>
          </a:bodyPr>
          <a:lstStyle/>
          <a:p>
            <a:pPr>
              <a:lnSpc>
                <a:spcPct val="160000"/>
              </a:lnSpc>
            </a:pPr>
            <a:r>
              <a:rPr sz="2200">
                <a:solidFill>
                  <a:srgbClr val="F7F8F0"/>
                </a:solidFill>
              </a:rPr>
              <a:t>•  Launched unified digital identity for all citizens</a:t>
            </a:r>
            <a:endParaRPr sz="2200">
              <a:solidFill>
                <a:srgbClr val="F7F8F0"/>
              </a:solidFill>
            </a:endParaRPr>
          </a:p>
          <a:p>
            <a:pPr>
              <a:lnSpc>
                <a:spcPct val="160000"/>
              </a:lnSpc>
            </a:pPr>
            <a:r>
              <a:rPr sz="2200">
                <a:solidFill>
                  <a:srgbClr val="F7F8F0"/>
                </a:solidFill>
              </a:rPr>
              <a:t>•  Deployed AI document processing across 40 services</a:t>
            </a:r>
            <a:endParaRPr sz="2200">
              <a:solidFill>
                <a:srgbClr val="F7F8F0"/>
              </a:solidFill>
            </a:endParaRPr>
          </a:p>
          <a:p>
            <a:pPr>
              <a:lnSpc>
                <a:spcPct val="160000"/>
              </a:lnSpc>
            </a:pPr>
            <a:r>
              <a:rPr sz="2200">
                <a:solidFill>
                  <a:srgbClr val="F7F8F0"/>
                </a:solidFill>
              </a:rPr>
              <a:t>•  Connected 12 ministries to the national data exchange</a:t>
            </a:r>
            <a:endParaRPr sz="2200">
              <a:solidFill>
                <a:srgbClr val="F7F8F0"/>
              </a:solidFill>
            </a:endParaRPr>
          </a:p>
          <a:p>
            <a:pPr>
              <a:lnSpc>
                <a:spcPct val="160000"/>
              </a:lnSpc>
            </a:pPr>
            <a:r>
              <a:rPr sz="2200">
                <a:solidFill>
                  <a:srgbClr val="F7F8F0"/>
                </a:solidFill>
              </a:rPr>
              <a:t>•  Reduced average processing time by 78 percent</a:t>
            </a:r>
            <a:endParaRPr sz="2200">
              <a:solidFill>
                <a:srgbClr val="F7F8F0"/>
              </a:solidFill>
            </a:endParaRPr>
          </a:p>
          <a:p>
            <a:pPr>
              <a:lnSpc>
                <a:spcPct val="160000"/>
              </a:lnSpc>
            </a:pPr>
            <a:r>
              <a:rPr sz="2200">
                <a:solidFill>
                  <a:srgbClr val="F7F8F0"/>
                </a:solidFill>
              </a:rPr>
              <a:t>•  Achieved 99.9 percent platform uptime</a:t>
            </a:r>
            <a:endParaRPr sz="2200">
              <a:solidFill>
                <a:srgbClr val="F7F8F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 name="Rectangle 1"/>
          <p:cNvSpPr/>
          <p:nvPr/>
        </p:nvSpPr>
        <p:spPr>
          <a:xfrm>
            <a:off x="0" y="0"/>
            <a:ext cx="12192000" cy="6858000"/>
          </a:xfrm>
          <a:prstGeom prst="rect">
            <a:avLst/>
          </a:prstGeom>
          <a:solidFill>
            <a:srgbClr val="0E1B1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330" name="TextBox 2"/>
          <p:cNvSpPr txBox="1"/>
          <p:nvPr/>
        </p:nvSpPr>
        <p:spPr>
          <a:xfrm>
            <a:off x="762000" y="457200"/>
            <a:ext cx="10668000" cy="706100"/>
          </a:xfrm>
          <a:prstGeom prst="rect">
            <a:avLst/>
          </a:prstGeom>
        </p:spPr>
        <p:txBody>
          <a:bodyPr wrap="square">
            <a:spAutoFit/>
          </a:bodyPr>
          <a:lstStyle/>
          <a:p>
            <a:r>
              <a:rPr sz="4000" b="1">
                <a:solidFill>
                  <a:srgbClr val="F7F8F0"/>
                </a:solidFill>
              </a:rPr>
              <a:t>AI-Powered Processing</a:t>
            </a:r>
            <a:endParaRPr sz="4000" b="1">
              <a:solidFill>
                <a:srgbClr val="F7F8F0"/>
              </a:solidFill>
            </a:endParaRPr>
          </a:p>
        </p:txBody>
      </p:sp>
      <p:sp>
        <p:nvSpPr>
          <p:cNvPr id="331" name="Rectangle 3"/>
          <p:cNvSpPr/>
          <p:nvPr/>
        </p:nvSpPr>
        <p:spPr>
          <a:xfrm>
            <a:off x="762000" y="1625600"/>
            <a:ext cx="1016000" cy="76200"/>
          </a:xfrm>
          <a:prstGeom prst="rect">
            <a:avLst/>
          </a:prstGeom>
          <a:solidFill>
            <a:srgbClr val="A8E06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332" name="TextBox 4"/>
          <p:cNvSpPr txBox="1"/>
          <p:nvPr/>
        </p:nvSpPr>
        <p:spPr>
          <a:xfrm>
            <a:off x="762000" y="2159000"/>
            <a:ext cx="10668000" cy="3533537"/>
          </a:xfrm>
          <a:prstGeom prst="rect">
            <a:avLst/>
          </a:prstGeom>
        </p:spPr>
        <p:txBody>
          <a:bodyPr wrap="square">
            <a:spAutoFit/>
          </a:bodyPr>
          <a:lstStyle/>
          <a:p>
            <a:pPr>
              <a:lnSpc>
                <a:spcPct val="160000"/>
              </a:lnSpc>
            </a:pPr>
            <a:r>
              <a:rPr sz="2000">
                <a:solidFill>
                  <a:srgbClr val="F7F8F0"/>
                </a:solidFill>
              </a:rPr>
              <a:t>Artificial intelligence now handles document verification, data extraction, and eligibility checks across 40 government services. Machine learning models trained on millions of processed applications achieve 99.2 percent accuracy in document classification. Natural language processing enables citizens to interact with services in Arabic and English through conversational interfaces. The AI layer reduced manual review workload by 65 percent, allowing staff to focus on complex cases requiring human judgment.</a:t>
            </a:r>
            <a:endParaRPr sz="2000">
              <a:solidFill>
                <a:srgbClr val="F7F8F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 name="Rectangle 1"/>
          <p:cNvSpPr/>
          <p:nvPr/>
        </p:nvSpPr>
        <p:spPr>
          <a:xfrm>
            <a:off x="0" y="0"/>
            <a:ext cx="12192000" cy="6858000"/>
          </a:xfrm>
          <a:prstGeom prst="rect">
            <a:avLst/>
          </a:prstGeom>
          <a:solidFill>
            <a:srgbClr val="0E1B1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335" name="TextBox 2"/>
          <p:cNvSpPr txBox="1"/>
          <p:nvPr/>
        </p:nvSpPr>
        <p:spPr>
          <a:xfrm>
            <a:off x="762000" y="457200"/>
            <a:ext cx="10668000" cy="706100"/>
          </a:xfrm>
          <a:prstGeom prst="rect">
            <a:avLst/>
          </a:prstGeom>
        </p:spPr>
        <p:txBody>
          <a:bodyPr wrap="square">
            <a:spAutoFit/>
          </a:bodyPr>
          <a:lstStyle/>
          <a:p>
            <a:r>
              <a:rPr sz="4000" b="1">
                <a:solidFill>
                  <a:srgbClr val="F7F8F0"/>
                </a:solidFill>
              </a:rPr>
              <a:t>Security and Trust</a:t>
            </a:r>
            <a:endParaRPr sz="4000" b="1">
              <a:solidFill>
                <a:srgbClr val="F7F8F0"/>
              </a:solidFill>
            </a:endParaRPr>
          </a:p>
        </p:txBody>
      </p:sp>
      <p:sp>
        <p:nvSpPr>
          <p:cNvPr id="336" name="Rectangle 3"/>
          <p:cNvSpPr/>
          <p:nvPr/>
        </p:nvSpPr>
        <p:spPr>
          <a:xfrm>
            <a:off x="762000" y="1625600"/>
            <a:ext cx="1016000" cy="76200"/>
          </a:xfrm>
          <a:prstGeom prst="rect">
            <a:avLst/>
          </a:prstGeom>
          <a:solidFill>
            <a:srgbClr val="A8E06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337" name="TextBox 4"/>
          <p:cNvSpPr txBox="1"/>
          <p:nvPr/>
        </p:nvSpPr>
        <p:spPr>
          <a:xfrm>
            <a:off x="762000" y="2159000"/>
            <a:ext cx="10668000" cy="3041809"/>
          </a:xfrm>
          <a:prstGeom prst="rect">
            <a:avLst/>
          </a:prstGeom>
        </p:spPr>
        <p:txBody>
          <a:bodyPr wrap="square">
            <a:spAutoFit/>
          </a:bodyPr>
          <a:lstStyle/>
          <a:p>
            <a:pPr>
              <a:lnSpc>
                <a:spcPct val="160000"/>
              </a:lnSpc>
            </a:pPr>
            <a:r>
              <a:rPr sz="2000">
                <a:solidFill>
                  <a:srgbClr val="F7F8F0"/>
                </a:solidFill>
              </a:rPr>
              <a:t>A zero-trust security architecture protects all citizen data with end-to-end encryption, multi-factor authentication, and continuous monitoring. The national cybersecurity operations center detected and neutralized 14,000 intrusion attempts in 2026 with zero successful breaches of citizen records. Biometric verification reduced identity fraud by 83 percent. All systems comply with Egypt's data protection regulations, and independent audits confirmed full compliance in Q3 2026.</a:t>
            </a:r>
            <a:endParaRPr sz="2000">
              <a:solidFill>
                <a:srgbClr val="F7F8F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 name="Rectangle 1"/>
          <p:cNvSpPr/>
          <p:nvPr/>
        </p:nvSpPr>
        <p:spPr>
          <a:xfrm>
            <a:off x="0" y="0"/>
            <a:ext cx="12192000" cy="6858000"/>
          </a:xfrm>
          <a:prstGeom prst="rect">
            <a:avLst/>
          </a:prstGeom>
          <a:solidFill>
            <a:srgbClr val="0E1B1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340" name="TextBox 2"/>
          <p:cNvSpPr txBox="1"/>
          <p:nvPr/>
        </p:nvSpPr>
        <p:spPr>
          <a:xfrm>
            <a:off x="762000" y="457200"/>
            <a:ext cx="10668000" cy="706100"/>
          </a:xfrm>
          <a:prstGeom prst="rect">
            <a:avLst/>
          </a:prstGeom>
        </p:spPr>
        <p:txBody>
          <a:bodyPr wrap="square">
            <a:spAutoFit/>
          </a:bodyPr>
          <a:lstStyle/>
          <a:p>
            <a:r>
              <a:rPr sz="4000" b="1">
                <a:solidFill>
                  <a:srgbClr val="F7F8F0"/>
                </a:solidFill>
              </a:rPr>
              <a:t>Service Quality</a:t>
            </a:r>
            <a:endParaRPr sz="4000" b="1">
              <a:solidFill>
                <a:srgbClr val="F7F8F0"/>
              </a:solidFill>
            </a:endParaRPr>
          </a:p>
        </p:txBody>
      </p:sp>
      <p:sp>
        <p:nvSpPr>
          <p:cNvPr id="341" name="Rectangle 3"/>
          <p:cNvSpPr/>
          <p:nvPr/>
        </p:nvSpPr>
        <p:spPr>
          <a:xfrm>
            <a:off x="762000" y="1625600"/>
            <a:ext cx="1016000" cy="76200"/>
          </a:xfrm>
          <a:prstGeom prst="rect">
            <a:avLst/>
          </a:prstGeom>
          <a:solidFill>
            <a:srgbClr val="A8E06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342" name="TextBox 4"/>
          <p:cNvSpPr txBox="1"/>
          <p:nvPr/>
        </p:nvSpPr>
        <p:spPr>
          <a:xfrm>
            <a:off x="762000" y="2159000"/>
            <a:ext cx="10668000" cy="3533537"/>
          </a:xfrm>
          <a:prstGeom prst="rect">
            <a:avLst/>
          </a:prstGeom>
        </p:spPr>
        <p:txBody>
          <a:bodyPr wrap="square">
            <a:spAutoFit/>
          </a:bodyPr>
          <a:lstStyle/>
          <a:p>
            <a:pPr>
              <a:lnSpc>
                <a:spcPct val="160000"/>
              </a:lnSpc>
            </a:pPr>
            <a:r>
              <a:rPr sz="2000">
                <a:solidFill>
                  <a:srgbClr val="F7F8F0"/>
                </a:solidFill>
              </a:rPr>
              <a:t>Service quality is measured across five dimensions: speed, accuracy, availability, accessibility, and citizen feedback. Average end-to-end service time fell to 4.2 seconds for fully automated transactions. Error rates dropped to 0.3 percent, down from 2.1 percent in 2024. The platform maintained 99.9 percent uptime, exceeding the 99.5 percent target. Accessibility compliance reached WCAG 2.1 AA across all citizen-facing interfaces, and support in Arabic dialects improved comprehension scores by 31 percent.</a:t>
            </a:r>
            <a:endParaRPr sz="2000">
              <a:solidFill>
                <a:srgbClr val="F7F8F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 name="Rectangle 1"/>
          <p:cNvSpPr/>
          <p:nvPr/>
        </p:nvSpPr>
        <p:spPr>
          <a:xfrm>
            <a:off x="0" y="0"/>
            <a:ext cx="12192000" cy="6858000"/>
          </a:xfrm>
          <a:prstGeom prst="rect">
            <a:avLst/>
          </a:prstGeom>
          <a:solidFill>
            <a:srgbClr val="0E1B1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345" name="TextBox 2"/>
          <p:cNvSpPr txBox="1"/>
          <p:nvPr/>
        </p:nvSpPr>
        <p:spPr>
          <a:xfrm>
            <a:off x="762000" y="457200"/>
            <a:ext cx="10668000" cy="706100"/>
          </a:xfrm>
          <a:prstGeom prst="rect">
            <a:avLst/>
          </a:prstGeom>
        </p:spPr>
        <p:txBody>
          <a:bodyPr wrap="square">
            <a:spAutoFit/>
          </a:bodyPr>
          <a:lstStyle/>
          <a:p>
            <a:r>
              <a:rPr sz="4000" b="1">
                <a:solidFill>
                  <a:srgbClr val="F7F8F0"/>
                </a:solidFill>
              </a:rPr>
              <a:t>Challenges</a:t>
            </a:r>
            <a:endParaRPr sz="4000" b="1">
              <a:solidFill>
                <a:srgbClr val="F7F8F0"/>
              </a:solidFill>
            </a:endParaRPr>
          </a:p>
        </p:txBody>
      </p:sp>
      <p:sp>
        <p:nvSpPr>
          <p:cNvPr id="346" name="Rectangle 3"/>
          <p:cNvSpPr/>
          <p:nvPr/>
        </p:nvSpPr>
        <p:spPr>
          <a:xfrm>
            <a:off x="762000" y="1625600"/>
            <a:ext cx="1016000" cy="76200"/>
          </a:xfrm>
          <a:prstGeom prst="rect">
            <a:avLst/>
          </a:prstGeom>
          <a:solidFill>
            <a:srgbClr val="A8E06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347" name="TextBox 4"/>
          <p:cNvSpPr txBox="1"/>
          <p:nvPr/>
        </p:nvSpPr>
        <p:spPr>
          <a:xfrm>
            <a:off x="762000" y="2286000"/>
            <a:ext cx="10668000" cy="2795945"/>
          </a:xfrm>
          <a:prstGeom prst="rect">
            <a:avLst/>
          </a:prstGeom>
        </p:spPr>
        <p:txBody>
          <a:bodyPr wrap="square">
            <a:spAutoFit/>
          </a:bodyPr>
          <a:lstStyle/>
          <a:p>
            <a:pPr>
              <a:lnSpc>
                <a:spcPct val="160000"/>
              </a:lnSpc>
            </a:pPr>
            <a:r>
              <a:rPr sz="2200">
                <a:solidFill>
                  <a:srgbClr val="F7F8F0"/>
                </a:solidFill>
              </a:rPr>
              <a:t>•  Rural connectivity gaps limit access in remote governorates</a:t>
            </a:r>
            <a:endParaRPr sz="2200">
              <a:solidFill>
                <a:srgbClr val="F7F8F0"/>
              </a:solidFill>
            </a:endParaRPr>
          </a:p>
          <a:p>
            <a:pPr>
              <a:lnSpc>
                <a:spcPct val="160000"/>
              </a:lnSpc>
            </a:pPr>
            <a:r>
              <a:rPr sz="2200">
                <a:solidFill>
                  <a:srgbClr val="F7F8F0"/>
                </a:solidFill>
              </a:rPr>
              <a:t>•  Digital literacy programs need wider reach among elderly citizens</a:t>
            </a:r>
            <a:endParaRPr sz="2200">
              <a:solidFill>
                <a:srgbClr val="F7F8F0"/>
              </a:solidFill>
            </a:endParaRPr>
          </a:p>
          <a:p>
            <a:pPr>
              <a:lnSpc>
                <a:spcPct val="160000"/>
              </a:lnSpc>
            </a:pPr>
            <a:r>
              <a:rPr sz="2200">
                <a:solidFill>
                  <a:srgbClr val="F7F8F0"/>
                </a:solidFill>
              </a:rPr>
              <a:t>•  Legacy system integration remains complex for 3 ministries</a:t>
            </a:r>
            <a:endParaRPr sz="2200">
              <a:solidFill>
                <a:srgbClr val="F7F8F0"/>
              </a:solidFill>
            </a:endParaRPr>
          </a:p>
          <a:p>
            <a:pPr>
              <a:lnSpc>
                <a:spcPct val="160000"/>
              </a:lnSpc>
            </a:pPr>
            <a:r>
              <a:rPr sz="2200">
                <a:solidFill>
                  <a:srgbClr val="F7F8F0"/>
                </a:solidFill>
              </a:rPr>
              <a:t>•  Peak load during tax season caused brief slowdowns</a:t>
            </a:r>
            <a:endParaRPr sz="2200">
              <a:solidFill>
                <a:srgbClr val="F7F8F0"/>
              </a:solidFill>
            </a:endParaRPr>
          </a:p>
          <a:p>
            <a:pPr>
              <a:lnSpc>
                <a:spcPct val="160000"/>
              </a:lnSpc>
            </a:pPr>
            <a:r>
              <a:rPr sz="2200">
                <a:solidFill>
                  <a:srgbClr val="F7F8F0"/>
                </a:solidFill>
              </a:rPr>
              <a:t>•  Continuous staff training required as AI tools evolve</a:t>
            </a:r>
            <a:endParaRPr sz="2200">
              <a:solidFill>
                <a:srgbClr val="F7F8F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 name="Rectangle 1"/>
          <p:cNvSpPr/>
          <p:nvPr/>
        </p:nvSpPr>
        <p:spPr>
          <a:xfrm>
            <a:off x="0" y="0"/>
            <a:ext cx="12192000" cy="6858000"/>
          </a:xfrm>
          <a:prstGeom prst="rect">
            <a:avLst/>
          </a:prstGeom>
          <a:solidFill>
            <a:srgbClr val="0E1B1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350" name="TextBox 2"/>
          <p:cNvSpPr txBox="1"/>
          <p:nvPr/>
        </p:nvSpPr>
        <p:spPr>
          <a:xfrm>
            <a:off x="762000" y="457200"/>
            <a:ext cx="10668000" cy="706100"/>
          </a:xfrm>
          <a:prstGeom prst="rect">
            <a:avLst/>
          </a:prstGeom>
        </p:spPr>
        <p:txBody>
          <a:bodyPr wrap="square">
            <a:spAutoFit/>
          </a:bodyPr>
          <a:lstStyle/>
          <a:p>
            <a:r>
              <a:rPr sz="4000" b="1">
                <a:solidFill>
                  <a:srgbClr val="F7F8F0"/>
                </a:solidFill>
              </a:rPr>
              <a:t>2027 Strategic Priorities</a:t>
            </a:r>
            <a:endParaRPr sz="4000" b="1">
              <a:solidFill>
                <a:srgbClr val="F7F8F0"/>
              </a:solidFill>
            </a:endParaRPr>
          </a:p>
        </p:txBody>
      </p:sp>
      <p:sp>
        <p:nvSpPr>
          <p:cNvPr id="351" name="Rectangle 3"/>
          <p:cNvSpPr/>
          <p:nvPr/>
        </p:nvSpPr>
        <p:spPr>
          <a:xfrm>
            <a:off x="762000" y="1625600"/>
            <a:ext cx="1016000" cy="76200"/>
          </a:xfrm>
          <a:prstGeom prst="rect">
            <a:avLst/>
          </a:prstGeom>
          <a:solidFill>
            <a:srgbClr val="A8E06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352" name="TextBox 4"/>
          <p:cNvSpPr txBox="1"/>
          <p:nvPr/>
        </p:nvSpPr>
        <p:spPr>
          <a:xfrm>
            <a:off x="762000" y="2286000"/>
            <a:ext cx="10668000" cy="2795945"/>
          </a:xfrm>
          <a:prstGeom prst="rect">
            <a:avLst/>
          </a:prstGeom>
        </p:spPr>
        <p:txBody>
          <a:bodyPr wrap="square">
            <a:spAutoFit/>
          </a:bodyPr>
          <a:lstStyle/>
          <a:p>
            <a:pPr>
              <a:lnSpc>
                <a:spcPct val="160000"/>
              </a:lnSpc>
            </a:pPr>
            <a:r>
              <a:rPr sz="2200">
                <a:solidFill>
                  <a:srgbClr val="F7F8F0"/>
                </a:solidFill>
              </a:rPr>
              <a:t>•  Reach 5 million onboarded citizens by end of 2027</a:t>
            </a:r>
            <a:endParaRPr sz="2200">
              <a:solidFill>
                <a:srgbClr val="F7F8F0"/>
              </a:solidFill>
            </a:endParaRPr>
          </a:p>
          <a:p>
            <a:pPr>
              <a:lnSpc>
                <a:spcPct val="160000"/>
              </a:lnSpc>
            </a:pPr>
            <a:r>
              <a:rPr sz="2200">
                <a:solidFill>
                  <a:srgbClr val="F7F8F0"/>
                </a:solidFill>
              </a:rPr>
              <a:t>•  Digitize 90 percent of all government services</a:t>
            </a:r>
            <a:endParaRPr sz="2200">
              <a:solidFill>
                <a:srgbClr val="F7F8F0"/>
              </a:solidFill>
            </a:endParaRPr>
          </a:p>
          <a:p>
            <a:pPr>
              <a:lnSpc>
                <a:spcPct val="160000"/>
              </a:lnSpc>
            </a:pPr>
            <a:r>
              <a:rPr sz="2200">
                <a:solidFill>
                  <a:srgbClr val="F7F8F0"/>
                </a:solidFill>
              </a:rPr>
              <a:t>•  Launch predictive services using AI analytics</a:t>
            </a:r>
            <a:endParaRPr sz="2200">
              <a:solidFill>
                <a:srgbClr val="F7F8F0"/>
              </a:solidFill>
            </a:endParaRPr>
          </a:p>
          <a:p>
            <a:pPr>
              <a:lnSpc>
                <a:spcPct val="160000"/>
              </a:lnSpc>
            </a:pPr>
            <a:r>
              <a:rPr sz="2200">
                <a:solidFill>
                  <a:srgbClr val="F7F8F0"/>
                </a:solidFill>
              </a:rPr>
              <a:t>•  Expand rural access with mobile service units</a:t>
            </a:r>
            <a:endParaRPr sz="2200">
              <a:solidFill>
                <a:srgbClr val="F7F8F0"/>
              </a:solidFill>
            </a:endParaRPr>
          </a:p>
          <a:p>
            <a:pPr>
              <a:lnSpc>
                <a:spcPct val="160000"/>
              </a:lnSpc>
            </a:pPr>
            <a:r>
              <a:rPr sz="2200">
                <a:solidFill>
                  <a:srgbClr val="F7F8F0"/>
                </a:solidFill>
              </a:rPr>
              <a:t>•  Establish Egypt as a regional digital government leader</a:t>
            </a:r>
            <a:endParaRPr sz="2200">
              <a:solidFill>
                <a:srgbClr val="F7F8F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 name="Rectangle 1"/>
          <p:cNvSpPr/>
          <p:nvPr/>
        </p:nvSpPr>
        <p:spPr>
          <a:xfrm>
            <a:off x="0" y="0"/>
            <a:ext cx="12192000" cy="6858000"/>
          </a:xfrm>
          <a:prstGeom prst="rect">
            <a:avLst/>
          </a:prstGeom>
          <a:solidFill>
            <a:srgbClr val="0E1B1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355" name="TextBox 2"/>
          <p:cNvSpPr txBox="1"/>
          <p:nvPr/>
        </p:nvSpPr>
        <p:spPr>
          <a:xfrm>
            <a:off x="762000" y="457200"/>
            <a:ext cx="10668000" cy="706100"/>
          </a:xfrm>
          <a:prstGeom prst="rect">
            <a:avLst/>
          </a:prstGeom>
        </p:spPr>
        <p:txBody>
          <a:bodyPr wrap="square">
            <a:spAutoFit/>
          </a:bodyPr>
          <a:lstStyle/>
          <a:p>
            <a:r>
              <a:rPr sz="4000" b="1">
                <a:solidFill>
                  <a:srgbClr val="F7F8F0"/>
                </a:solidFill>
              </a:rPr>
              <a:t>2027 Investment Allocation</a:t>
            </a:r>
            <a:endParaRPr sz="4000" b="1">
              <a:solidFill>
                <a:srgbClr val="F7F8F0"/>
              </a:solidFill>
            </a:endParaRPr>
          </a:p>
        </p:txBody>
      </p:sp>
      <p:sp>
        <p:nvSpPr>
          <p:cNvPr id="356" name="Rectangle 3"/>
          <p:cNvSpPr/>
          <p:nvPr/>
        </p:nvSpPr>
        <p:spPr>
          <a:xfrm>
            <a:off x="762000" y="1625600"/>
            <a:ext cx="1016000" cy="76200"/>
          </a:xfrm>
          <a:prstGeom prst="rect">
            <a:avLst/>
          </a:prstGeom>
          <a:solidFill>
            <a:srgbClr val="A8E06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357" name="TextBox 4"/>
          <p:cNvSpPr txBox="1"/>
          <p:nvPr/>
        </p:nvSpPr>
        <p:spPr>
          <a:xfrm>
            <a:off x="762000" y="1778000"/>
            <a:ext cx="10668000" cy="398770"/>
          </a:xfrm>
          <a:prstGeom prst="rect">
            <a:avLst/>
          </a:prstGeom>
        </p:spPr>
        <p:txBody>
          <a:bodyPr wrap="square">
            <a:spAutoFit/>
          </a:bodyPr>
          <a:lstStyle/>
          <a:p>
            <a:r>
              <a:rPr sz="2000">
                <a:solidFill>
                  <a:srgbClr val="B9C2CE"/>
                </a:solidFill>
              </a:rPr>
              <a:t>Budget distribution by program</a:t>
            </a:r>
            <a:endParaRPr sz="2000">
              <a:solidFill>
                <a:srgbClr val="B9C2CE"/>
              </a:solidFill>
            </a:endParaRPr>
          </a:p>
        </p:txBody>
      </p:sp>
      <p:sp>
        <p:nvSpPr>
          <p:cNvPr id="358" name="Rectangle 5"/>
          <p:cNvSpPr/>
          <p:nvPr/>
        </p:nvSpPr>
        <p:spPr>
          <a:xfrm>
            <a:off x="762000" y="2159000"/>
            <a:ext cx="10668000" cy="4318000"/>
          </a:xfrm>
          <a:prstGeom prst="roundRect">
            <a:avLst/>
          </a:prstGeom>
          <a:solidFill>
            <a:srgbClr val="F7F8F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graphicFrame>
        <p:nvGraphicFramePr>
          <p:cNvPr id="359" name="Chart 6"/>
          <p:cNvGraphicFramePr>
            <a:graphicFrameLocks noGrp="1"/>
          </p:cNvGraphicFramePr>
          <p:nvPr/>
        </p:nvGraphicFramePr>
        <p:xfrm>
          <a:off x="1016000" y="2413000"/>
          <a:ext cx="10160000" cy="3810000"/>
        </p:xfrm>
        <a:graphic>
          <a:graphicData uri="http://schemas.openxmlformats.org/drawingml/2006/chart">
            <c:chart xmlns:c="http://schemas.openxmlformats.org/drawingml/2006/chart" r:id="rId2"/>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 name="Rectangle 1"/>
          <p:cNvSpPr/>
          <p:nvPr/>
        </p:nvSpPr>
        <p:spPr>
          <a:xfrm>
            <a:off x="0" y="0"/>
            <a:ext cx="12192000" cy="6858000"/>
          </a:xfrm>
          <a:prstGeom prst="rect">
            <a:avLst/>
          </a:prstGeom>
          <a:solidFill>
            <a:srgbClr val="0E1B1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362" name="TextBox 2"/>
          <p:cNvSpPr txBox="1"/>
          <p:nvPr/>
        </p:nvSpPr>
        <p:spPr>
          <a:xfrm>
            <a:off x="762000" y="457200"/>
            <a:ext cx="10668000" cy="706100"/>
          </a:xfrm>
          <a:prstGeom prst="rect">
            <a:avLst/>
          </a:prstGeom>
        </p:spPr>
        <p:txBody>
          <a:bodyPr wrap="square">
            <a:spAutoFit/>
          </a:bodyPr>
          <a:lstStyle/>
          <a:p>
            <a:r>
              <a:rPr sz="4000" b="1">
                <a:solidFill>
                  <a:srgbClr val="F7F8F0"/>
                </a:solidFill>
              </a:rPr>
              <a:t>2027 Roadmap</a:t>
            </a:r>
            <a:endParaRPr sz="4000" b="1">
              <a:solidFill>
                <a:srgbClr val="F7F8F0"/>
              </a:solidFill>
            </a:endParaRPr>
          </a:p>
        </p:txBody>
      </p:sp>
      <p:sp>
        <p:nvSpPr>
          <p:cNvPr id="363" name="Rectangle 3"/>
          <p:cNvSpPr/>
          <p:nvPr/>
        </p:nvSpPr>
        <p:spPr>
          <a:xfrm>
            <a:off x="762000" y="1625600"/>
            <a:ext cx="1016000" cy="76200"/>
          </a:xfrm>
          <a:prstGeom prst="rect">
            <a:avLst/>
          </a:prstGeom>
          <a:solidFill>
            <a:srgbClr val="A8E06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364" name="TextBox 4"/>
          <p:cNvSpPr txBox="1"/>
          <p:nvPr/>
        </p:nvSpPr>
        <p:spPr>
          <a:xfrm>
            <a:off x="762000" y="2286000"/>
            <a:ext cx="10668000" cy="2255044"/>
          </a:xfrm>
          <a:prstGeom prst="rect">
            <a:avLst/>
          </a:prstGeom>
        </p:spPr>
        <p:txBody>
          <a:bodyPr wrap="square">
            <a:spAutoFit/>
          </a:bodyPr>
          <a:lstStyle/>
          <a:p>
            <a:pPr>
              <a:lnSpc>
                <a:spcPct val="160000"/>
              </a:lnSpc>
            </a:pPr>
            <a:r>
              <a:rPr sz="2200">
                <a:solidFill>
                  <a:srgbClr val="F7F8F0"/>
                </a:solidFill>
              </a:rPr>
              <a:t>•  Q1: Launch predictive service recommendations</a:t>
            </a:r>
            <a:endParaRPr sz="2200">
              <a:solidFill>
                <a:srgbClr val="F7F8F0"/>
              </a:solidFill>
            </a:endParaRPr>
          </a:p>
          <a:p>
            <a:pPr>
              <a:lnSpc>
                <a:spcPct val="160000"/>
              </a:lnSpc>
            </a:pPr>
            <a:r>
              <a:rPr sz="2200">
                <a:solidFill>
                  <a:srgbClr val="F7F8F0"/>
                </a:solidFill>
              </a:rPr>
              <a:t>•  Q2: Complete legacy integration for all ministries</a:t>
            </a:r>
            <a:endParaRPr sz="2200">
              <a:solidFill>
                <a:srgbClr val="F7F8F0"/>
              </a:solidFill>
            </a:endParaRPr>
          </a:p>
          <a:p>
            <a:pPr>
              <a:lnSpc>
                <a:spcPct val="160000"/>
              </a:lnSpc>
            </a:pPr>
            <a:r>
              <a:rPr sz="2200">
                <a:solidFill>
                  <a:srgbClr val="F7F8F0"/>
                </a:solidFill>
              </a:rPr>
              <a:t>•  Q3: Deploy mobile units to 200 rural communities</a:t>
            </a:r>
            <a:endParaRPr sz="2200">
              <a:solidFill>
                <a:srgbClr val="F7F8F0"/>
              </a:solidFill>
            </a:endParaRPr>
          </a:p>
          <a:p>
            <a:pPr>
              <a:lnSpc>
                <a:spcPct val="160000"/>
              </a:lnSpc>
            </a:pPr>
            <a:r>
              <a:rPr sz="2200">
                <a:solidFill>
                  <a:srgbClr val="F7F8F0"/>
                </a:solidFill>
              </a:rPr>
              <a:t>•  Q4: Achieve 5 million citizens and 90 percent digitization</a:t>
            </a:r>
            <a:endParaRPr sz="2200">
              <a:solidFill>
                <a:srgbClr val="F7F8F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 name="Rectangle 1"/>
          <p:cNvSpPr/>
          <p:nvPr/>
        </p:nvSpPr>
        <p:spPr>
          <a:xfrm>
            <a:off x="0" y="0"/>
            <a:ext cx="12192000" cy="6858000"/>
          </a:xfrm>
          <a:prstGeom prst="rect">
            <a:avLst/>
          </a:prstGeom>
          <a:solidFill>
            <a:srgbClr val="0E1B1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367" name="TextBox 2"/>
          <p:cNvSpPr txBox="1"/>
          <p:nvPr/>
        </p:nvSpPr>
        <p:spPr>
          <a:xfrm>
            <a:off x="762000" y="457200"/>
            <a:ext cx="10668000" cy="706100"/>
          </a:xfrm>
          <a:prstGeom prst="rect">
            <a:avLst/>
          </a:prstGeom>
        </p:spPr>
        <p:txBody>
          <a:bodyPr wrap="square">
            <a:spAutoFit/>
          </a:bodyPr>
          <a:lstStyle/>
          <a:p>
            <a:r>
              <a:rPr sz="4000" b="1">
                <a:solidFill>
                  <a:srgbClr val="F7F8F0"/>
                </a:solidFill>
              </a:rPr>
              <a:t>Performance Benchmarks</a:t>
            </a:r>
            <a:endParaRPr sz="4000" b="1">
              <a:solidFill>
                <a:srgbClr val="F7F8F0"/>
              </a:solidFill>
            </a:endParaRPr>
          </a:p>
        </p:txBody>
      </p:sp>
      <p:sp>
        <p:nvSpPr>
          <p:cNvPr id="368" name="Rectangle 3"/>
          <p:cNvSpPr/>
          <p:nvPr/>
        </p:nvSpPr>
        <p:spPr>
          <a:xfrm>
            <a:off x="762000" y="1625600"/>
            <a:ext cx="1016000" cy="76200"/>
          </a:xfrm>
          <a:prstGeom prst="rect">
            <a:avLst/>
          </a:prstGeom>
          <a:solidFill>
            <a:srgbClr val="A8E06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369" name="TextBox 4"/>
          <p:cNvSpPr txBox="1"/>
          <p:nvPr/>
        </p:nvSpPr>
        <p:spPr>
          <a:xfrm>
            <a:off x="762000" y="1778000"/>
            <a:ext cx="10668000" cy="398770"/>
          </a:xfrm>
          <a:prstGeom prst="rect">
            <a:avLst/>
          </a:prstGeom>
        </p:spPr>
        <p:txBody>
          <a:bodyPr wrap="square">
            <a:spAutoFit/>
          </a:bodyPr>
          <a:lstStyle/>
          <a:p>
            <a:r>
              <a:rPr sz="2000">
                <a:solidFill>
                  <a:srgbClr val="B9C2CE"/>
                </a:solidFill>
              </a:rPr>
              <a:t>Speed vs satisfaction across service categories</a:t>
            </a:r>
            <a:endParaRPr sz="2000">
              <a:solidFill>
                <a:srgbClr val="B9C2CE"/>
              </a:solidFill>
            </a:endParaRPr>
          </a:p>
        </p:txBody>
      </p:sp>
      <p:sp>
        <p:nvSpPr>
          <p:cNvPr id="370" name="Rectangle 5"/>
          <p:cNvSpPr/>
          <p:nvPr/>
        </p:nvSpPr>
        <p:spPr>
          <a:xfrm>
            <a:off x="762000" y="2159000"/>
            <a:ext cx="10668000" cy="4318000"/>
          </a:xfrm>
          <a:prstGeom prst="roundRect">
            <a:avLst/>
          </a:prstGeom>
          <a:solidFill>
            <a:srgbClr val="F7F8F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graphicFrame>
        <p:nvGraphicFramePr>
          <p:cNvPr id="371" name="Chart 6"/>
          <p:cNvGraphicFramePr>
            <a:graphicFrameLocks noGrp="1"/>
          </p:cNvGraphicFramePr>
          <p:nvPr/>
        </p:nvGraphicFramePr>
        <p:xfrm>
          <a:off x="1016000" y="2413000"/>
          <a:ext cx="10160000" cy="3810000"/>
        </p:xfrm>
        <a:graphic>
          <a:graphicData uri="http://schemas.openxmlformats.org/drawingml/2006/chart">
            <c:chart xmlns:c="http://schemas.openxmlformats.org/drawingml/2006/chart" r:id="rId2"/>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 name="Rectangle 1"/>
          <p:cNvSpPr/>
          <p:nvPr/>
        </p:nvSpPr>
        <p:spPr>
          <a:xfrm>
            <a:off x="0" y="0"/>
            <a:ext cx="12192000" cy="6858000"/>
          </a:xfrm>
          <a:prstGeom prst="rect">
            <a:avLst/>
          </a:prstGeom>
          <a:solidFill>
            <a:srgbClr val="0E1B1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374" name="TextBox 2"/>
          <p:cNvSpPr txBox="1"/>
          <p:nvPr/>
        </p:nvSpPr>
        <p:spPr>
          <a:xfrm>
            <a:off x="762000" y="457200"/>
            <a:ext cx="10668000" cy="706100"/>
          </a:xfrm>
          <a:prstGeom prst="rect">
            <a:avLst/>
          </a:prstGeom>
        </p:spPr>
        <p:txBody>
          <a:bodyPr wrap="square">
            <a:spAutoFit/>
          </a:bodyPr>
          <a:lstStyle/>
          <a:p>
            <a:r>
              <a:rPr sz="4000" b="1">
                <a:solidFill>
                  <a:srgbClr val="F7F8F0"/>
                </a:solidFill>
              </a:rPr>
              <a:t>Call to Action</a:t>
            </a:r>
            <a:endParaRPr sz="4000" b="1">
              <a:solidFill>
                <a:srgbClr val="F7F8F0"/>
              </a:solidFill>
            </a:endParaRPr>
          </a:p>
        </p:txBody>
      </p:sp>
      <p:sp>
        <p:nvSpPr>
          <p:cNvPr id="375" name="Rectangle 3"/>
          <p:cNvSpPr/>
          <p:nvPr/>
        </p:nvSpPr>
        <p:spPr>
          <a:xfrm>
            <a:off x="762000" y="1625600"/>
            <a:ext cx="1016000" cy="76200"/>
          </a:xfrm>
          <a:prstGeom prst="rect">
            <a:avLst/>
          </a:prstGeom>
          <a:solidFill>
            <a:srgbClr val="A8E06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376" name="TextBox 4"/>
          <p:cNvSpPr txBox="1"/>
          <p:nvPr/>
        </p:nvSpPr>
        <p:spPr>
          <a:xfrm>
            <a:off x="762000" y="2159000"/>
            <a:ext cx="10668000" cy="2550081"/>
          </a:xfrm>
          <a:prstGeom prst="rect">
            <a:avLst/>
          </a:prstGeom>
        </p:spPr>
        <p:txBody>
          <a:bodyPr wrap="square">
            <a:spAutoFit/>
          </a:bodyPr>
          <a:lstStyle/>
          <a:p>
            <a:pPr>
              <a:lnSpc>
                <a:spcPct val="160000"/>
              </a:lnSpc>
            </a:pPr>
            <a:r>
              <a:rPr sz="2000">
                <a:solidFill>
                  <a:srgbClr val="F7F8F0"/>
                </a:solidFill>
              </a:rPr>
              <a:t>The digital transformation of Egypt's government services is accelerating, but its full potential depends on continued investment, cross-ministry collaboration, and citizen engagement. We invite all stakeholders, ministries, private sector partners, and citizens, to join us in building the digital Egypt of 2027. Together, we will make every government service accessible to every citizen, in seconds, from anywhere.</a:t>
            </a:r>
            <a:endParaRPr sz="2000">
              <a:solidFill>
                <a:srgbClr val="F7F8F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 name="Rectangle 1"/>
          <p:cNvSpPr/>
          <p:nvPr/>
        </p:nvSpPr>
        <p:spPr>
          <a:xfrm>
            <a:off x="0" y="0"/>
            <a:ext cx="12192000" cy="6858000"/>
          </a:xfrm>
          <a:prstGeom prst="rect">
            <a:avLst/>
          </a:prstGeom>
          <a:solidFill>
            <a:srgbClr val="0E1B1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p:txBody>
      </p:sp>
      <p:sp>
        <p:nvSpPr>
          <p:cNvPr id="379" name="TextBox 2"/>
          <p:cNvSpPr txBox="1"/>
          <p:nvPr/>
        </p:nvSpPr>
        <p:spPr>
          <a:xfrm>
            <a:off x="762000" y="2540000"/>
            <a:ext cx="10668000" cy="1074896"/>
          </a:xfrm>
          <a:prstGeom prst="rect">
            <a:avLst/>
          </a:prstGeom>
        </p:spPr>
        <p:txBody>
          <a:bodyPr wrap="square">
            <a:spAutoFit/>
          </a:bodyPr>
          <a:lstStyle/>
          <a:p>
            <a:pPr algn="ctr"/>
            <a:r>
              <a:rPr sz="6400" b="1">
                <a:solidFill>
                  <a:srgbClr val="F7F8F0"/>
                </a:solidFill>
              </a:rPr>
              <a:t>Thank You</a:t>
            </a:r>
            <a:endParaRPr sz="6400" b="1">
              <a:solidFill>
                <a:srgbClr val="F7F8F0"/>
              </a:solidFill>
            </a:endParaRPr>
          </a:p>
        </p:txBody>
      </p:sp>
      <p:sp>
        <p:nvSpPr>
          <p:cNvPr id="380" name="TextBox 3"/>
          <p:cNvSpPr txBox="1"/>
          <p:nvPr/>
        </p:nvSpPr>
        <p:spPr>
          <a:xfrm>
            <a:off x="762000" y="4064000"/>
            <a:ext cx="10668000" cy="429503"/>
          </a:xfrm>
          <a:prstGeom prst="rect">
            <a:avLst/>
          </a:prstGeom>
        </p:spPr>
        <p:txBody>
          <a:bodyPr wrap="square">
            <a:spAutoFit/>
          </a:bodyPr>
          <a:lstStyle/>
          <a:p>
            <a:pPr algn="ctr"/>
            <a:r>
              <a:rPr sz="2200">
                <a:solidFill>
                  <a:srgbClr val="B9C2CE"/>
                </a:solidFill>
              </a:rPr>
              <a:t>Ministry of Communications and Information Technology</a:t>
            </a:r>
            <a:endParaRPr sz="2200">
              <a:solidFill>
                <a:srgbClr val="B9C2CE"/>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DeckCraft">
  <a:themeElements>
    <a:clrScheme name="DeckCraft">
      <a:dk1>
        <a:srgbClr val="000000"/>
      </a:dk1>
      <a:lt1>
        <a:srgbClr val="FFFFFF"/>
      </a:lt1>
      <a:dk2>
        <a:srgbClr val="1E2B3C"/>
      </a:dk2>
      <a:lt2>
        <a:srgbClr val="EDEBE7"/>
      </a:lt2>
      <a:accent1>
        <a:srgbClr val="2E6FD8"/>
      </a:accent1>
      <a:accent2>
        <a:srgbClr val="F26B1D"/>
      </a:accent2>
      <a:accent3>
        <a:srgbClr val="2EA36F"/>
      </a:accent3>
      <a:accent4>
        <a:srgbClr val="8A5CD8"/>
      </a:accent4>
      <a:accent5>
        <a:srgbClr val="D83F6B"/>
      </a:accent5>
      <a:accent6>
        <a:srgbClr val="E3B21C"/>
      </a:accent6>
      <a:hlink>
        <a:srgbClr val="2E6FD8"/>
      </a:hlink>
      <a:folHlink>
        <a:srgbClr val="7A5BA6"/>
      </a:folHlink>
    </a:clrScheme>
    <a:fontScheme name="DeckCraft">
      <a:majorFont>
        <a:latin typeface="Inter"/>
        <a:ea typeface=""/>
        <a:cs typeface=""/>
      </a:majorFont>
      <a:minorFont>
        <a:latin typeface="Inter"/>
        <a:ea typeface=""/>
        <a:cs typeface=""/>
      </a:minorFont>
    </a:fontScheme>
    <a:fmtScheme name="DeckCraft">
      <a:fillStyleLst>
        <a:solidFill>
          <a:schemeClr val="phClr"/>
        </a:solidFill>
        <a:gradFill rotWithShape="1">
          <a:gsLst>
            <a:gs pos="0">
              <a:schemeClr val="phClr">
                <a:lumMod val="110000"/>
                <a:satMod val="103000"/>
              </a:schemeClr>
            </a:gs>
            <a:gs pos="100000">
              <a:schemeClr val="phClr">
                <a:lumMod val="92000"/>
              </a:schemeClr>
            </a:gs>
          </a:gsLst>
          <a:lin ang="5400000" scaled="0"/>
        </a:gradFill>
        <a:gradFill rotWithShape="1">
          <a:gsLst>
            <a:gs pos="0">
              <a:schemeClr val="phClr">
                <a:lumMod val="105000"/>
                <a:satMod val="103000"/>
              </a:schemeClr>
            </a:gs>
            <a:gs pos="100000">
              <a:schemeClr val="phClr">
                <a:lumMod val="80000"/>
              </a:schemeClr>
            </a:gs>
          </a:gsLst>
          <a:lin ang="5400000" scaled="0"/>
        </a:gradFill>
      </a:fillStyleLst>
      <a:lnStyleLst>
        <a:ln w="9525">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outerShdw blurRad="76200" dist="38100" dir="5400000" algn="t" rotWithShape="0">
              <a:srgbClr val="000000">
                <a:alpha val="40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03000"/>
              </a:schemeClr>
            </a:gs>
            <a:gs pos="100000">
              <a:schemeClr val="phClr">
                <a:lumMod val="85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DeckCraft</Application>
  <Slides>20</Slides>
  <Notes>0</Notes>
  <HiddenSlides>0</Hidden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