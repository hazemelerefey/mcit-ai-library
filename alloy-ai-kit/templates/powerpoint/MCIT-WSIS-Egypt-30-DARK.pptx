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3-noir-hero-o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19456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7c95cb9af063cb31cbdfd3f15e653b2f49f9b2d998e55d40ff995d5fbfd64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7472"/>
            <a:ext cx="1152144" cy="576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1417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FFFFFF"/>
                </a:solidFill>
                <a:latin typeface="Inter"/>
              </a:rPr>
              <a:t>ARAB REPUBLIC OF EGYPT  |  WSIS+10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048256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Inter"/>
              </a:rPr>
              <a:t>Egypt's Digital Decade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6118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Inter"/>
              </a:rPr>
              <a:t>Overall review of the implementation of the WSIS outcomes, 1999 to 2014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A Decade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A6E9"/>
                </a:solidFill>
                <a:latin typeface="Nohemi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Libre Franklin"/>
              </a:rPr>
              <a:t>A decade of achievement, 1999 to 2014: from MCIT's founding to the 2014 constitution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3774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A6E9"/>
                </a:solidFill>
                <a:latin typeface="Nohemi"/>
              </a:rPr>
              <a:t>Part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9718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Libre Franklin"/>
              </a:rPr>
              <a:t>The 11 WSIS Action Lines: C1 governance through C11 cooperation, with Egypt's flagship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3774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A6E9"/>
                </a:solidFill>
                <a:latin typeface="Nohemi"/>
              </a:rPr>
              <a:t>Part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9718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Libre Franklin"/>
              </a:rPr>
              <a:t>Achieving WSIS Targets: the indicator evidence for 2010 to 2013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3774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A6E9"/>
                </a:solidFill>
                <a:latin typeface="Nohemi"/>
              </a:rPr>
              <a:t>Part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971800"/>
            <a:ext cx="246888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Libre Franklin"/>
              </a:rPr>
              <a:t>Funding mechanisms, the National ICT Strategy 2014 to 2021, and the vision beyond 2015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HEADLINES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Egypt's Digital Decade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99.7M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mobile subscribers in 2013, up from 13.63M in 2005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38.75M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internet users in 2013, up from 0.65M in 2000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EGP 52.3B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ICT real GDP in 2012/13, 3.4% of national GDP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No.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A.T. Kearney outsourcing rank 2011, up from No.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7736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181,854 Mbps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international bandwidth by 2011, 97.32% yearly growth since 2001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DECADE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1999 to 2014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A fifteen year run from a new ministry to a constitutional right to information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MCIT founded 1999; National Communications Strategy and Smart Village launched 2000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Free Internet 2002, Universal Service Fund 2005, Broadband Plan 2011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2014: a new constitution protects cyberspace and guarantees information access</a:t>
            </a:r>
          </a:p>
        </p:txBody>
      </p:sp>
      <p:pic>
        <p:nvPicPr>
          <p:cNvPr id="7" name="Picture 6" descr="fig04-timelin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450" y="1645920"/>
            <a:ext cx="221621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An Economic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ICT paid the treasury about EGP 71B from licenses, sales, tariffs and dividends, 2003 to 2010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EGP 30B invested over seven years drove 700% sector growth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In 2011/12 the sector generated EGP 65B revenue and EGP 48B of GDP, 3.2% of the total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ICT exports reached EGP 1.44B in 2013; 3,756 new ICT companies founded 2005 to 2013</a:t>
            </a:r>
          </a:p>
        </p:txBody>
      </p:sp>
      <p:pic>
        <p:nvPicPr>
          <p:cNvPr id="7" name="Picture 6" descr="fig05-grouped-column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619755"/>
            <a:ext cx="585216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Governed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Multistakeholder committees shape every strategy: legislation, digital society, green ICT, open standards, cloud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Strategy lineage: 2000 Communications, 2003 Information Society, 2007 ICT, 2011 Broadband, 2014 Digital Society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Post-2011 community dialogue produced about 55 amendments to the Telecommunication Regulation Law</a:t>
            </a:r>
          </a:p>
        </p:txBody>
      </p:sp>
      <p:pic>
        <p:nvPicPr>
          <p:cNvPr id="7" name="Picture 6" descr="fig06-line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433218"/>
            <a:ext cx="5852160" cy="3226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Wires to Wireless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Free Internet launched January 2002: access at local call rates on prefixes 0707 and 0777, nationwide by September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Revenue shared 70/30 between Telecom Egypt and ISPs; local loop unbundling followed in April 2002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Broadband prices cut from EGP 150/month (2004) to EGP 95 (2006) to EGP 45 (2007)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2011 landline tariffs cut: installation fees down 50%, landline to mobile calls down 33%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Broadband 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eMisr National Broadband Plan (Nov 2011): 75% of households at 2 Mbps by 2016, 90% at 25 Mbps by 2021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Seven submarine cables land in Egypt, from FLAG FEA (1997) to TE North (2010)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Cairo Internet Exchange Point traffic grew from 200 Kbps (2002) to 1.2 Gbps (2013)</a:t>
            </a:r>
          </a:p>
        </p:txBody>
      </p:sp>
      <p:pic>
        <p:nvPicPr>
          <p:cNvPr id="7" name="Picture 6" descr="fig08-donut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84399"/>
            <a:ext cx="5852160" cy="29236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The Mobile Leap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Mobile subscribers jumped from 13.63M (2005) to 99.7M (2013); fixed lines fell from 10.4M to 6.82M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Mobile penetration hit 118.19% as three competing operators drove prices down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Low usage mobile basket fell from USD 4.57 (Q4 2007) to USD 2.90 (2010)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Mobile broadband in households grew about 80% per year, reaching 10% by 2013</a:t>
            </a:r>
          </a:p>
        </p:txBody>
      </p:sp>
      <p:pic>
        <p:nvPicPr>
          <p:cNvPr id="7" name="Picture 6" descr="fig09-area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046475"/>
            <a:ext cx="5852160" cy="1999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Knowledge for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Bibliotheca Alexandrina and the National Library digitized more than 90M documents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Government Services Portal (2004) and Ministry of Education website (2007) opened official information online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A multistakeholder committee is drafting the national free and open source software strategy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Kenana Online community portal (2004) sparked thousands of personal sites and spin off portals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Reaching the Margins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2,000+ IT Clubs nationwide by end 2010; 36% placed in under served Upper Egypt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Mobile IT Clubs: buses and caravans with computer labs and satellite internet tour remote areas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Technology Homes (from 2011) turn IT Clubs into ICT led community service centers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Public internet access centers reached 53% of localities by 2011, up from 37% in 2007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Closing the Divide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Home is the top access point: 83.1% of users connected from home in 2012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Households using the internet at home rose from 18.59% (2007) to 44.24% (Dec 2012)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Rural users grew 19% in a year, reaching 19.5% of rural Egyptians sampled in 2012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3G equipped mobiles reached 27.3% of individuals in 2013, up from 20.4% in 2011</a:t>
            </a:r>
          </a:p>
        </p:txBody>
      </p:sp>
      <p:pic>
        <p:nvPicPr>
          <p:cNvPr id="7" name="Picture 6" descr="fig12-stacked-ba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141573"/>
            <a:ext cx="5852160" cy="18092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Skilled 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ITI and NTI specialized training graduates nearly doubled: 23K (2005) to 43.2K (2013)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e-Learning Competence Center runs 700+ delivery centers nationwide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ICDL program (MCIT, UNESCO, ECDL Foundation, 2006) targets 1M certified Egyptians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ITI Nine-Month Professional Training Program reached CMMI-SVC Level 3 in December 2012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ITI exports expertise across Africa: Burundi, Eritrea, Kenya, Sudan, Uganda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Learning Without Walls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Egyptian Education Initiative (2006): public private partnership reforming the whole education system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First Egyptian tablet "Inar" launched April 2013; 9,300 tablets distributed to university students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Egyptian e-Learning University opened 2009 with virtual and distance learning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94% of faculties connected to the internet by 2012; 98% of university instructors online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Trust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EG-CERT (2009, NTRA): 24 hour incident response, member of FIRST and OIC-CERT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National PKI: Root CA Trust Center at ITIDA, three licensed e-signature issuers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Child online protection program from 2007; Child Law 126/2008; national committee 2013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Draft laws in motion: cybersecurity, freedom of information, e-commerce</a:t>
            </a:r>
          </a:p>
        </p:txBody>
      </p:sp>
      <p:pic>
        <p:nvPicPr>
          <p:cNvPr id="7" name="Picture 6" descr="fig15-hba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897733"/>
            <a:ext cx="5852160" cy="22969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Rules for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2014 Constitution: Article 31 protects cyberspace, 57 guards correspondence, 68 guarantees information access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About 55 amendments plus 3 new articles drafted for the Telecommunication Regulation Law after public dialogue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WTO Basic Telecommunications Agreement (2002) and ITA (2004) opened the market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Unified licensing regime proposed 2012: technology and service neutral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Open for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3 sq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Smart Village Egypt tech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160+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companies on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40,000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80/20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private/MCIT PPP ownership, replicated for new parks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7736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EGP 25M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new incentives via Social Fund for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Government in Your Pocket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Government Services Portal (2004): G2C, G2B and G2G services from vehicle licensing to industrial zones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UN Public Service Awards: 2nd place 2011 (anti corruption procurement portal), 2nd place 2012 (voter database)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OECD e-Government Studies: Egypt 2013 benchmarked the whole effort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100% of government entities own computers; 85% are online; web presence rose 49% to 58% (2010-12)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Work Without Borders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Outsourcing exports hit USD 1.487B a year by end 2011; target USD 2.5B plus USD 1B from IP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Offshoring Destination of the Year 2008; European Outsourcing Award 2009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With 60% of 85M+ Egyptians under 30, e-employment is a national jobs strategy</a:t>
            </a:r>
          </a:p>
        </p:txBody>
      </p:sp>
      <p:pic>
        <p:nvPicPr>
          <p:cNvPr id="7" name="Picture 6" descr="fig19-pictogram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62" y="4297680"/>
            <a:ext cx="9463195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Care and Classrooms, Connected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Egyptian Ambulance Organization automated 2008: digital fleet, real time call reports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Telemedic@Egypt links city specialists to remote clinics; Siwa linked to Shatby Children's Hospital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Women's Mobile Health Unit (2007): free screening for women over 45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National Cancer Registry Program centralizes incidence data for research and policy</a:t>
            </a:r>
          </a:p>
        </p:txBody>
      </p:sp>
      <p:pic>
        <p:nvPicPr>
          <p:cNvPr id="7" name="Picture 6" descr="fig20-rada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78" y="1965960"/>
            <a:ext cx="5102323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Green, Fed and Curious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Green ICT Initiative 2010 (MCIT plus Environment); 47 air monitoring stations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VERCON (2000) and RADCON (2004-08, with FAO) wired agricultural extension to farming communities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Aradina farm portal draws about 90,000 visits a month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RDI Program: EUR 11M (2007) then EUR 20M phase 2 (2011); BA's VISTA VR science lab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Seven Millennia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Bibliotheca Alexandrina (2002) and CultNat (2000) document 7,000 years of heritage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Egypt became the first country with an Arabic language country code domain (ICANN, June 2010)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e-Content Strategy 2013-20 and National e-Content Committee (2012) grow Arabic content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Arabic dominates use: 32% of users browse mainly in Arabic vs 5% in English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Measuring the Leap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118.9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mobile subscriptions per 100 people in 2012, up from 104.7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44%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84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individuals using the internet, up from 39.5% in a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schools on fixed broadband in 2012, up from 26%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47.6%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hospitals online; doctors online 82.7%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7736" y="2286000"/>
            <a:ext cx="192938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7EF8A"/>
                </a:solidFill>
                <a:latin typeface="Nohemi"/>
              </a:rPr>
              <a:t>0.31%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3840480"/>
            <a:ext cx="1929384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9C2CE"/>
                </a:solidFill>
                <a:latin typeface="Libre Franklin"/>
              </a:rPr>
              <a:t>public libraries with broadband in 2013: now a core eMisr target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The Connected Household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484632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TV in nearly every home (95-97%); radio fading at about 30% a year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3G mobiles: 20.4% (2011) to 27.3% (2013), a 34% growth rate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Facebook users: 4.2M (2010) to 16.4M (2013); Twitter: 19.3K to 465.7K (2010-12)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000">
                <a:solidFill>
                  <a:srgbClr val="FFFFFF"/>
                </a:solidFill>
                <a:latin typeface="Libre Franklin"/>
              </a:rPr>
              <a:t>62.7% of smartphone owners used their device for political life in 2013</a:t>
            </a:r>
          </a:p>
        </p:txBody>
      </p:sp>
      <p:pic>
        <p:nvPicPr>
          <p:cNvPr id="7" name="Picture 6" descr="fig24-treemap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608783"/>
            <a:ext cx="5852160" cy="28748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Airwaves to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Media Free Zone (2000) and Egyptian Media Production City (3 sq km) anchor private broadcasting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3G licenses in 2007 brought video and streaming to mobile networks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2014 Constitution: Articles 70 to 72 ban press censorship and custodial sentences for publication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Citizen journalists and bloggers reshaped a traditionally pro government industry after 2011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A Principled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Nine elements of digital citizenship promoted nationwide by the ICT Trust Fund outreach team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Internet safety posters reached 750+ nonprofits; 300 trainers via IT Clubs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Microsoft's Arabic STOP. THINK. CONNECT. reached 200,000+ children, youth and parents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Post revolution dialogue rewrote telecom law around access, expression and privacy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C11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Egypt and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Founder of the African Ministerial Council of ICTs (2008); chaired its first two sessions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Executive bureau member of the Arab Telecommunications and Information Council of Ministers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Nile ICT Corridor Initiative (2012): outsourcing and network security capacity for the Nile Basin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Pan-African e-Network: Alexandria University is North Africa's regional hub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National contact point for EU FP7 ICT research (2007); leads ITU child online protection group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Paying for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Universal Service Fund (2005, NTRA): seed EGP 50M to connect unprofitable areas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Italian Egyptian debt swap (2001-08): USD 149M retired, 53 projects, EGP 48.5M to ICT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Egypt ICT Trust Fund (2002, MCIT plus UNDP): PPPs across community, agriculture, education, health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Smart Village PPP model: 80% private, 20% MCIT, replicated for new parks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Partners: World Bank, EU EUMEDIS, USAID, GIZ, IDRC, Islamic Development Bank, WHO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04120" y="320040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87c95cb9af063cb31cbdfd3f15e653b2f49f9b2d998e55d40ff995d5fbfd64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288" y="448056"/>
            <a:ext cx="1152144" cy="576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1500" b="1" spc="300">
                <a:solidFill>
                  <a:srgbClr val="16A6E9"/>
                </a:solidFill>
                <a:latin typeface="Libre Franklin"/>
              </a:rPr>
              <a:t>WAY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868680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hemi"/>
              </a:rPr>
              <a:t>Beyond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National ICT Strategy 2014-2021: an integrated digital platform, a stronger ICT industry, Egypt as an international hub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20 key areas: broadband, cybersecurity, e-commerce, cloud, open source, green ICT, tech parks and more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Egypt's post 2015 agenda: digital citizenship, open standards, cloud, big data, youth empowerment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Knowledge based capital and big data flagged as the next growth engines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F7EF8A"/>
                </a:solidFill>
                <a:latin typeface="Libre Franklin"/>
              </a:rPr>
              <a:t>▪  </a:t>
            </a:r>
            <a:r>
              <a:rPr sz="2100">
                <a:solidFill>
                  <a:srgbClr val="FFFFFF"/>
                </a:solidFill>
                <a:latin typeface="Libre Franklin"/>
              </a:rPr>
              <a:t>From MDGs to SDGs: one converging global development agenda with sustainability at its core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3-noir-end-o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219456"/>
            <a:ext cx="15544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7c95cb9af063cb31cbdfd3f15e653b2f49f9b2d998e55d40ff995d5fbfd64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7472"/>
            <a:ext cx="1152144" cy="576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4978" y="2423160"/>
            <a:ext cx="676656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400" b="1" spc="100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978" y="434340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Inter"/>
              </a:rPr>
              <a:t>Ministry of Communications and Information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78" y="480060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7EF8A"/>
                </a:solidFill>
                <a:latin typeface="Inter"/>
              </a:rPr>
              <a:t>www.mcit.gov.eg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